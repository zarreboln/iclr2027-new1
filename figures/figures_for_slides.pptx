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8637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3203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37769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2334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46900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01466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3438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76625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18870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6619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153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5687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0221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44755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49289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53823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58357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62891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67425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6" name="Oval 1005"/>
          <p:cNvSpPr/>
          <p:nvPr/>
        </p:nvSpPr>
        <p:spPr>
          <a:xfrm>
            <a:off x="5411429" y="3140335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5933552" y="3662457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3348990" y="4503847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3847910" y="5002768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4641181" y="4422066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5140101" y="4920986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6136273" y="3979377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228262" y="4071366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5280963" y="3658400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5366801" y="3744239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4070364" y="4726058"/>
            <a:ext cx="175601" cy="175601"/>
          </a:xfrm>
          <a:prstGeom prst="ellipse">
            <a:avLst/>
          </a:prstGeom>
          <a:solidFill>
            <a:srgbClr val="C9DEF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4142620" y="4798314"/>
            <a:ext cx="31089" cy="31089"/>
          </a:xfrm>
          <a:prstGeom prst="ellipse">
            <a:avLst/>
          </a:prstGeom>
          <a:solidFill>
            <a:srgbClr val="1B6CA8"/>
          </a:solidFill>
          <a:ln w="3175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3578404" y="4678269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3621210" y="4721075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5255985" y="3783215"/>
            <a:ext cx="116701" cy="116701"/>
          </a:xfrm>
          <a:prstGeom prst="ellipse">
            <a:avLst/>
          </a:prstGeom>
          <a:solidFill>
            <a:srgbClr val="C8E3C9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298791" y="3826021"/>
            <a:ext cx="31089" cy="31089"/>
          </a:xfrm>
          <a:prstGeom prst="ellipse">
            <a:avLst/>
          </a:prstGeom>
          <a:solidFill>
            <a:srgbClr val="2E7D32"/>
          </a:solidFill>
          <a:ln w="31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4462535" y="4555597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4505341" y="4598403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890746" y="4596488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933552" y="4639294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5460016" y="4028560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5502821" y="4071366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6253466" y="3378850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6296272" y="3421656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958756" y="4392034"/>
            <a:ext cx="116701" cy="116701"/>
          </a:xfrm>
          <a:prstGeom prst="ellipse">
            <a:avLst/>
          </a:prstGeom>
          <a:solidFill>
            <a:srgbClr val="C2E0D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6001562" y="4434840"/>
            <a:ext cx="31089" cy="31089"/>
          </a:xfrm>
          <a:prstGeom prst="ellipse">
            <a:avLst/>
          </a:prstGeom>
          <a:solidFill>
            <a:srgbClr val="0F6E6E"/>
          </a:solidFill>
          <a:ln w="31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514959" y="4210086"/>
            <a:ext cx="71688" cy="71688"/>
          </a:xfrm>
          <a:prstGeom prst="ellipse">
            <a:avLst/>
          </a:prstGeom>
          <a:solidFill>
            <a:srgbClr val="F3C9A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535259" y="4230385"/>
            <a:ext cx="31089" cy="31089"/>
          </a:xfrm>
          <a:prstGeom prst="ellipse">
            <a:avLst/>
          </a:prstGeom>
          <a:solidFill>
            <a:srgbClr val="C47A1E"/>
          </a:solidFill>
          <a:ln w="3175">
            <a:solidFill>
              <a:srgbClr val="C4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3396880" y="5186922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3417180" y="5207222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Diamond 1035"/>
          <p:cNvSpPr/>
          <p:nvPr/>
        </p:nvSpPr>
        <p:spPr>
          <a:xfrm>
            <a:off x="1131387" y="3839022"/>
            <a:ext cx="86868" cy="86868"/>
          </a:xfrm>
          <a:prstGeom prst="diamond">
            <a:avLst/>
          </a:prstGeom>
          <a:solidFill>
            <a:srgbClr val="DDE0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2136824" y="3839022"/>
            <a:ext cx="86868" cy="86868"/>
          </a:xfrm>
          <a:prstGeom prst="diamond">
            <a:avLst/>
          </a:prstGeom>
          <a:solidFill>
            <a:srgbClr val="F3CFE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2822540" y="3352876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Diamond 1038"/>
          <p:cNvSpPr/>
          <p:nvPr/>
        </p:nvSpPr>
        <p:spPr>
          <a:xfrm>
            <a:off x="5406922" y="4933988"/>
            <a:ext cx="86868" cy="86868"/>
          </a:xfrm>
          <a:prstGeom prst="diamond">
            <a:avLst/>
          </a:prstGeom>
          <a:solidFill>
            <a:srgbClr val="F6D6C2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Diamond 1039"/>
          <p:cNvSpPr/>
          <p:nvPr/>
        </p:nvSpPr>
        <p:spPr>
          <a:xfrm>
            <a:off x="4613472" y="3107531"/>
            <a:ext cx="86868" cy="86868"/>
          </a:xfrm>
          <a:prstGeom prst="diamond">
            <a:avLst/>
          </a:prstGeom>
          <a:solidFill>
            <a:srgbClr val="DCCFEE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5-Point Star 1040"/>
          <p:cNvSpPr/>
          <p:nvPr/>
        </p:nvSpPr>
        <p:spPr>
          <a:xfrm>
            <a:off x="6299817" y="2666590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2" name="Connector 104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6" name="Rectangle 1045"/>
          <p:cNvSpPr/>
          <p:nvPr/>
        </p:nvSpPr>
        <p:spPr>
          <a:xfrm>
            <a:off x="2377988" y="2514600"/>
            <a:ext cx="82296" cy="2999232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7" name="Connector 1046"/>
          <p:cNvCxnSpPr/>
          <p:nvPr/>
        </p:nvCxnSpPr>
        <p:spPr>
          <a:xfrm flipV="1">
            <a:off x="2355128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2437424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355128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437424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51" name="TextBox 1050"/>
          <p:cNvSpPr txBox="1"/>
          <p:nvPr/>
        </p:nvSpPr>
        <p:spPr>
          <a:xfrm>
            <a:off x="621792" y="520407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621792" y="474973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621792" y="429539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621792" y="384105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621792" y="338670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21792" y="293236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21792" y="247802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10420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146450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188695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23601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28135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32669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7203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1737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46271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50805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55339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9873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64407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Laurel Caverns R@1   (cross-environment benchmark, %)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946096" y="5032543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3878773" y="4543082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5688747" y="2943739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3606280" y="4307251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6406204" y="4016044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5133109" y="3461804"/>
            <a:ext cx="516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4155498" y="4346582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B6CA8"/>
                </a:solidFill>
                <a:latin typeface="Comic Sans MS"/>
              </a:rPr>
              <a:t>R2Former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3066340" y="4665754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4529349" y="3678059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omic Sans MS"/>
              </a:rPr>
              <a:t>SuperVLAD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6062311" y="4583972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5300879" y="4200125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6425031" y="3366335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5785332" y="4746479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Comic Sans MS"/>
              </a:rPr>
              <a:t>CliqueM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73119" y="381159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2046908" y="3642426"/>
            <a:ext cx="2849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176B"/>
                </a:solidFill>
                <a:latin typeface="Comic Sans MS"/>
              </a:rPr>
              <a:t>GeM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2964272" y="3325444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4840502" y="473739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2410C"/>
                </a:solidFill>
                <a:latin typeface="Comic Sans MS"/>
              </a:rPr>
              <a:t>SegVLAD-PreT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3796608" y="3080099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A3FA0"/>
                </a:solidFill>
                <a:latin typeface="Comic Sans MS"/>
              </a:rPr>
              <a:t>EffoVPR-ZS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641512" y="4175064"/>
            <a:ext cx="5929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7A1E"/>
                </a:solidFill>
                <a:latin typeface="Comic Sans MS"/>
              </a:rPr>
              <a:t>NetVLAD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3005466" y="5151901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5394561" y="2627728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94" name="5-Point Star 1093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98" name="Oval 1097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100" name="Oval 1099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102" name="Oval 1101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18" name="Picture 1117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9" name="Picture 1118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0" name="Picture 1119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21" name="Oval 1120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</a:t>
            </a:r>
          </a:p>
        </p:txBody>
      </p:sp>
      <p:cxnSp>
        <p:nvCxnSpPr>
          <p:cNvPr id="1149" name="Connector 1148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0" name="TextBox 1149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51" name="Connector 1150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2" name="TextBox 1151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53" name="Connector 1152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4" name="TextBox 1153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