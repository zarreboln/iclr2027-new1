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Environment-specific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524443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871641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49884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4126054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75326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380466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300767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63487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19988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846702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49352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140338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78715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4433973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5080791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5727609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637442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70212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5351646" y="3379622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5873768" y="3901744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2399487" y="4715058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2898407" y="5213979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4242917" y="4614404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4741837" y="5113324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6202211" y="4052072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6294200" y="4144060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4979407" y="4300538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5065246" y="4386376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3246582" y="4970238"/>
            <a:ext cx="175601" cy="175601"/>
          </a:xfrm>
          <a:prstGeom prst="ellipse">
            <a:avLst/>
          </a:prstGeom>
          <a:solidFill>
            <a:srgbClr val="C9DEF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3318838" y="5042493"/>
            <a:ext cx="31089" cy="31089"/>
          </a:xfrm>
          <a:prstGeom prst="ellipse">
            <a:avLst/>
          </a:prstGeom>
          <a:solidFill>
            <a:srgbClr val="1B6CA8"/>
          </a:solidFill>
          <a:ln w="3175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2532192" y="5077974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2574998" y="5120780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4925418" y="4671629"/>
            <a:ext cx="116701" cy="116701"/>
          </a:xfrm>
          <a:prstGeom prst="ellipse">
            <a:avLst/>
          </a:prstGeom>
          <a:solidFill>
            <a:srgbClr val="E0D5D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4968223" y="4714435"/>
            <a:ext cx="31089" cy="31089"/>
          </a:xfrm>
          <a:prstGeom prst="ellipse">
            <a:avLst/>
          </a:prstGeom>
          <a:solidFill>
            <a:srgbClr val="6D4C41"/>
          </a:solidFill>
          <a:ln w="3175">
            <a:solidFill>
              <a:srgbClr val="6D4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3793487" y="4817019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3836293" y="4859824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830962" y="4317475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5873768" y="4360281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5216486" y="4664173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5259291" y="4706979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348417" y="4459137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391222" y="4501942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5927985" y="4705181"/>
            <a:ext cx="116701" cy="116701"/>
          </a:xfrm>
          <a:prstGeom prst="ellipse">
            <a:avLst/>
          </a:prstGeom>
          <a:solidFill>
            <a:srgbClr val="C2E0D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5970791" y="4747986"/>
            <a:ext cx="31089" cy="31089"/>
          </a:xfrm>
          <a:prstGeom prst="ellipse">
            <a:avLst/>
          </a:prstGeom>
          <a:solidFill>
            <a:srgbClr val="0F6E6E"/>
          </a:solidFill>
          <a:ln w="31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2263630" y="5230958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283930" y="5251258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Diamond 1031"/>
          <p:cNvSpPr/>
          <p:nvPr/>
        </p:nvSpPr>
        <p:spPr>
          <a:xfrm>
            <a:off x="1447519" y="3087260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Diamond 1032"/>
          <p:cNvSpPr/>
          <p:nvPr/>
        </p:nvSpPr>
        <p:spPr>
          <a:xfrm>
            <a:off x="5134380" y="2971694"/>
            <a:ext cx="86868" cy="86868"/>
          </a:xfrm>
          <a:prstGeom prst="diamond">
            <a:avLst/>
          </a:prstGeom>
          <a:solidFill>
            <a:srgbClr val="F6D6C2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Diamond 1033"/>
          <p:cNvSpPr/>
          <p:nvPr/>
        </p:nvSpPr>
        <p:spPr>
          <a:xfrm>
            <a:off x="4002449" y="3124539"/>
            <a:ext cx="86868" cy="86868"/>
          </a:xfrm>
          <a:prstGeom prst="diamond">
            <a:avLst/>
          </a:prstGeom>
          <a:solidFill>
            <a:srgbClr val="DCCFEE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5-Point Star 1034"/>
          <p:cNvSpPr/>
          <p:nvPr/>
        </p:nvSpPr>
        <p:spPr>
          <a:xfrm>
            <a:off x="6423780" y="2644339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36" name="Connector 1035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0" name="TextBox 1039"/>
          <p:cNvSpPr txBox="1"/>
          <p:nvPr/>
        </p:nvSpPr>
        <p:spPr>
          <a:xfrm>
            <a:off x="621792" y="516213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621792" y="4789345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621792" y="441655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621792" y="4043758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621792" y="367096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21792" y="3298170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621792" y="292537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621792" y="255258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89813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82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1544950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84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219176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86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2838586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88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48540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4132221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92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4779039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94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5425857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96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607267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98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67194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VP-Air R@1   (cross-environment benchmark, %)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Tokyo 24/7 R@1   (standard benchmark, %)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4547832" y="5224881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209725" y="4804503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5628963" y="3183026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2656777" y="4518462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6472142" y="4088739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4426068" y="4331055"/>
            <a:ext cx="5167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3039108" y="5200703"/>
            <a:ext cx="608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B6CA8"/>
                </a:solidFill>
                <a:latin typeface="Comic Sans MS"/>
              </a:rPr>
              <a:t>R2Former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2361943" y="4881378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4178404" y="4659114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4C41"/>
                </a:solidFill>
                <a:latin typeface="Comic Sans MS"/>
              </a:rPr>
              <a:t>SuperVLAD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532126" y="4120879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5057349" y="4835738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6519982" y="4446621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754561" y="4876746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Comic Sans MS"/>
              </a:rPr>
              <a:t>CliqueM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1589251" y="3059828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152416" y="2944262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omic Sans MS"/>
              </a:rPr>
              <a:t>SegVLAD-PreT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3664883" y="3266271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A3FA0"/>
                </a:solidFill>
                <a:latin typeface="Comic Sans MS"/>
              </a:rPr>
              <a:t>EffoVPR-ZS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1872216" y="5195937"/>
            <a:ext cx="354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5518524" y="2605477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78" name="5-Point Star 1077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80" name="Diamond 1079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082" name="Oval 1081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084" name="Oval 1083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086" name="Oval 1085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02" name="Picture 1101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3" name="Picture 1102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4" name="Picture 1103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05" name="Oval 1104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10471277" y="2487168"/>
            <a:ext cx="1152144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 benchmarks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7517764" y="5833872"/>
            <a:ext cx="1664208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 benchmarks</a:t>
            </a:r>
          </a:p>
        </p:txBody>
      </p:sp>
      <p:cxnSp>
        <p:nvCxnSpPr>
          <p:cNvPr id="1133" name="Connector 1132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4" name="TextBox 1133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35" name="Connector 1134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6" name="TextBox 1135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37" name="Connector 1136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8" name="TextBox 1137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408176"/>
            <a:ext cx="2822753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 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&amp;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&amp;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top-K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3429254" cy="32918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2205061" y="4033418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2205061" y="4033418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2375134" y="4028846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480089" y="4033418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621816" y="4033418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763544" y="4033418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952514" y="4028846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607" name="Rectangle 606"/>
          <p:cNvSpPr/>
          <p:nvPr/>
        </p:nvSpPr>
        <p:spPr>
          <a:xfrm>
            <a:off x="8800109" y="917920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39199" y="917920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78289" y="917920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17378" y="917920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56468" y="917920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8995558" y="917920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00109" y="95700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39199" y="95700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78289" y="95700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17378" y="957009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56468" y="95700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8995558" y="95700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00109" y="99609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39199" y="99609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78289" y="99609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17378" y="996099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56468" y="99609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8995558" y="996099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00109" y="103518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39199" y="1035189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78289" y="1035189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17378" y="103518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56468" y="103518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8995558" y="103518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00109" y="10742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39199" y="10742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78289" y="10742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17378" y="10742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56468" y="10742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8995558" y="10742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00109" y="11133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39199" y="11133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78289" y="11133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17378" y="11133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56468" y="11133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8995558" y="11133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00109" y="15305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39199" y="153056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78289" y="15305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17378" y="153056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56468" y="153056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8995558" y="15305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00109" y="156965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39199" y="156965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78289" y="156965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17378" y="1569657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56468" y="1569657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8995558" y="156965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00109" y="160874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39199" y="160874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78289" y="160874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17378" y="160874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56468" y="1608747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8995558" y="160874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00109" y="164783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39199" y="1647837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78289" y="164783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17378" y="164783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56468" y="1647837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8995558" y="164783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00109" y="16869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39199" y="1686927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78289" y="1686927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17378" y="1686927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56468" y="16869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8995558" y="16869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00109" y="17260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39199" y="17260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78289" y="17260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17378" y="172601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56468" y="17260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8995558" y="17260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47304" y="717803"/>
            <a:ext cx="713232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diag(w</a:t>
            </a:r>
            <a:r>
              <a:rPr sz="64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)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3123314" y="4033418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3123314" y="4033418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3293387" y="4028846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887968" y="717804"/>
            <a:ext cx="1060704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64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00" b="1" i="1">
                <a:solidFill>
                  <a:srgbClr val="1A1A1A"/>
                </a:solidFill>
                <a:latin typeface="Comic Sans MS" panose="030F0702030302020204"/>
              </a:rPr>
              <a:t>diag(w)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74505" y="977585"/>
            <a:ext cx="82296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4206" y="1181313"/>
            <a:ext cx="82296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74505" y="1590233"/>
            <a:ext cx="82296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74206" y="1793961"/>
            <a:ext cx="82296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76" name="Connector 875"/>
          <p:cNvCxnSpPr/>
          <p:nvPr/>
        </p:nvCxnSpPr>
        <p:spPr>
          <a:xfrm>
            <a:off x="9058046" y="917874"/>
            <a:ext cx="0" cy="23052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7" name="Connector 876"/>
          <p:cNvCxnSpPr/>
          <p:nvPr/>
        </p:nvCxnSpPr>
        <p:spPr>
          <a:xfrm>
            <a:off x="9041587" y="917874"/>
            <a:ext cx="16459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8" name="Connector 877"/>
          <p:cNvCxnSpPr/>
          <p:nvPr/>
        </p:nvCxnSpPr>
        <p:spPr>
          <a:xfrm>
            <a:off x="9041587" y="1148394"/>
            <a:ext cx="16459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9" name="Connector 878"/>
          <p:cNvCxnSpPr/>
          <p:nvPr/>
        </p:nvCxnSpPr>
        <p:spPr>
          <a:xfrm>
            <a:off x="8800094" y="1175826"/>
            <a:ext cx="230520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0" name="Connector 879"/>
          <p:cNvCxnSpPr/>
          <p:nvPr/>
        </p:nvCxnSpPr>
        <p:spPr>
          <a:xfrm>
            <a:off x="8800094" y="1159367"/>
            <a:ext cx="0" cy="16459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1" name="Connector 880"/>
          <p:cNvCxnSpPr/>
          <p:nvPr/>
        </p:nvCxnSpPr>
        <p:spPr>
          <a:xfrm>
            <a:off x="9030614" y="1159367"/>
            <a:ext cx="0" cy="16459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2" name="Connector 881"/>
          <p:cNvCxnSpPr/>
          <p:nvPr/>
        </p:nvCxnSpPr>
        <p:spPr>
          <a:xfrm>
            <a:off x="9058046" y="1530522"/>
            <a:ext cx="0" cy="23052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3" name="Connector 882"/>
          <p:cNvCxnSpPr/>
          <p:nvPr/>
        </p:nvCxnSpPr>
        <p:spPr>
          <a:xfrm>
            <a:off x="9041587" y="1530522"/>
            <a:ext cx="16459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4" name="Connector 883"/>
          <p:cNvCxnSpPr/>
          <p:nvPr/>
        </p:nvCxnSpPr>
        <p:spPr>
          <a:xfrm>
            <a:off x="9041587" y="1761042"/>
            <a:ext cx="16459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5" name="Connector 884"/>
          <p:cNvCxnSpPr/>
          <p:nvPr/>
        </p:nvCxnSpPr>
        <p:spPr>
          <a:xfrm>
            <a:off x="8800094" y="1788474"/>
            <a:ext cx="230520" cy="0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6" name="Connector 885"/>
          <p:cNvCxnSpPr/>
          <p:nvPr/>
        </p:nvCxnSpPr>
        <p:spPr>
          <a:xfrm>
            <a:off x="8800094" y="1772015"/>
            <a:ext cx="0" cy="16459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7" name="Connector 886"/>
          <p:cNvCxnSpPr/>
          <p:nvPr/>
        </p:nvCxnSpPr>
        <p:spPr>
          <a:xfrm>
            <a:off x="9030614" y="1772015"/>
            <a:ext cx="0" cy="16459"/>
          </a:xfrm>
          <a:prstGeom prst="line">
            <a:avLst/>
          </a:prstGeom>
          <a:ln w="9525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