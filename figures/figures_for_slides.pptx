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64" r:id="rId3"/>
    <p:sldId id="265" r:id="rId8"/>
  </p:sldIdLst>
  <p:sldSz cx="12191999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4" d="100"/>
          <a:sy n="74" d="100"/>
        </p:scale>
        <p:origin x="706" y="77"/>
      </p:cViewPr>
      <p:guideLst>
        <p:guide orient="horz" pos="2174"/>
        <p:guide pos="38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 panose="020B070402020202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1990800" y="3848400"/>
            <a:ext cx="7768800" cy="7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 panose="020B0704020202020204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1990800" y="4615200"/>
            <a:ext cx="77688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6084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608400" y="1404000"/>
            <a:ext cx="53424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82550" bIns="0" anchor="t" anchorCtr="0">
            <a:normAutofit/>
          </a:bodyPr>
          <a:lstStyle>
            <a:lvl1pPr marL="457200" lvl="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235750" y="1404000"/>
            <a:ext cx="53424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23575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82550" bIns="0" anchor="t" anchorCtr="0">
            <a:normAutofit/>
          </a:bodyPr>
          <a:lstStyle>
            <a:lvl1pPr marL="457200" lvl="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>
  <p:cSld name="图片与标题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>
            <a:spLocks noGrp="1"/>
          </p:cNvSpPr>
          <p:nvPr>
            <p:ph type="pic" idx="2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6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50" tIns="46975" rIns="90150" bIns="469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 rot="5400000">
            <a:off x="8242200" y="2907000"/>
            <a:ext cx="50292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 panose="020B0704020202020204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 rot="5400000">
            <a:off x="2984400" y="-1155600"/>
            <a:ext cx="5029200" cy="9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rmAutofit/>
          </a:bodyPr>
          <a:lstStyle>
            <a:lvl1pPr marL="457200" lvl="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914400" lvl="1" indent="-330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2pPr>
            <a:lvl3pPr marL="1371600" lvl="2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3pPr>
            <a:lvl4pPr marL="1828800" lvl="3" indent="-3175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1"/>
          </p:nvPr>
        </p:nvSpPr>
        <p:spPr>
          <a:xfrm>
            <a:off x="608400" y="774000"/>
            <a:ext cx="10972800" cy="54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末尾幻灯片">
  <p:cSld name="末尾幻灯片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1198800" y="2397600"/>
            <a:ext cx="9799200" cy="1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 panose="020B070402020202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1198800" y="3560400"/>
            <a:ext cx="97992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50" tIns="46975" rIns="90150" bIns="469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 panose="020B0704020202020204"/>
              <a:buNone/>
              <a:defRPr sz="3600" b="0" i="0" u="none" strike="noStrike" cap="none">
                <a:solidFill>
                  <a:srgbClr val="262626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 panose="020B0704020202020204"/>
              <a:buChar char="●"/>
              <a:defRPr sz="1800" b="0" i="0" u="none" strike="noStrike" cap="none">
                <a:solidFill>
                  <a:srgbClr val="595959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 panose="020B0704020202020204"/>
              <a:buChar char="●"/>
              <a:defRPr sz="1600" b="0" i="0" u="none" strike="noStrike" cap="none">
                <a:solidFill>
                  <a:srgbClr val="595959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 panose="020B0704020202020204"/>
              <a:buChar char="●"/>
              <a:defRPr sz="1600" b="0" i="0" u="none" strike="noStrike" cap="none">
                <a:solidFill>
                  <a:srgbClr val="595959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•"/>
              <a:defRPr sz="1400" b="0" i="0" u="none" strike="noStrike" cap="none">
                <a:solidFill>
                  <a:srgbClr val="595959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rgbClr val="595959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"/>
          <p:cNvSpPr/>
          <p:nvPr/>
        </p:nvSpPr>
        <p:spPr>
          <a:xfrm>
            <a:off x="329184" y="2029968"/>
            <a:ext cx="7022592" cy="4389120"/>
          </a:xfrm>
          <a:custGeom>
            <a:avLst/>
            <a:gdLst/>
            <a:ahLst/>
            <a:cxnLst/>
            <a:rect l="0" t="0" r="r" b="b"/>
            <a:pathLst>
              <a:path w="7022592" h="4389120">
                <a:moveTo>
                  <a:pt x="134816" y="-467"/>
                </a:moveTo>
                <a:lnTo>
                  <a:pt x="246444" y="-1087"/>
                </a:lnTo>
                <a:lnTo>
                  <a:pt x="358024" y="-1784"/>
                </a:lnTo>
                <a:lnTo>
                  <a:pt x="469579" y="-2551"/>
                </a:lnTo>
                <a:lnTo>
                  <a:pt x="581150" y="-3365"/>
                </a:lnTo>
                <a:lnTo>
                  <a:pt x="692788" y="-4192"/>
                </a:lnTo>
                <a:lnTo>
                  <a:pt x="804546" y="-4990"/>
                </a:lnTo>
                <a:lnTo>
                  <a:pt x="916478" y="-5710"/>
                </a:lnTo>
                <a:lnTo>
                  <a:pt x="1028631" y="-6300"/>
                </a:lnTo>
                <a:lnTo>
                  <a:pt x="1141034" y="-6713"/>
                </a:lnTo>
                <a:lnTo>
                  <a:pt x="1253704" y="-6909"/>
                </a:lnTo>
                <a:lnTo>
                  <a:pt x="1366631" y="-6860"/>
                </a:lnTo>
                <a:lnTo>
                  <a:pt x="1479787" y="-6557"/>
                </a:lnTo>
                <a:lnTo>
                  <a:pt x="1593125" y="-6010"/>
                </a:lnTo>
                <a:lnTo>
                  <a:pt x="1706581" y="-5252"/>
                </a:lnTo>
                <a:lnTo>
                  <a:pt x="1820082" y="-4333"/>
                </a:lnTo>
                <a:lnTo>
                  <a:pt x="1933553" y="-3326"/>
                </a:lnTo>
                <a:lnTo>
                  <a:pt x="2046923" y="-2315"/>
                </a:lnTo>
                <a:lnTo>
                  <a:pt x="2160136" y="-1389"/>
                </a:lnTo>
                <a:lnTo>
                  <a:pt x="2273155" y="-641"/>
                </a:lnTo>
                <a:lnTo>
                  <a:pt x="2385964" y="-151"/>
                </a:lnTo>
                <a:lnTo>
                  <a:pt x="2498575" y="15"/>
                </a:lnTo>
                <a:lnTo>
                  <a:pt x="2611019" y="-179"/>
                </a:lnTo>
                <a:lnTo>
                  <a:pt x="2723350" y="-747"/>
                </a:lnTo>
                <a:lnTo>
                  <a:pt x="2835631" y="-1665"/>
                </a:lnTo>
                <a:lnTo>
                  <a:pt x="2947931" y="-2878"/>
                </a:lnTo>
                <a:lnTo>
                  <a:pt x="3060311" y="-4303"/>
                </a:lnTo>
                <a:lnTo>
                  <a:pt x="3172822" y="-5837"/>
                </a:lnTo>
                <a:lnTo>
                  <a:pt x="3285490" y="-7363"/>
                </a:lnTo>
                <a:lnTo>
                  <a:pt x="3398321" y="-8767"/>
                </a:lnTo>
                <a:lnTo>
                  <a:pt x="3511296" y="-9944"/>
                </a:lnTo>
                <a:lnTo>
                  <a:pt x="3624375" y="-10813"/>
                </a:lnTo>
                <a:lnTo>
                  <a:pt x="3737507" y="-11321"/>
                </a:lnTo>
                <a:lnTo>
                  <a:pt x="3850632" y="-11448"/>
                </a:lnTo>
                <a:lnTo>
                  <a:pt x="3963696" y="-11209"/>
                </a:lnTo>
                <a:lnTo>
                  <a:pt x="4076653" y="-10652"/>
                </a:lnTo>
                <a:lnTo>
                  <a:pt x="4189476" y="-9845"/>
                </a:lnTo>
                <a:lnTo>
                  <a:pt x="4302158" y="-8872"/>
                </a:lnTo>
                <a:lnTo>
                  <a:pt x="4414708" y="-7825"/>
                </a:lnTo>
                <a:lnTo>
                  <a:pt x="4527156" y="-6787"/>
                </a:lnTo>
                <a:lnTo>
                  <a:pt x="4639539" y="-5832"/>
                </a:lnTo>
                <a:lnTo>
                  <a:pt x="4751901" y="-5012"/>
                </a:lnTo>
                <a:lnTo>
                  <a:pt x="4864282" y="-4359"/>
                </a:lnTo>
                <a:lnTo>
                  <a:pt x="4976713" y="-3882"/>
                </a:lnTo>
                <a:lnTo>
                  <a:pt x="5089212" y="-3568"/>
                </a:lnTo>
                <a:lnTo>
                  <a:pt x="5201779" y="-3384"/>
                </a:lnTo>
                <a:lnTo>
                  <a:pt x="5314400" y="-3289"/>
                </a:lnTo>
                <a:lnTo>
                  <a:pt x="5427045" y="-3233"/>
                </a:lnTo>
                <a:lnTo>
                  <a:pt x="5539674" y="-3166"/>
                </a:lnTo>
                <a:lnTo>
                  <a:pt x="5652243" y="-3044"/>
                </a:lnTo>
                <a:lnTo>
                  <a:pt x="5764707" y="-2832"/>
                </a:lnTo>
                <a:lnTo>
                  <a:pt x="5877030" y="-2509"/>
                </a:lnTo>
                <a:lnTo>
                  <a:pt x="5989186" y="-2068"/>
                </a:lnTo>
                <a:lnTo>
                  <a:pt x="6101169" y="-1518"/>
                </a:lnTo>
                <a:lnTo>
                  <a:pt x="6212986" y="-879"/>
                </a:lnTo>
                <a:lnTo>
                  <a:pt x="6324665" y="-184"/>
                </a:lnTo>
                <a:lnTo>
                  <a:pt x="6436249" y="529"/>
                </a:lnTo>
                <a:lnTo>
                  <a:pt x="6547790" y="1220"/>
                </a:lnTo>
                <a:lnTo>
                  <a:pt x="6659349" y="1850"/>
                </a:lnTo>
                <a:lnTo>
                  <a:pt x="6770983" y="2385"/>
                </a:lnTo>
                <a:lnTo>
                  <a:pt x="6882745" y="2801"/>
                </a:lnTo>
                <a:lnTo>
                  <a:pt x="6882195" y="3159"/>
                </a:lnTo>
                <a:lnTo>
                  <a:pt x="6897004" y="4233"/>
                </a:lnTo>
                <a:lnTo>
                  <a:pt x="6911805" y="6878"/>
                </a:lnTo>
                <a:lnTo>
                  <a:pt x="6926388" y="11079"/>
                </a:lnTo>
                <a:lnTo>
                  <a:pt x="6940524" y="16812"/>
                </a:lnTo>
                <a:lnTo>
                  <a:pt x="6953981" y="24042"/>
                </a:lnTo>
                <a:lnTo>
                  <a:pt x="6966524" y="32720"/>
                </a:lnTo>
                <a:lnTo>
                  <a:pt x="6977927" y="42780"/>
                </a:lnTo>
                <a:lnTo>
                  <a:pt x="6987980" y="54134"/>
                </a:lnTo>
                <a:lnTo>
                  <a:pt x="6996499" y="66673"/>
                </a:lnTo>
                <a:lnTo>
                  <a:pt x="7003333" y="80262"/>
                </a:lnTo>
                <a:lnTo>
                  <a:pt x="7008370" y="94743"/>
                </a:lnTo>
                <a:lnTo>
                  <a:pt x="7011543" y="109932"/>
                </a:lnTo>
                <a:lnTo>
                  <a:pt x="7012828" y="125626"/>
                </a:lnTo>
                <a:lnTo>
                  <a:pt x="7012248" y="141601"/>
                </a:lnTo>
                <a:lnTo>
                  <a:pt x="7010741" y="142484"/>
                </a:lnTo>
                <a:lnTo>
                  <a:pt x="7009063" y="246023"/>
                </a:lnTo>
                <a:lnTo>
                  <a:pt x="7007445" y="349431"/>
                </a:lnTo>
                <a:lnTo>
                  <a:pt x="7005995" y="452661"/>
                </a:lnTo>
                <a:lnTo>
                  <a:pt x="7004814" y="555680"/>
                </a:lnTo>
                <a:lnTo>
                  <a:pt x="7003994" y="658471"/>
                </a:lnTo>
                <a:lnTo>
                  <a:pt x="7003605" y="761036"/>
                </a:lnTo>
                <a:lnTo>
                  <a:pt x="7003694" y="863397"/>
                </a:lnTo>
                <a:lnTo>
                  <a:pt x="7004279" y="965588"/>
                </a:lnTo>
                <a:lnTo>
                  <a:pt x="7005344" y="1067659"/>
                </a:lnTo>
                <a:lnTo>
                  <a:pt x="7006848" y="1169663"/>
                </a:lnTo>
                <a:lnTo>
                  <a:pt x="7008722" y="1271659"/>
                </a:lnTo>
                <a:lnTo>
                  <a:pt x="7010877" y="1373698"/>
                </a:lnTo>
                <a:lnTo>
                  <a:pt x="7013213" y="1475826"/>
                </a:lnTo>
                <a:lnTo>
                  <a:pt x="7015626" y="1578078"/>
                </a:lnTo>
                <a:lnTo>
                  <a:pt x="7018018" y="1680474"/>
                </a:lnTo>
                <a:lnTo>
                  <a:pt x="7020304" y="1783023"/>
                </a:lnTo>
                <a:lnTo>
                  <a:pt x="7022419" y="1885721"/>
                </a:lnTo>
                <a:lnTo>
                  <a:pt x="7024319" y="1988556"/>
                </a:lnTo>
                <a:lnTo>
                  <a:pt x="7025989" y="2091509"/>
                </a:lnTo>
                <a:lnTo>
                  <a:pt x="7027433" y="2194560"/>
                </a:lnTo>
                <a:lnTo>
                  <a:pt x="7028681" y="2297689"/>
                </a:lnTo>
                <a:lnTo>
                  <a:pt x="7029771" y="2400883"/>
                </a:lnTo>
                <a:lnTo>
                  <a:pt x="7030754" y="2504131"/>
                </a:lnTo>
                <a:lnTo>
                  <a:pt x="7031678" y="2607430"/>
                </a:lnTo>
                <a:lnTo>
                  <a:pt x="7032584" y="2710780"/>
                </a:lnTo>
                <a:lnTo>
                  <a:pt x="7033501" y="2814186"/>
                </a:lnTo>
                <a:lnTo>
                  <a:pt x="7034439" y="2917649"/>
                </a:lnTo>
                <a:lnTo>
                  <a:pt x="7035390" y="3021171"/>
                </a:lnTo>
                <a:lnTo>
                  <a:pt x="7036328" y="3124745"/>
                </a:lnTo>
                <a:lnTo>
                  <a:pt x="7037209" y="3228357"/>
                </a:lnTo>
                <a:lnTo>
                  <a:pt x="7037980" y="3331986"/>
                </a:lnTo>
                <a:lnTo>
                  <a:pt x="7038583" y="3435600"/>
                </a:lnTo>
                <a:lnTo>
                  <a:pt x="7038962" y="3539165"/>
                </a:lnTo>
                <a:lnTo>
                  <a:pt x="7039069" y="3642640"/>
                </a:lnTo>
                <a:lnTo>
                  <a:pt x="7038873" y="3745988"/>
                </a:lnTo>
                <a:lnTo>
                  <a:pt x="7038360" y="3849176"/>
                </a:lnTo>
                <a:lnTo>
                  <a:pt x="7037541" y="3952181"/>
                </a:lnTo>
                <a:lnTo>
                  <a:pt x="7036448" y="4054994"/>
                </a:lnTo>
                <a:lnTo>
                  <a:pt x="7035134" y="4157619"/>
                </a:lnTo>
                <a:lnTo>
                  <a:pt x="7033667" y="4260078"/>
                </a:lnTo>
                <a:lnTo>
                  <a:pt x="7032253" y="4259249"/>
                </a:lnTo>
                <a:lnTo>
                  <a:pt x="7029948" y="4273609"/>
                </a:lnTo>
                <a:lnTo>
                  <a:pt x="7026014" y="4287805"/>
                </a:lnTo>
                <a:lnTo>
                  <a:pt x="7020560" y="4301695"/>
                </a:lnTo>
                <a:lnTo>
                  <a:pt x="7013705" y="4315137"/>
                </a:lnTo>
                <a:lnTo>
                  <a:pt x="7005568" y="4327983"/>
                </a:lnTo>
                <a:lnTo>
                  <a:pt x="6996265" y="4340086"/>
                </a:lnTo>
                <a:lnTo>
                  <a:pt x="6985906" y="4351292"/>
                </a:lnTo>
                <a:lnTo>
                  <a:pt x="6974593" y="4361447"/>
                </a:lnTo>
                <a:lnTo>
                  <a:pt x="6962420" y="4370398"/>
                </a:lnTo>
                <a:lnTo>
                  <a:pt x="6949479" y="4377994"/>
                </a:lnTo>
                <a:lnTo>
                  <a:pt x="6935858" y="4384095"/>
                </a:lnTo>
                <a:lnTo>
                  <a:pt x="6921651" y="4388575"/>
                </a:lnTo>
                <a:lnTo>
                  <a:pt x="6906961" y="4391327"/>
                </a:lnTo>
                <a:lnTo>
                  <a:pt x="6891903" y="4392271"/>
                </a:lnTo>
                <a:lnTo>
                  <a:pt x="6891793" y="4392199"/>
                </a:lnTo>
                <a:lnTo>
                  <a:pt x="6778839" y="4392017"/>
                </a:lnTo>
                <a:lnTo>
                  <a:pt x="6665609" y="4391630"/>
                </a:lnTo>
                <a:lnTo>
                  <a:pt x="6552122" y="4391028"/>
                </a:lnTo>
                <a:lnTo>
                  <a:pt x="6438424" y="4390222"/>
                </a:lnTo>
                <a:lnTo>
                  <a:pt x="6324576" y="4389235"/>
                </a:lnTo>
                <a:lnTo>
                  <a:pt x="6210658" y="4388107"/>
                </a:lnTo>
                <a:lnTo>
                  <a:pt x="6096751" y="4386892"/>
                </a:lnTo>
                <a:lnTo>
                  <a:pt x="5982939" y="4385650"/>
                </a:lnTo>
                <a:lnTo>
                  <a:pt x="5869294" y="4384445"/>
                </a:lnTo>
                <a:lnTo>
                  <a:pt x="5755874" y="4383339"/>
                </a:lnTo>
                <a:lnTo>
                  <a:pt x="5642717" y="4382386"/>
                </a:lnTo>
                <a:lnTo>
                  <a:pt x="5529840" y="4381631"/>
                </a:lnTo>
                <a:lnTo>
                  <a:pt x="5417235" y="4381099"/>
                </a:lnTo>
                <a:lnTo>
                  <a:pt x="5304875" y="4380799"/>
                </a:lnTo>
                <a:lnTo>
                  <a:pt x="5192716" y="4380720"/>
                </a:lnTo>
                <a:lnTo>
                  <a:pt x="5080703" y="4380835"/>
                </a:lnTo>
                <a:lnTo>
                  <a:pt x="4968779" y="4381100"/>
                </a:lnTo>
                <a:lnTo>
                  <a:pt x="4856887" y="4381460"/>
                </a:lnTo>
                <a:lnTo>
                  <a:pt x="4744978" y="4381858"/>
                </a:lnTo>
                <a:lnTo>
                  <a:pt x="4633019" y="4382236"/>
                </a:lnTo>
                <a:lnTo>
                  <a:pt x="4520990" y="4382546"/>
                </a:lnTo>
                <a:lnTo>
                  <a:pt x="4408887" y="4382754"/>
                </a:lnTo>
                <a:lnTo>
                  <a:pt x="4296720" y="4382843"/>
                </a:lnTo>
                <a:lnTo>
                  <a:pt x="4184509" y="4382820"/>
                </a:lnTo>
                <a:lnTo>
                  <a:pt x="4072278" y="4382707"/>
                </a:lnTo>
                <a:lnTo>
                  <a:pt x="3960049" y="4382546"/>
                </a:lnTo>
                <a:lnTo>
                  <a:pt x="3847837" y="4382392"/>
                </a:lnTo>
                <a:lnTo>
                  <a:pt x="3735647" y="4382300"/>
                </a:lnTo>
                <a:lnTo>
                  <a:pt x="3623472" y="4382325"/>
                </a:lnTo>
                <a:lnTo>
                  <a:pt x="3511296" y="4382508"/>
                </a:lnTo>
                <a:lnTo>
                  <a:pt x="3399091" y="4382869"/>
                </a:lnTo>
                <a:lnTo>
                  <a:pt x="3286830" y="4383410"/>
                </a:lnTo>
                <a:lnTo>
                  <a:pt x="3174491" y="4384104"/>
                </a:lnTo>
                <a:lnTo>
                  <a:pt x="3062059" y="4384905"/>
                </a:lnTo>
                <a:lnTo>
                  <a:pt x="2949534" y="4385747"/>
                </a:lnTo>
                <a:lnTo>
                  <a:pt x="2836932" y="4386555"/>
                </a:lnTo>
                <a:lnTo>
                  <a:pt x="2724288" y="4387254"/>
                </a:lnTo>
                <a:lnTo>
                  <a:pt x="2611645" y="4387773"/>
                </a:lnTo>
                <a:lnTo>
                  <a:pt x="2499057" y="4388060"/>
                </a:lnTo>
                <a:lnTo>
                  <a:pt x="2386575" y="4388080"/>
                </a:lnTo>
                <a:lnTo>
                  <a:pt x="2274247" y="4387824"/>
                </a:lnTo>
                <a:lnTo>
                  <a:pt x="2162104" y="4387311"/>
                </a:lnTo>
                <a:lnTo>
                  <a:pt x="2050158" y="4386581"/>
                </a:lnTo>
                <a:lnTo>
                  <a:pt x="1938399" y="4385696"/>
                </a:lnTo>
                <a:lnTo>
                  <a:pt x="1826792" y="4384730"/>
                </a:lnTo>
                <a:lnTo>
                  <a:pt x="1715280" y="4383768"/>
                </a:lnTo>
                <a:lnTo>
                  <a:pt x="1603792" y="4382894"/>
                </a:lnTo>
                <a:lnTo>
                  <a:pt x="1492241" y="4382184"/>
                </a:lnTo>
                <a:lnTo>
                  <a:pt x="1380539" y="4381704"/>
                </a:lnTo>
                <a:lnTo>
                  <a:pt x="1268602" y="4381501"/>
                </a:lnTo>
                <a:lnTo>
                  <a:pt x="1156360" y="4381601"/>
                </a:lnTo>
                <a:lnTo>
                  <a:pt x="1043759" y="4382009"/>
                </a:lnTo>
                <a:lnTo>
                  <a:pt x="930774" y="4382708"/>
                </a:lnTo>
                <a:lnTo>
                  <a:pt x="817402" y="4383663"/>
                </a:lnTo>
                <a:lnTo>
                  <a:pt x="703670" y="4384823"/>
                </a:lnTo>
                <a:lnTo>
                  <a:pt x="589630" y="4386124"/>
                </a:lnTo>
                <a:lnTo>
                  <a:pt x="475352" y="4387501"/>
                </a:lnTo>
                <a:lnTo>
                  <a:pt x="360924" y="4388884"/>
                </a:lnTo>
                <a:lnTo>
                  <a:pt x="246436" y="4390212"/>
                </a:lnTo>
                <a:lnTo>
                  <a:pt x="131981" y="4391431"/>
                </a:lnTo>
                <a:lnTo>
                  <a:pt x="130216" y="4392578"/>
                </a:lnTo>
                <a:lnTo>
                  <a:pt x="113474" y="4392722"/>
                </a:lnTo>
                <a:lnTo>
                  <a:pt x="97163" y="4391005"/>
                </a:lnTo>
                <a:lnTo>
                  <a:pt x="81488" y="4387449"/>
                </a:lnTo>
                <a:lnTo>
                  <a:pt x="66629" y="4382111"/>
                </a:lnTo>
                <a:lnTo>
                  <a:pt x="52737" y="4375085"/>
                </a:lnTo>
                <a:lnTo>
                  <a:pt x="39940" y="4366489"/>
                </a:lnTo>
                <a:lnTo>
                  <a:pt x="28345" y="4356468"/>
                </a:lnTo>
                <a:lnTo>
                  <a:pt x="18041" y="4345186"/>
                </a:lnTo>
                <a:lnTo>
                  <a:pt x="9102" y="4332820"/>
                </a:lnTo>
                <a:lnTo>
                  <a:pt x="1595" y="4319551"/>
                </a:lnTo>
                <a:lnTo>
                  <a:pt x="-4417" y="4305568"/>
                </a:lnTo>
                <a:lnTo>
                  <a:pt x="-8879" y="4291055"/>
                </a:lnTo>
                <a:lnTo>
                  <a:pt x="-11733" y="4276195"/>
                </a:lnTo>
                <a:lnTo>
                  <a:pt x="-12927" y="4261164"/>
                </a:lnTo>
                <a:lnTo>
                  <a:pt x="-13243" y="4261350"/>
                </a:lnTo>
                <a:lnTo>
                  <a:pt x="-13683" y="4158255"/>
                </a:lnTo>
                <a:lnTo>
                  <a:pt x="-14025" y="4055083"/>
                </a:lnTo>
                <a:lnTo>
                  <a:pt x="-14209" y="3951813"/>
                </a:lnTo>
                <a:lnTo>
                  <a:pt x="-14183" y="3848432"/>
                </a:lnTo>
                <a:lnTo>
                  <a:pt x="-13903" y="3744942"/>
                </a:lnTo>
                <a:lnTo>
                  <a:pt x="-13341" y="3641353"/>
                </a:lnTo>
                <a:lnTo>
                  <a:pt x="-12491" y="3537686"/>
                </a:lnTo>
                <a:lnTo>
                  <a:pt x="-11368" y="3433974"/>
                </a:lnTo>
                <a:lnTo>
                  <a:pt x="-10013" y="3330252"/>
                </a:lnTo>
                <a:lnTo>
                  <a:pt x="-8483" y="3226559"/>
                </a:lnTo>
                <a:lnTo>
                  <a:pt x="-6852" y="3122929"/>
                </a:lnTo>
                <a:lnTo>
                  <a:pt x="-5205" y="3019390"/>
                </a:lnTo>
                <a:lnTo>
                  <a:pt x="-3625" y="2915962"/>
                </a:lnTo>
                <a:lnTo>
                  <a:pt x="-2190" y="2812652"/>
                </a:lnTo>
                <a:lnTo>
                  <a:pt x="-963" y="2709457"/>
                </a:lnTo>
                <a:lnTo>
                  <a:pt x="13" y="2606363"/>
                </a:lnTo>
                <a:lnTo>
                  <a:pt x="724" y="2503349"/>
                </a:lnTo>
                <a:lnTo>
                  <a:pt x="1181" y="2400393"/>
                </a:lnTo>
                <a:lnTo>
                  <a:pt x="1421" y="2297469"/>
                </a:lnTo>
                <a:lnTo>
                  <a:pt x="1509" y="2194560"/>
                </a:lnTo>
                <a:lnTo>
                  <a:pt x="1521" y="2091653"/>
                </a:lnTo>
                <a:lnTo>
                  <a:pt x="1548" y="1988748"/>
                </a:lnTo>
                <a:lnTo>
                  <a:pt x="1679" y="1885854"/>
                </a:lnTo>
                <a:lnTo>
                  <a:pt x="1994" y="1782989"/>
                </a:lnTo>
                <a:lnTo>
                  <a:pt x="2556" y="1680178"/>
                </a:lnTo>
                <a:lnTo>
                  <a:pt x="3406" y="1577452"/>
                </a:lnTo>
                <a:lnTo>
                  <a:pt x="4554" y="1474836"/>
                </a:lnTo>
                <a:lnTo>
                  <a:pt x="5980" y="1372353"/>
                </a:lnTo>
                <a:lnTo>
                  <a:pt x="7636" y="1270014"/>
                </a:lnTo>
                <a:lnTo>
                  <a:pt x="9449" y="1167818"/>
                </a:lnTo>
                <a:lnTo>
                  <a:pt x="11326" y="1065749"/>
                </a:lnTo>
                <a:lnTo>
                  <a:pt x="13165" y="963777"/>
                </a:lnTo>
                <a:lnTo>
                  <a:pt x="14860" y="861858"/>
                </a:lnTo>
                <a:lnTo>
                  <a:pt x="16313" y="759939"/>
                </a:lnTo>
                <a:lnTo>
                  <a:pt x="17441" y="657962"/>
                </a:lnTo>
                <a:lnTo>
                  <a:pt x="18182" y="555870"/>
                </a:lnTo>
                <a:lnTo>
                  <a:pt x="18501" y="453611"/>
                </a:lnTo>
                <a:lnTo>
                  <a:pt x="18392" y="351145"/>
                </a:lnTo>
                <a:lnTo>
                  <a:pt x="17873" y="248443"/>
                </a:lnTo>
                <a:lnTo>
                  <a:pt x="16989" y="145498"/>
                </a:lnTo>
                <a:lnTo>
                  <a:pt x="16011" y="144925"/>
                </a:lnTo>
                <a:lnTo>
                  <a:pt x="15604" y="129077"/>
                </a:lnTo>
                <a:lnTo>
                  <a:pt x="16718" y="113309"/>
                </a:lnTo>
                <a:lnTo>
                  <a:pt x="19402" y="97854"/>
                </a:lnTo>
                <a:lnTo>
                  <a:pt x="23677" y="82938"/>
                </a:lnTo>
                <a:lnTo>
                  <a:pt x="29538" y="68777"/>
                </a:lnTo>
                <a:lnTo>
                  <a:pt x="36942" y="55569"/>
                </a:lnTo>
                <a:lnTo>
                  <a:pt x="45809" y="43491"/>
                </a:lnTo>
                <a:lnTo>
                  <a:pt x="56026" y="32695"/>
                </a:lnTo>
                <a:lnTo>
                  <a:pt x="67443" y="23307"/>
                </a:lnTo>
                <a:lnTo>
                  <a:pt x="79883" y="15425"/>
                </a:lnTo>
                <a:lnTo>
                  <a:pt x="93144" y="9123"/>
                </a:lnTo>
                <a:lnTo>
                  <a:pt x="107009" y="4448"/>
                </a:lnTo>
                <a:lnTo>
                  <a:pt x="121254" y="1430"/>
                </a:lnTo>
                <a:lnTo>
                  <a:pt x="135654" y="76"/>
                </a:lnTo>
                <a:close/>
              </a:path>
            </a:pathLst>
          </a:custGeom>
          <a:pattFill prst="ltUpDiag">
            <a:fgClr>
              <a:srgbClr val="F1F3F6"/>
            </a:fgClr>
            <a:bgClr>
              <a:srgbClr val="FFFFFF"/>
            </a:bgClr>
          </a:pattFill>
          <a:ln w="14224" cap="flat" cmpd="sng">
            <a:solidFill>
              <a:srgbClr val="3E5C8A"/>
            </a:solidFill>
            <a:miter lim="0"/>
            <a:headEnd type="none" w="sm" len="sm"/>
            <a:tailEnd type="none" w="sm" len="sm"/>
            <a:round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543" name="Google Shape;543;p5"/>
          <p:cNvSpPr/>
          <p:nvPr/>
        </p:nvSpPr>
        <p:spPr>
          <a:xfrm>
            <a:off x="7461250" y="2029968"/>
            <a:ext cx="4260215" cy="4389120"/>
          </a:xfrm>
          <a:custGeom>
            <a:avLst/>
            <a:gdLst/>
            <a:ahLst/>
            <a:cxnLst/>
            <a:rect l="0" t="0" r="r" b="b"/>
            <a:pathLst>
              <a:path w="4260215" h="4389120">
                <a:moveTo>
                  <a:pt x="139366" y="8577"/>
                </a:moveTo>
                <a:lnTo>
                  <a:pt x="205532" y="8359"/>
                </a:lnTo>
                <a:lnTo>
                  <a:pt x="271681" y="8105"/>
                </a:lnTo>
                <a:lnTo>
                  <a:pt x="337849" y="7856"/>
                </a:lnTo>
                <a:lnTo>
                  <a:pt x="404063" y="7646"/>
                </a:lnTo>
                <a:lnTo>
                  <a:pt x="470336" y="7496"/>
                </a:lnTo>
                <a:lnTo>
                  <a:pt x="536665" y="7411"/>
                </a:lnTo>
                <a:lnTo>
                  <a:pt x="603035" y="7379"/>
                </a:lnTo>
                <a:lnTo>
                  <a:pt x="669425" y="7372"/>
                </a:lnTo>
                <a:lnTo>
                  <a:pt x="735806" y="7349"/>
                </a:lnTo>
                <a:lnTo>
                  <a:pt x="802147" y="7261"/>
                </a:lnTo>
                <a:lnTo>
                  <a:pt x="868425" y="7053"/>
                </a:lnTo>
                <a:lnTo>
                  <a:pt x="934623" y="6674"/>
                </a:lnTo>
                <a:lnTo>
                  <a:pt x="1000732" y="6081"/>
                </a:lnTo>
                <a:lnTo>
                  <a:pt x="1066761" y="5247"/>
                </a:lnTo>
                <a:lnTo>
                  <a:pt x="1132726" y="4162"/>
                </a:lnTo>
                <a:lnTo>
                  <a:pt x="1198656" y="2839"/>
                </a:lnTo>
                <a:lnTo>
                  <a:pt x="1264586" y="1314"/>
                </a:lnTo>
                <a:lnTo>
                  <a:pt x="1330556" y="-357"/>
                </a:lnTo>
                <a:lnTo>
                  <a:pt x="1396602" y="-2102"/>
                </a:lnTo>
                <a:lnTo>
                  <a:pt x="1462757" y="-3839"/>
                </a:lnTo>
                <a:lnTo>
                  <a:pt x="1529044" y="-5480"/>
                </a:lnTo>
                <a:lnTo>
                  <a:pt x="1595473" y="-6944"/>
                </a:lnTo>
                <a:lnTo>
                  <a:pt x="1662044" y="-8161"/>
                </a:lnTo>
                <a:lnTo>
                  <a:pt x="1728742" y="-9084"/>
                </a:lnTo>
                <a:lnTo>
                  <a:pt x="1795545" y="-9687"/>
                </a:lnTo>
                <a:lnTo>
                  <a:pt x="1862422" y="-9975"/>
                </a:lnTo>
                <a:lnTo>
                  <a:pt x="1929343" y="-9980"/>
                </a:lnTo>
                <a:lnTo>
                  <a:pt x="1996278" y="-9759"/>
                </a:lnTo>
                <a:lnTo>
                  <a:pt x="2063203" y="-9391"/>
                </a:lnTo>
                <a:lnTo>
                  <a:pt x="2130107" y="-8966"/>
                </a:lnTo>
                <a:lnTo>
                  <a:pt x="2196986" y="-8578"/>
                </a:lnTo>
                <a:lnTo>
                  <a:pt x="2263849" y="-8317"/>
                </a:lnTo>
                <a:lnTo>
                  <a:pt x="2330714" y="-8257"/>
                </a:lnTo>
                <a:lnTo>
                  <a:pt x="2397607" y="-8450"/>
                </a:lnTo>
                <a:lnTo>
                  <a:pt x="2464553" y="-8921"/>
                </a:lnTo>
                <a:lnTo>
                  <a:pt x="2531578" y="-9664"/>
                </a:lnTo>
                <a:lnTo>
                  <a:pt x="2598698" y="-10644"/>
                </a:lnTo>
                <a:lnTo>
                  <a:pt x="2665920" y="-11798"/>
                </a:lnTo>
                <a:lnTo>
                  <a:pt x="2733236" y="-13042"/>
                </a:lnTo>
                <a:lnTo>
                  <a:pt x="2800626" y="-14279"/>
                </a:lnTo>
                <a:lnTo>
                  <a:pt x="2868054" y="-15405"/>
                </a:lnTo>
                <a:lnTo>
                  <a:pt x="2935474" y="-16323"/>
                </a:lnTo>
                <a:lnTo>
                  <a:pt x="3002835" y="-16947"/>
                </a:lnTo>
                <a:lnTo>
                  <a:pt x="3070080" y="-17213"/>
                </a:lnTo>
                <a:lnTo>
                  <a:pt x="3137161" y="-17080"/>
                </a:lnTo>
                <a:lnTo>
                  <a:pt x="3204034" y="-16537"/>
                </a:lnTo>
                <a:lnTo>
                  <a:pt x="3270670" y="-15598"/>
                </a:lnTo>
                <a:lnTo>
                  <a:pt x="3337055" y="-14305"/>
                </a:lnTo>
                <a:lnTo>
                  <a:pt x="3403194" y="-12720"/>
                </a:lnTo>
                <a:lnTo>
                  <a:pt x="3469106" y="-10920"/>
                </a:lnTo>
                <a:lnTo>
                  <a:pt x="3534825" y="-8991"/>
                </a:lnTo>
                <a:lnTo>
                  <a:pt x="3600398" y="-7015"/>
                </a:lnTo>
                <a:lnTo>
                  <a:pt x="3665873" y="-5073"/>
                </a:lnTo>
                <a:lnTo>
                  <a:pt x="3731302" y="-3230"/>
                </a:lnTo>
                <a:lnTo>
                  <a:pt x="3796732" y="-1535"/>
                </a:lnTo>
                <a:lnTo>
                  <a:pt x="3862200" y="-18"/>
                </a:lnTo>
                <a:lnTo>
                  <a:pt x="3927732" y="1308"/>
                </a:lnTo>
                <a:lnTo>
                  <a:pt x="3993338" y="2453"/>
                </a:lnTo>
                <a:lnTo>
                  <a:pt x="4059016" y="3436"/>
                </a:lnTo>
                <a:lnTo>
                  <a:pt x="4124751" y="4291"/>
                </a:lnTo>
                <a:lnTo>
                  <a:pt x="4123987" y="5131"/>
                </a:lnTo>
                <a:lnTo>
                  <a:pt x="4137958" y="6745"/>
                </a:lnTo>
                <a:lnTo>
                  <a:pt x="4151736" y="9994"/>
                </a:lnTo>
                <a:lnTo>
                  <a:pt x="4165117" y="14871"/>
                </a:lnTo>
                <a:lnTo>
                  <a:pt x="4177912" y="21334"/>
                </a:lnTo>
                <a:lnTo>
                  <a:pt x="4189949" y="29311"/>
                </a:lnTo>
                <a:lnTo>
                  <a:pt x="4201083" y="38693"/>
                </a:lnTo>
                <a:lnTo>
                  <a:pt x="4211192" y="49345"/>
                </a:lnTo>
                <a:lnTo>
                  <a:pt x="4220179" y="61101"/>
                </a:lnTo>
                <a:lnTo>
                  <a:pt x="4227969" y="73777"/>
                </a:lnTo>
                <a:lnTo>
                  <a:pt x="4234507" y="87172"/>
                </a:lnTo>
                <a:lnTo>
                  <a:pt x="4239758" y="101079"/>
                </a:lnTo>
                <a:lnTo>
                  <a:pt x="4243692" y="115290"/>
                </a:lnTo>
                <a:lnTo>
                  <a:pt x="4246293" y="129602"/>
                </a:lnTo>
                <a:lnTo>
                  <a:pt x="4247545" y="143825"/>
                </a:lnTo>
                <a:lnTo>
                  <a:pt x="4248300" y="143093"/>
                </a:lnTo>
                <a:lnTo>
                  <a:pt x="4249046" y="244981"/>
                </a:lnTo>
                <a:lnTo>
                  <a:pt x="4250059" y="346707"/>
                </a:lnTo>
                <a:lnTo>
                  <a:pt x="4251292" y="448350"/>
                </a:lnTo>
                <a:lnTo>
                  <a:pt x="4252681" y="549992"/>
                </a:lnTo>
                <a:lnTo>
                  <a:pt x="4254145" y="651714"/>
                </a:lnTo>
                <a:lnTo>
                  <a:pt x="4255595" y="753588"/>
                </a:lnTo>
                <a:lnTo>
                  <a:pt x="4256940" y="855668"/>
                </a:lnTo>
                <a:lnTo>
                  <a:pt x="4258095" y="957988"/>
                </a:lnTo>
                <a:lnTo>
                  <a:pt x="4258990" y="1060559"/>
                </a:lnTo>
                <a:lnTo>
                  <a:pt x="4259574" y="1163367"/>
                </a:lnTo>
                <a:lnTo>
                  <a:pt x="4259824" y="1266378"/>
                </a:lnTo>
                <a:lnTo>
                  <a:pt x="4259745" y="1369539"/>
                </a:lnTo>
                <a:lnTo>
                  <a:pt x="4259375" y="1472792"/>
                </a:lnTo>
                <a:lnTo>
                  <a:pt x="4258776" y="1576076"/>
                </a:lnTo>
                <a:lnTo>
                  <a:pt x="4258034" y="1679336"/>
                </a:lnTo>
                <a:lnTo>
                  <a:pt x="4257249" y="1782533"/>
                </a:lnTo>
                <a:lnTo>
                  <a:pt x="4256523" y="1885645"/>
                </a:lnTo>
                <a:lnTo>
                  <a:pt x="4255954" y="1988672"/>
                </a:lnTo>
                <a:lnTo>
                  <a:pt x="4255622" y="2091632"/>
                </a:lnTo>
                <a:lnTo>
                  <a:pt x="4255582" y="2194560"/>
                </a:lnTo>
                <a:lnTo>
                  <a:pt x="4255860" y="2297499"/>
                </a:lnTo>
                <a:lnTo>
                  <a:pt x="4256448" y="2400495"/>
                </a:lnTo>
                <a:lnTo>
                  <a:pt x="4257308" y="2503588"/>
                </a:lnTo>
                <a:lnTo>
                  <a:pt x="4258377" y="2606805"/>
                </a:lnTo>
                <a:lnTo>
                  <a:pt x="4259574" y="2710156"/>
                </a:lnTo>
                <a:lnTo>
                  <a:pt x="4260810" y="2813634"/>
                </a:lnTo>
                <a:lnTo>
                  <a:pt x="4261997" y="2917215"/>
                </a:lnTo>
                <a:lnTo>
                  <a:pt x="4263059" y="3020864"/>
                </a:lnTo>
                <a:lnTo>
                  <a:pt x="4263937" y="3124534"/>
                </a:lnTo>
                <a:lnTo>
                  <a:pt x="4264593" y="3228182"/>
                </a:lnTo>
                <a:lnTo>
                  <a:pt x="4265016" y="3331770"/>
                </a:lnTo>
                <a:lnTo>
                  <a:pt x="4265217" y="3435269"/>
                </a:lnTo>
                <a:lnTo>
                  <a:pt x="4265226" y="3538668"/>
                </a:lnTo>
                <a:lnTo>
                  <a:pt x="4265091" y="3641969"/>
                </a:lnTo>
                <a:lnTo>
                  <a:pt x="4264866" y="3745192"/>
                </a:lnTo>
                <a:lnTo>
                  <a:pt x="4264608" y="3848368"/>
                </a:lnTo>
                <a:lnTo>
                  <a:pt x="4264372" y="3951536"/>
                </a:lnTo>
                <a:lnTo>
                  <a:pt x="4264199" y="4054737"/>
                </a:lnTo>
                <a:lnTo>
                  <a:pt x="4264121" y="4158009"/>
                </a:lnTo>
                <a:lnTo>
                  <a:pt x="4264152" y="4261378"/>
                </a:lnTo>
                <a:lnTo>
                  <a:pt x="4264390" y="4261608"/>
                </a:lnTo>
                <a:lnTo>
                  <a:pt x="4263887" y="4276684"/>
                </a:lnTo>
                <a:lnTo>
                  <a:pt x="4261814" y="4291656"/>
                </a:lnTo>
                <a:lnTo>
                  <a:pt x="4258165" y="4306307"/>
                </a:lnTo>
                <a:lnTo>
                  <a:pt x="4252947" y="4320413"/>
                </a:lnTo>
                <a:lnTo>
                  <a:pt x="4246183" y="4333756"/>
                </a:lnTo>
                <a:lnTo>
                  <a:pt x="4237919" y="4346126"/>
                </a:lnTo>
                <a:lnTo>
                  <a:pt x="4228224" y="4357330"/>
                </a:lnTo>
                <a:lnTo>
                  <a:pt x="4217197" y="4367200"/>
                </a:lnTo>
                <a:lnTo>
                  <a:pt x="4204966" y="4375594"/>
                </a:lnTo>
                <a:lnTo>
                  <a:pt x="4191689" y="4382406"/>
                </a:lnTo>
                <a:lnTo>
                  <a:pt x="4177550" y="4387565"/>
                </a:lnTo>
                <a:lnTo>
                  <a:pt x="4162760" y="4391036"/>
                </a:lnTo>
                <a:lnTo>
                  <a:pt x="4147544" y="4392819"/>
                </a:lnTo>
                <a:lnTo>
                  <a:pt x="4132142" y="4392944"/>
                </a:lnTo>
                <a:lnTo>
                  <a:pt x="4131541" y="4392283"/>
                </a:lnTo>
                <a:lnTo>
                  <a:pt x="4064386" y="4391783"/>
                </a:lnTo>
                <a:lnTo>
                  <a:pt x="3997402" y="4391448"/>
                </a:lnTo>
                <a:lnTo>
                  <a:pt x="3930616" y="4391330"/>
                </a:lnTo>
                <a:lnTo>
                  <a:pt x="3864036" y="4391464"/>
                </a:lnTo>
                <a:lnTo>
                  <a:pt x="3797650" y="4391864"/>
                </a:lnTo>
                <a:lnTo>
                  <a:pt x="3731428" y="4392522"/>
                </a:lnTo>
                <a:lnTo>
                  <a:pt x="3665321" y="4393402"/>
                </a:lnTo>
                <a:lnTo>
                  <a:pt x="3599272" y="4394450"/>
                </a:lnTo>
                <a:lnTo>
                  <a:pt x="3533217" y="4395588"/>
                </a:lnTo>
                <a:lnTo>
                  <a:pt x="3467092" y="4396724"/>
                </a:lnTo>
                <a:lnTo>
                  <a:pt x="3400842" y="4397762"/>
                </a:lnTo>
                <a:lnTo>
                  <a:pt x="3334420" y="4398603"/>
                </a:lnTo>
                <a:lnTo>
                  <a:pt x="3267800" y="4399157"/>
                </a:lnTo>
                <a:lnTo>
                  <a:pt x="3200971" y="4399352"/>
                </a:lnTo>
                <a:lnTo>
                  <a:pt x="3133944" y="4399135"/>
                </a:lnTo>
                <a:lnTo>
                  <a:pt x="3066744" y="4398483"/>
                </a:lnTo>
                <a:lnTo>
                  <a:pt x="2999414" y="4397401"/>
                </a:lnTo>
                <a:lnTo>
                  <a:pt x="2932006" y="4395922"/>
                </a:lnTo>
                <a:lnTo>
                  <a:pt x="2864575" y="4394107"/>
                </a:lnTo>
                <a:lnTo>
                  <a:pt x="2797176" y="4392035"/>
                </a:lnTo>
                <a:lnTo>
                  <a:pt x="2729859" y="4389802"/>
                </a:lnTo>
                <a:lnTo>
                  <a:pt x="2662663" y="4387508"/>
                </a:lnTo>
                <a:lnTo>
                  <a:pt x="2595614" y="4385250"/>
                </a:lnTo>
                <a:lnTo>
                  <a:pt x="2528724" y="4383115"/>
                </a:lnTo>
                <a:lnTo>
                  <a:pt x="2461993" y="4381171"/>
                </a:lnTo>
                <a:lnTo>
                  <a:pt x="2395408" y="4379465"/>
                </a:lnTo>
                <a:lnTo>
                  <a:pt x="2328952" y="4378021"/>
                </a:lnTo>
                <a:lnTo>
                  <a:pt x="2262598" y="4376835"/>
                </a:lnTo>
                <a:lnTo>
                  <a:pt x="2196324" y="4375886"/>
                </a:lnTo>
                <a:lnTo>
                  <a:pt x="2130107" y="4375134"/>
                </a:lnTo>
                <a:lnTo>
                  <a:pt x="2063931" y="4374530"/>
                </a:lnTo>
                <a:lnTo>
                  <a:pt x="1997787" y="4374024"/>
                </a:lnTo>
                <a:lnTo>
                  <a:pt x="1931668" y="4373570"/>
                </a:lnTo>
                <a:lnTo>
                  <a:pt x="1865574" y="4373135"/>
                </a:lnTo>
                <a:lnTo>
                  <a:pt x="1799507" y="4372702"/>
                </a:lnTo>
                <a:lnTo>
                  <a:pt x="1733465" y="4372273"/>
                </a:lnTo>
                <a:lnTo>
                  <a:pt x="1667444" y="4371867"/>
                </a:lnTo>
                <a:lnTo>
                  <a:pt x="1601433" y="4371524"/>
                </a:lnTo>
                <a:lnTo>
                  <a:pt x="1535412" y="4371292"/>
                </a:lnTo>
                <a:lnTo>
                  <a:pt x="1469354" y="4371227"/>
                </a:lnTo>
                <a:lnTo>
                  <a:pt x="1403226" y="4371385"/>
                </a:lnTo>
                <a:lnTo>
                  <a:pt x="1336990" y="4371814"/>
                </a:lnTo>
                <a:lnTo>
                  <a:pt x="1270608" y="4372545"/>
                </a:lnTo>
                <a:lnTo>
                  <a:pt x="1204047" y="4373594"/>
                </a:lnTo>
                <a:lnTo>
                  <a:pt x="1137282" y="4374952"/>
                </a:lnTo>
                <a:lnTo>
                  <a:pt x="1070300" y="4376587"/>
                </a:lnTo>
                <a:lnTo>
                  <a:pt x="1003102" y="4378446"/>
                </a:lnTo>
                <a:lnTo>
                  <a:pt x="935708" y="4380458"/>
                </a:lnTo>
                <a:lnTo>
                  <a:pt x="868152" y="4382539"/>
                </a:lnTo>
                <a:lnTo>
                  <a:pt x="800482" y="4384601"/>
                </a:lnTo>
                <a:lnTo>
                  <a:pt x="732756" y="4386554"/>
                </a:lnTo>
                <a:lnTo>
                  <a:pt x="665036" y="4388320"/>
                </a:lnTo>
                <a:lnTo>
                  <a:pt x="597384" y="4389834"/>
                </a:lnTo>
                <a:lnTo>
                  <a:pt x="529856" y="4391053"/>
                </a:lnTo>
                <a:lnTo>
                  <a:pt x="462494" y="4391956"/>
                </a:lnTo>
                <a:lnTo>
                  <a:pt x="395324" y="4392545"/>
                </a:lnTo>
                <a:lnTo>
                  <a:pt x="328353" y="4392849"/>
                </a:lnTo>
                <a:lnTo>
                  <a:pt x="261567" y="4392912"/>
                </a:lnTo>
                <a:lnTo>
                  <a:pt x="194934" y="4392799"/>
                </a:lnTo>
                <a:lnTo>
                  <a:pt x="128403" y="4392580"/>
                </a:lnTo>
                <a:lnTo>
                  <a:pt x="128585" y="4392381"/>
                </a:lnTo>
                <a:lnTo>
                  <a:pt x="113993" y="4391378"/>
                </a:lnTo>
                <a:lnTo>
                  <a:pt x="99493" y="4388834"/>
                </a:lnTo>
                <a:lnTo>
                  <a:pt x="85217" y="4384830"/>
                </a:lnTo>
                <a:lnTo>
                  <a:pt x="71305" y="4379456"/>
                </a:lnTo>
                <a:lnTo>
                  <a:pt x="57908" y="4372797"/>
                </a:lnTo>
                <a:lnTo>
                  <a:pt x="45190" y="4364938"/>
                </a:lnTo>
                <a:lnTo>
                  <a:pt x="33320" y="4355960"/>
                </a:lnTo>
                <a:lnTo>
                  <a:pt x="22475" y="4345943"/>
                </a:lnTo>
                <a:lnTo>
                  <a:pt x="12832" y="4334967"/>
                </a:lnTo>
                <a:lnTo>
                  <a:pt x="4564" y="4323120"/>
                </a:lnTo>
                <a:lnTo>
                  <a:pt x="-2171" y="4310495"/>
                </a:lnTo>
                <a:lnTo>
                  <a:pt x="-7233" y="4297199"/>
                </a:lnTo>
                <a:lnTo>
                  <a:pt x="-10509" y="4283356"/>
                </a:lnTo>
                <a:lnTo>
                  <a:pt x="-11918" y="4269107"/>
                </a:lnTo>
                <a:lnTo>
                  <a:pt x="-12202" y="4269383"/>
                </a:lnTo>
                <a:lnTo>
                  <a:pt x="-12518" y="4165932"/>
                </a:lnTo>
                <a:lnTo>
                  <a:pt x="-12568" y="4062220"/>
                </a:lnTo>
                <a:lnTo>
                  <a:pt x="-12359" y="3958288"/>
                </a:lnTo>
                <a:lnTo>
                  <a:pt x="-11913" y="3854194"/>
                </a:lnTo>
                <a:lnTo>
                  <a:pt x="-11272" y="3750002"/>
                </a:lnTo>
                <a:lnTo>
                  <a:pt x="-10486" y="3645773"/>
                </a:lnTo>
                <a:lnTo>
                  <a:pt x="-9612" y="3541564"/>
                </a:lnTo>
                <a:lnTo>
                  <a:pt x="-8707" y="3437423"/>
                </a:lnTo>
                <a:lnTo>
                  <a:pt x="-7821" y="3333379"/>
                </a:lnTo>
                <a:lnTo>
                  <a:pt x="-6994" y="3229449"/>
                </a:lnTo>
                <a:lnTo>
                  <a:pt x="-6247" y="3125635"/>
                </a:lnTo>
                <a:lnTo>
                  <a:pt x="-5586" y="3021926"/>
                </a:lnTo>
                <a:lnTo>
                  <a:pt x="-4995" y="2918305"/>
                </a:lnTo>
                <a:lnTo>
                  <a:pt x="-4444" y="2814752"/>
                </a:lnTo>
                <a:lnTo>
                  <a:pt x="-3889" y="2711252"/>
                </a:lnTo>
                <a:lnTo>
                  <a:pt x="-3283" y="2607797"/>
                </a:lnTo>
                <a:lnTo>
                  <a:pt x="-2580" y="2504385"/>
                </a:lnTo>
                <a:lnTo>
                  <a:pt x="-1743" y="2401029"/>
                </a:lnTo>
                <a:lnTo>
                  <a:pt x="-753" y="2297746"/>
                </a:lnTo>
                <a:lnTo>
                  <a:pt x="387" y="2194560"/>
                </a:lnTo>
                <a:lnTo>
                  <a:pt x="1652" y="2091489"/>
                </a:lnTo>
                <a:lnTo>
                  <a:pt x="2992" y="1988549"/>
                </a:lnTo>
                <a:lnTo>
                  <a:pt x="4339" y="1885739"/>
                </a:lnTo>
                <a:lnTo>
                  <a:pt x="5612" y="1783046"/>
                </a:lnTo>
                <a:lnTo>
                  <a:pt x="6727" y="1680437"/>
                </a:lnTo>
                <a:lnTo>
                  <a:pt x="7605" y="1577868"/>
                </a:lnTo>
                <a:lnTo>
                  <a:pt x="8179" y="1475281"/>
                </a:lnTo>
                <a:lnTo>
                  <a:pt x="8407" y="1372614"/>
                </a:lnTo>
                <a:lnTo>
                  <a:pt x="8269" y="1269811"/>
                </a:lnTo>
                <a:lnTo>
                  <a:pt x="7777" y="1166823"/>
                </a:lnTo>
                <a:lnTo>
                  <a:pt x="6968" y="1063619"/>
                </a:lnTo>
                <a:lnTo>
                  <a:pt x="5906" y="960189"/>
                </a:lnTo>
                <a:lnTo>
                  <a:pt x="4671" y="856547"/>
                </a:lnTo>
                <a:lnTo>
                  <a:pt x="3357" y="752732"/>
                </a:lnTo>
                <a:lnTo>
                  <a:pt x="2061" y="648803"/>
                </a:lnTo>
                <a:lnTo>
                  <a:pt x="874" y="544833"/>
                </a:lnTo>
                <a:lnTo>
                  <a:pt x="-121" y="440905"/>
                </a:lnTo>
                <a:lnTo>
                  <a:pt x="-863" y="337103"/>
                </a:lnTo>
                <a:lnTo>
                  <a:pt x="-1309" y="233500"/>
                </a:lnTo>
                <a:lnTo>
                  <a:pt x="-1442" y="130158"/>
                </a:lnTo>
                <a:lnTo>
                  <a:pt x="-1298" y="130297"/>
                </a:lnTo>
                <a:lnTo>
                  <a:pt x="-23" y="115995"/>
                </a:lnTo>
                <a:lnTo>
                  <a:pt x="3163" y="102148"/>
                </a:lnTo>
                <a:lnTo>
                  <a:pt x="8180" y="88896"/>
                </a:lnTo>
                <a:lnTo>
                  <a:pt x="14910" y="76360"/>
                </a:lnTo>
                <a:lnTo>
                  <a:pt x="23211" y="64643"/>
                </a:lnTo>
                <a:lnTo>
                  <a:pt x="32916" y="53834"/>
                </a:lnTo>
                <a:lnTo>
                  <a:pt x="43848" y="44011"/>
                </a:lnTo>
                <a:lnTo>
                  <a:pt x="55821" y="35249"/>
                </a:lnTo>
                <a:lnTo>
                  <a:pt x="68652" y="27616"/>
                </a:lnTo>
                <a:lnTo>
                  <a:pt x="82159" y="21183"/>
                </a:lnTo>
                <a:lnTo>
                  <a:pt x="96169" y="16019"/>
                </a:lnTo>
                <a:lnTo>
                  <a:pt x="110516" y="12197"/>
                </a:lnTo>
                <a:lnTo>
                  <a:pt x="125046" y="9785"/>
                </a:lnTo>
                <a:lnTo>
                  <a:pt x="139610" y="8845"/>
                </a:lnTo>
                <a:close/>
              </a:path>
            </a:pathLst>
          </a:custGeom>
          <a:pattFill prst="ltUpDiag">
            <a:fgClr>
              <a:srgbClr val="F1F3F6"/>
            </a:fgClr>
            <a:bgClr>
              <a:srgbClr val="FFFFFF"/>
            </a:bgClr>
          </a:pattFill>
          <a:ln w="14224" cap="flat" cmpd="sng">
            <a:solidFill>
              <a:srgbClr val="3E5C8A"/>
            </a:solidFill>
            <a:miter lim="0"/>
            <a:headEnd type="none" w="sm" len="sm"/>
            <a:tailEnd type="none" w="sm" len="sm"/>
            <a:round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544" name="Google Shape;544;p5"/>
          <p:cNvSpPr/>
          <p:nvPr/>
        </p:nvSpPr>
        <p:spPr>
          <a:xfrm>
            <a:off x="1884812" y="2057400"/>
            <a:ext cx="3911332" cy="220800"/>
          </a:xfrm>
          <a:prstGeom prst="rect">
            <a:avLst/>
          </a:prstGeom>
          <a:noFill/>
          <a:ln w="19050" cap="flat" cmpd="sng">
            <a:noFill/>
            <a:prstDash val="solid"/>
            <a:miter lim="0"/>
            <a:headEnd type="none" w="sm" len="sm"/>
            <a:tailEnd type="none" w="sm" len="sm"/>
          </a:ln>
          <a:effectLst/>
        </p:spPr>
        <p:txBody>
          <a:bodyPr spcFirstLastPara="1" wrap="square" lIns="84568" tIns="42272" rIns="84568" bIns="4227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545" name="Google Shape;545;p5"/>
          <p:cNvSpPr txBox="1"/>
          <p:nvPr/>
        </p:nvSpPr>
        <p:spPr>
          <a:xfrm>
            <a:off x="489153" y="2048256"/>
            <a:ext cx="6702653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704020202020204"/>
              <a:buNone/>
            </a:pPr>
            <a:r>
              <a:rPr sz="1800" b="1" i="0">
                <a:solidFill>
                  <a:srgbClr val="3E5C8A"/>
                </a:solidFill>
                <a:latin typeface="Comic Sans MS"/>
              </a:rPr>
              <a:t>Training cost vs. performance</a:t>
            </a: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546" name="Google Shape;546;p5"/>
          <p:cNvSpPr/>
          <p:nvPr/>
        </p:nvSpPr>
        <p:spPr>
          <a:xfrm>
            <a:off x="8065116" y="2112264"/>
            <a:ext cx="3181894" cy="211454"/>
          </a:xfrm>
          <a:prstGeom prst="rect">
            <a:avLst/>
          </a:prstGeom>
          <a:noFill/>
          <a:ln w="19050" cap="flat" cmpd="sng">
            <a:noFill/>
            <a:prstDash val="solid"/>
            <a:miter lim="0"/>
            <a:headEnd type="none" w="sm" len="sm"/>
            <a:tailEnd type="none" w="sm" len="sm"/>
          </a:ln>
          <a:effectLst/>
        </p:spPr>
        <p:txBody>
          <a:bodyPr spcFirstLastPara="1" wrap="square" lIns="84568" tIns="42272" rIns="84568" bIns="4227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547" name="Google Shape;547;p5"/>
          <p:cNvSpPr txBox="1"/>
          <p:nvPr/>
        </p:nvSpPr>
        <p:spPr>
          <a:xfrm>
            <a:off x="6446592" y="2103120"/>
            <a:ext cx="641894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 panose="020B0704020202020204"/>
              <a:buNone/>
            </a:pPr>
            <a:r>
              <a:rPr sz="1800" b="1" i="0">
                <a:solidFill>
                  <a:srgbClr val="3E5C8A"/>
                </a:solidFill>
                <a:latin typeface="Comic Sans MS"/>
              </a:rPr>
              <a:t>Performance on 17 benchmarks</a:t>
            </a: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71" name="Google Shape;86;p7"/>
          <p:cNvSpPr/>
          <p:nvPr/>
        </p:nvSpPr>
        <p:spPr>
          <a:xfrm>
            <a:off x="329184" y="91440"/>
            <a:ext cx="3734816" cy="1847088"/>
          </a:xfrm>
          <a:custGeom>
            <a:avLst/>
            <a:gdLst/>
            <a:ahLst/>
            <a:cxnLst/>
            <a:rect l="0" t="0" r="r" b="b"/>
            <a:pathLst>
              <a:path w="3734816" h="1847088">
                <a:moveTo>
                  <a:pt x="83503" y="-7365"/>
                </a:moveTo>
                <a:lnTo>
                  <a:pt x="141940" y="-7919"/>
                </a:lnTo>
                <a:lnTo>
                  <a:pt x="200664" y="-8352"/>
                </a:lnTo>
                <a:lnTo>
                  <a:pt x="259717" y="-8627"/>
                </a:lnTo>
                <a:lnTo>
                  <a:pt x="319119" y="-8712"/>
                </a:lnTo>
                <a:lnTo>
                  <a:pt x="378868" y="-8588"/>
                </a:lnTo>
                <a:lnTo>
                  <a:pt x="438935" y="-8245"/>
                </a:lnTo>
                <a:lnTo>
                  <a:pt x="499270" y="-7690"/>
                </a:lnTo>
                <a:lnTo>
                  <a:pt x="559800" y="-6946"/>
                </a:lnTo>
                <a:lnTo>
                  <a:pt x="620438" y="-6050"/>
                </a:lnTo>
                <a:lnTo>
                  <a:pt x="681090" y="-5054"/>
                </a:lnTo>
                <a:lnTo>
                  <a:pt x="741661" y="-4020"/>
                </a:lnTo>
                <a:lnTo>
                  <a:pt x="802065" y="-3016"/>
                </a:lnTo>
                <a:lnTo>
                  <a:pt x="862232" y="-2113"/>
                </a:lnTo>
                <a:lnTo>
                  <a:pt x="922113" y="-1376"/>
                </a:lnTo>
                <a:lnTo>
                  <a:pt x="981688" y="-860"/>
                </a:lnTo>
                <a:lnTo>
                  <a:pt x="1040963" y="-606"/>
                </a:lnTo>
                <a:lnTo>
                  <a:pt x="1099972" y="-633"/>
                </a:lnTo>
                <a:lnTo>
                  <a:pt x="1158772" y="-938"/>
                </a:lnTo>
                <a:lnTo>
                  <a:pt x="1217436" y="-1491"/>
                </a:lnTo>
                <a:lnTo>
                  <a:pt x="1276045" y="-2242"/>
                </a:lnTo>
                <a:lnTo>
                  <a:pt x="1334678" y="-3118"/>
                </a:lnTo>
                <a:lnTo>
                  <a:pt x="1393404" y="-4030"/>
                </a:lnTo>
                <a:lnTo>
                  <a:pt x="1452272" y="-4886"/>
                </a:lnTo>
                <a:lnTo>
                  <a:pt x="1511307" y="-5591"/>
                </a:lnTo>
                <a:lnTo>
                  <a:pt x="1570506" y="-6063"/>
                </a:lnTo>
                <a:lnTo>
                  <a:pt x="1629840" y="-6243"/>
                </a:lnTo>
                <a:lnTo>
                  <a:pt x="1689260" y="-6097"/>
                </a:lnTo>
                <a:lnTo>
                  <a:pt x="1748703" y="-5625"/>
                </a:lnTo>
                <a:lnTo>
                  <a:pt x="1808104" y="-4861"/>
                </a:lnTo>
                <a:lnTo>
                  <a:pt x="1867408" y="-3867"/>
                </a:lnTo>
                <a:lnTo>
                  <a:pt x="1926575" y="-2725"/>
                </a:lnTo>
                <a:lnTo>
                  <a:pt x="1985589" y="-1532"/>
                </a:lnTo>
                <a:lnTo>
                  <a:pt x="2044459" y="-380"/>
                </a:lnTo>
                <a:lnTo>
                  <a:pt x="2103213" y="650"/>
                </a:lnTo>
                <a:lnTo>
                  <a:pt x="2161894" y="1498"/>
                </a:lnTo>
                <a:lnTo>
                  <a:pt x="2220549" y="2131"/>
                </a:lnTo>
                <a:lnTo>
                  <a:pt x="2279221" y="2543"/>
                </a:lnTo>
                <a:lnTo>
                  <a:pt x="2337945" y="2752"/>
                </a:lnTo>
                <a:lnTo>
                  <a:pt x="2396735" y="2799"/>
                </a:lnTo>
                <a:lnTo>
                  <a:pt x="2455590" y="2735"/>
                </a:lnTo>
                <a:lnTo>
                  <a:pt x="2514490" y="2619"/>
                </a:lnTo>
                <a:lnTo>
                  <a:pt x="2573402" y="2506"/>
                </a:lnTo>
                <a:lnTo>
                  <a:pt x="2632286" y="2445"/>
                </a:lnTo>
                <a:lnTo>
                  <a:pt x="2691101" y="2470"/>
                </a:lnTo>
                <a:lnTo>
                  <a:pt x="2749812" y="2599"/>
                </a:lnTo>
                <a:lnTo>
                  <a:pt x="2808396" y="2837"/>
                </a:lnTo>
                <a:lnTo>
                  <a:pt x="2866847" y="3169"/>
                </a:lnTo>
                <a:lnTo>
                  <a:pt x="2925177" y="3570"/>
                </a:lnTo>
                <a:lnTo>
                  <a:pt x="2983414" y="4004"/>
                </a:lnTo>
                <a:lnTo>
                  <a:pt x="3041605" y="4432"/>
                </a:lnTo>
                <a:lnTo>
                  <a:pt x="3099805" y="4812"/>
                </a:lnTo>
                <a:lnTo>
                  <a:pt x="3158075" y="5108"/>
                </a:lnTo>
                <a:lnTo>
                  <a:pt x="3216474" y="5290"/>
                </a:lnTo>
                <a:lnTo>
                  <a:pt x="3275053" y="5340"/>
                </a:lnTo>
                <a:lnTo>
                  <a:pt x="3333848" y="5250"/>
                </a:lnTo>
                <a:lnTo>
                  <a:pt x="3392876" y="5027"/>
                </a:lnTo>
                <a:lnTo>
                  <a:pt x="3452131" y="4689"/>
                </a:lnTo>
                <a:lnTo>
                  <a:pt x="3511585" y="4264"/>
                </a:lnTo>
                <a:lnTo>
                  <a:pt x="3571189" y="3787"/>
                </a:lnTo>
                <a:lnTo>
                  <a:pt x="3630876" y="3298"/>
                </a:lnTo>
                <a:lnTo>
                  <a:pt x="3631615" y="2913"/>
                </a:lnTo>
                <a:lnTo>
                  <a:pt x="3643190" y="3172"/>
                </a:lnTo>
                <a:lnTo>
                  <a:pt x="3654468" y="4736"/>
                </a:lnTo>
                <a:lnTo>
                  <a:pt x="3665251" y="7611"/>
                </a:lnTo>
                <a:lnTo>
                  <a:pt x="3675362" y="11780"/>
                </a:lnTo>
                <a:lnTo>
                  <a:pt x="3684654" y="17196"/>
                </a:lnTo>
                <a:lnTo>
                  <a:pt x="3693009" y="23787"/>
                </a:lnTo>
                <a:lnTo>
                  <a:pt x="3700346" y="31452"/>
                </a:lnTo>
                <a:lnTo>
                  <a:pt x="3706618" y="40068"/>
                </a:lnTo>
                <a:lnTo>
                  <a:pt x="3711809" y="49493"/>
                </a:lnTo>
                <a:lnTo>
                  <a:pt x="3715932" y="59570"/>
                </a:lnTo>
                <a:lnTo>
                  <a:pt x="3719020" y="70132"/>
                </a:lnTo>
                <a:lnTo>
                  <a:pt x="3721122" y="81007"/>
                </a:lnTo>
                <a:lnTo>
                  <a:pt x="3722291" y="92027"/>
                </a:lnTo>
                <a:lnTo>
                  <a:pt x="3722582" y="103028"/>
                </a:lnTo>
                <a:lnTo>
                  <a:pt x="3722682" y="102984"/>
                </a:lnTo>
                <a:lnTo>
                  <a:pt x="3723112" y="143831"/>
                </a:lnTo>
                <a:lnTo>
                  <a:pt x="3723982" y="184522"/>
                </a:lnTo>
                <a:lnTo>
                  <a:pt x="3725273" y="225094"/>
                </a:lnTo>
                <a:lnTo>
                  <a:pt x="3726936" y="265591"/>
                </a:lnTo>
                <a:lnTo>
                  <a:pt x="3728903" y="306060"/>
                </a:lnTo>
                <a:lnTo>
                  <a:pt x="3731088" y="346549"/>
                </a:lnTo>
                <a:lnTo>
                  <a:pt x="3733394" y="387100"/>
                </a:lnTo>
                <a:lnTo>
                  <a:pt x="3735725" y="427747"/>
                </a:lnTo>
                <a:lnTo>
                  <a:pt x="3737991" y="468512"/>
                </a:lnTo>
                <a:lnTo>
                  <a:pt x="3740116" y="509408"/>
                </a:lnTo>
                <a:lnTo>
                  <a:pt x="3742043" y="550438"/>
                </a:lnTo>
                <a:lnTo>
                  <a:pt x="3743737" y="591595"/>
                </a:lnTo>
                <a:lnTo>
                  <a:pt x="3745188" y="632864"/>
                </a:lnTo>
                <a:lnTo>
                  <a:pt x="3746406" y="674228"/>
                </a:lnTo>
                <a:lnTo>
                  <a:pt x="3747421" y="715668"/>
                </a:lnTo>
                <a:lnTo>
                  <a:pt x="3748275" y="757168"/>
                </a:lnTo>
                <a:lnTo>
                  <a:pt x="3749017" y="798712"/>
                </a:lnTo>
                <a:lnTo>
                  <a:pt x="3749694" y="840293"/>
                </a:lnTo>
                <a:lnTo>
                  <a:pt x="3750345" y="881904"/>
                </a:lnTo>
                <a:lnTo>
                  <a:pt x="3750996" y="923544"/>
                </a:lnTo>
                <a:lnTo>
                  <a:pt x="3751654" y="965212"/>
                </a:lnTo>
                <a:lnTo>
                  <a:pt x="3752309" y="1006910"/>
                </a:lnTo>
                <a:lnTo>
                  <a:pt x="3752930" y="1048634"/>
                </a:lnTo>
                <a:lnTo>
                  <a:pt x="3753470" y="1090379"/>
                </a:lnTo>
                <a:lnTo>
                  <a:pt x="3753871" y="1132132"/>
                </a:lnTo>
                <a:lnTo>
                  <a:pt x="3754072" y="1173876"/>
                </a:lnTo>
                <a:lnTo>
                  <a:pt x="3754011" y="1215589"/>
                </a:lnTo>
                <a:lnTo>
                  <a:pt x="3753639" y="1257244"/>
                </a:lnTo>
                <a:lnTo>
                  <a:pt x="3752921" y="1298814"/>
                </a:lnTo>
                <a:lnTo>
                  <a:pt x="3751845" y="1340272"/>
                </a:lnTo>
                <a:lnTo>
                  <a:pt x="3750422" y="1381599"/>
                </a:lnTo>
                <a:lnTo>
                  <a:pt x="3748691" y="1422781"/>
                </a:lnTo>
                <a:lnTo>
                  <a:pt x="3746713" y="1463816"/>
                </a:lnTo>
                <a:lnTo>
                  <a:pt x="3744567" y="1504711"/>
                </a:lnTo>
                <a:lnTo>
                  <a:pt x="3742347" y="1545486"/>
                </a:lnTo>
                <a:lnTo>
                  <a:pt x="3740153" y="1586173"/>
                </a:lnTo>
                <a:lnTo>
                  <a:pt x="3738084" y="1626809"/>
                </a:lnTo>
                <a:lnTo>
                  <a:pt x="3736227" y="1667439"/>
                </a:lnTo>
                <a:lnTo>
                  <a:pt x="3734651" y="1708104"/>
                </a:lnTo>
                <a:lnTo>
                  <a:pt x="3733405" y="1748846"/>
                </a:lnTo>
                <a:lnTo>
                  <a:pt x="3732490" y="1748441"/>
                </a:lnTo>
                <a:lnTo>
                  <a:pt x="3731300" y="1759098"/>
                </a:lnTo>
                <a:lnTo>
                  <a:pt x="3729198" y="1769751"/>
                </a:lnTo>
                <a:lnTo>
                  <a:pt x="3726155" y="1780244"/>
                </a:lnTo>
                <a:lnTo>
                  <a:pt x="3722137" y="1790417"/>
                </a:lnTo>
                <a:lnTo>
                  <a:pt x="3717113" y="1800107"/>
                </a:lnTo>
                <a:lnTo>
                  <a:pt x="3711060" y="1809152"/>
                </a:lnTo>
                <a:lnTo>
                  <a:pt x="3703970" y="1817399"/>
                </a:lnTo>
                <a:lnTo>
                  <a:pt x="3695859" y="1824705"/>
                </a:lnTo>
                <a:lnTo>
                  <a:pt x="3686771" y="1830947"/>
                </a:lnTo>
                <a:lnTo>
                  <a:pt x="3676780" y="1836022"/>
                </a:lnTo>
                <a:lnTo>
                  <a:pt x="3665994" y="1839855"/>
                </a:lnTo>
                <a:lnTo>
                  <a:pt x="3654554" y="1842396"/>
                </a:lnTo>
                <a:lnTo>
                  <a:pt x="3642630" y="1843624"/>
                </a:lnTo>
                <a:lnTo>
                  <a:pt x="3630413" y="1843547"/>
                </a:lnTo>
                <a:lnTo>
                  <a:pt x="3629036" y="1842828"/>
                </a:lnTo>
                <a:lnTo>
                  <a:pt x="3568735" y="1841975"/>
                </a:lnTo>
                <a:lnTo>
                  <a:pt x="3508543" y="1841123"/>
                </a:lnTo>
                <a:lnTo>
                  <a:pt x="3448540" y="1840316"/>
                </a:lnTo>
                <a:lnTo>
                  <a:pt x="3388788" y="1839598"/>
                </a:lnTo>
                <a:lnTo>
                  <a:pt x="3329331" y="1839008"/>
                </a:lnTo>
                <a:lnTo>
                  <a:pt x="3270190" y="1838575"/>
                </a:lnTo>
                <a:lnTo>
                  <a:pt x="3211361" y="1838317"/>
                </a:lnTo>
                <a:lnTo>
                  <a:pt x="3152819" y="1838239"/>
                </a:lnTo>
                <a:lnTo>
                  <a:pt x="3094518" y="1838334"/>
                </a:lnTo>
                <a:lnTo>
                  <a:pt x="3036399" y="1838580"/>
                </a:lnTo>
                <a:lnTo>
                  <a:pt x="2978396" y="1838948"/>
                </a:lnTo>
                <a:lnTo>
                  <a:pt x="2920441" y="1839398"/>
                </a:lnTo>
                <a:lnTo>
                  <a:pt x="2862473" y="1839890"/>
                </a:lnTo>
                <a:lnTo>
                  <a:pt x="2804443" y="1840383"/>
                </a:lnTo>
                <a:lnTo>
                  <a:pt x="2746318" y="1840842"/>
                </a:lnTo>
                <a:lnTo>
                  <a:pt x="2688083" y="1841243"/>
                </a:lnTo>
                <a:lnTo>
                  <a:pt x="2629739" y="1841575"/>
                </a:lnTo>
                <a:lnTo>
                  <a:pt x="2571303" y="1841842"/>
                </a:lnTo>
                <a:lnTo>
                  <a:pt x="2512801" y="1842064"/>
                </a:lnTo>
                <a:lnTo>
                  <a:pt x="2454263" y="1842274"/>
                </a:lnTo>
                <a:lnTo>
                  <a:pt x="2395718" y="1842519"/>
                </a:lnTo>
                <a:lnTo>
                  <a:pt x="2337184" y="1842846"/>
                </a:lnTo>
                <a:lnTo>
                  <a:pt x="2278667" y="1843305"/>
                </a:lnTo>
                <a:lnTo>
                  <a:pt x="2220157" y="1843935"/>
                </a:lnTo>
                <a:lnTo>
                  <a:pt x="2161628" y="1844757"/>
                </a:lnTo>
                <a:lnTo>
                  <a:pt x="2103043" y="1845771"/>
                </a:lnTo>
                <a:lnTo>
                  <a:pt x="2044360" y="1846949"/>
                </a:lnTo>
                <a:lnTo>
                  <a:pt x="1985540" y="1848236"/>
                </a:lnTo>
                <a:lnTo>
                  <a:pt x="1926558" y="1849557"/>
                </a:lnTo>
                <a:lnTo>
                  <a:pt x="1867408" y="1850817"/>
                </a:lnTo>
                <a:lnTo>
                  <a:pt x="1808106" y="1851919"/>
                </a:lnTo>
                <a:lnTo>
                  <a:pt x="1748695" y="1852771"/>
                </a:lnTo>
                <a:lnTo>
                  <a:pt x="1689238" y="1853302"/>
                </a:lnTo>
                <a:lnTo>
                  <a:pt x="1629806" y="1853465"/>
                </a:lnTo>
                <a:lnTo>
                  <a:pt x="1570475" y="1853248"/>
                </a:lnTo>
                <a:lnTo>
                  <a:pt x="1511308" y="1852674"/>
                </a:lnTo>
                <a:lnTo>
                  <a:pt x="1452351" y="1851796"/>
                </a:lnTo>
                <a:lnTo>
                  <a:pt x="1393620" y="1850694"/>
                </a:lnTo>
                <a:lnTo>
                  <a:pt x="1335105" y="1849463"/>
                </a:lnTo>
                <a:lnTo>
                  <a:pt x="1276763" y="1848206"/>
                </a:lnTo>
                <a:lnTo>
                  <a:pt x="1218530" y="1847023"/>
                </a:lnTo>
                <a:lnTo>
                  <a:pt x="1160321" y="1846005"/>
                </a:lnTo>
                <a:lnTo>
                  <a:pt x="1102046" y="1845224"/>
                </a:lnTo>
                <a:lnTo>
                  <a:pt x="1043615" y="1844729"/>
                </a:lnTo>
                <a:lnTo>
                  <a:pt x="984948" y="1844546"/>
                </a:lnTo>
                <a:lnTo>
                  <a:pt x="925984" y="1844676"/>
                </a:lnTo>
                <a:lnTo>
                  <a:pt x="866690" y="1845096"/>
                </a:lnTo>
                <a:lnTo>
                  <a:pt x="807055" y="1845764"/>
                </a:lnTo>
                <a:lnTo>
                  <a:pt x="747103" y="1846624"/>
                </a:lnTo>
                <a:lnTo>
                  <a:pt x="686878" y="1847611"/>
                </a:lnTo>
                <a:lnTo>
                  <a:pt x="626450" y="1848657"/>
                </a:lnTo>
                <a:lnTo>
                  <a:pt x="565900" y="1849693"/>
                </a:lnTo>
                <a:lnTo>
                  <a:pt x="505317" y="1850662"/>
                </a:lnTo>
                <a:lnTo>
                  <a:pt x="444791" y="1851513"/>
                </a:lnTo>
                <a:lnTo>
                  <a:pt x="384398" y="1852212"/>
                </a:lnTo>
                <a:lnTo>
                  <a:pt x="324204" y="1852739"/>
                </a:lnTo>
                <a:lnTo>
                  <a:pt x="264250" y="1853087"/>
                </a:lnTo>
                <a:lnTo>
                  <a:pt x="204556" y="1853264"/>
                </a:lnTo>
                <a:lnTo>
                  <a:pt x="145120" y="1853290"/>
                </a:lnTo>
                <a:lnTo>
                  <a:pt x="85917" y="1853193"/>
                </a:lnTo>
                <a:lnTo>
                  <a:pt x="85980" y="1853160"/>
                </a:lnTo>
                <a:lnTo>
                  <a:pt x="75229" y="1852413"/>
                </a:lnTo>
                <a:lnTo>
                  <a:pt x="64688" y="1850402"/>
                </a:lnTo>
                <a:lnTo>
                  <a:pt x="54441" y="1847181"/>
                </a:lnTo>
                <a:lnTo>
                  <a:pt x="44577" y="1842809"/>
                </a:lnTo>
                <a:lnTo>
                  <a:pt x="35194" y="1837356"/>
                </a:lnTo>
                <a:lnTo>
                  <a:pt x="26400" y="1830893"/>
                </a:lnTo>
                <a:lnTo>
                  <a:pt x="18313" y="1823498"/>
                </a:lnTo>
                <a:lnTo>
                  <a:pt x="11061" y="1815250"/>
                </a:lnTo>
                <a:lnTo>
                  <a:pt x="4774" y="1806233"/>
                </a:lnTo>
                <a:lnTo>
                  <a:pt x="-417" y="1796538"/>
                </a:lnTo>
                <a:lnTo>
                  <a:pt x="-4395" y="1786261"/>
                </a:lnTo>
                <a:lnTo>
                  <a:pt x="-7051" y="1775509"/>
                </a:lnTo>
                <a:lnTo>
                  <a:pt x="-8304" y="1764397"/>
                </a:lnTo>
                <a:lnTo>
                  <a:pt x="-8097" y="1753051"/>
                </a:lnTo>
                <a:lnTo>
                  <a:pt x="-7010" y="1752570"/>
                </a:lnTo>
                <a:lnTo>
                  <a:pt x="-5731" y="1710581"/>
                </a:lnTo>
                <a:lnTo>
                  <a:pt x="-4217" y="1668556"/>
                </a:lnTo>
                <a:lnTo>
                  <a:pt x="-2517" y="1626527"/>
                </a:lnTo>
                <a:lnTo>
                  <a:pt x="-696" y="1584531"/>
                </a:lnTo>
                <a:lnTo>
                  <a:pt x="1165" y="1542601"/>
                </a:lnTo>
                <a:lnTo>
                  <a:pt x="2984" y="1500768"/>
                </a:lnTo>
                <a:lnTo>
                  <a:pt x="4672" y="1459052"/>
                </a:lnTo>
                <a:lnTo>
                  <a:pt x="6154" y="1417466"/>
                </a:lnTo>
                <a:lnTo>
                  <a:pt x="7370" y="1376010"/>
                </a:lnTo>
                <a:lnTo>
                  <a:pt x="8278" y="1334676"/>
                </a:lnTo>
                <a:lnTo>
                  <a:pt x="8868" y="1293445"/>
                </a:lnTo>
                <a:lnTo>
                  <a:pt x="9154" y="1252294"/>
                </a:lnTo>
                <a:lnTo>
                  <a:pt x="9176" y="1211197"/>
                </a:lnTo>
                <a:lnTo>
                  <a:pt x="9001" y="1170127"/>
                </a:lnTo>
                <a:lnTo>
                  <a:pt x="8709" y="1129062"/>
                </a:lnTo>
                <a:lnTo>
                  <a:pt x="8394" y="1087986"/>
                </a:lnTo>
                <a:lnTo>
                  <a:pt x="8147" y="1046892"/>
                </a:lnTo>
                <a:lnTo>
                  <a:pt x="8054" y="1005780"/>
                </a:lnTo>
                <a:lnTo>
                  <a:pt x="8185" y="964659"/>
                </a:lnTo>
                <a:lnTo>
                  <a:pt x="8583" y="923544"/>
                </a:lnTo>
                <a:lnTo>
                  <a:pt x="9268" y="882452"/>
                </a:lnTo>
                <a:lnTo>
                  <a:pt x="10226" y="841403"/>
                </a:lnTo>
                <a:lnTo>
                  <a:pt x="11415" y="800412"/>
                </a:lnTo>
                <a:lnTo>
                  <a:pt x="12766" y="759488"/>
                </a:lnTo>
                <a:lnTo>
                  <a:pt x="14191" y="718631"/>
                </a:lnTo>
                <a:lnTo>
                  <a:pt x="15588" y="677834"/>
                </a:lnTo>
                <a:lnTo>
                  <a:pt x="16850" y="637078"/>
                </a:lnTo>
                <a:lnTo>
                  <a:pt x="17878" y="596336"/>
                </a:lnTo>
                <a:lnTo>
                  <a:pt x="18584" y="555576"/>
                </a:lnTo>
                <a:lnTo>
                  <a:pt x="18902" y="514761"/>
                </a:lnTo>
                <a:lnTo>
                  <a:pt x="18793" y="473856"/>
                </a:lnTo>
                <a:lnTo>
                  <a:pt x="18247" y="432830"/>
                </a:lnTo>
                <a:lnTo>
                  <a:pt x="17280" y="391659"/>
                </a:lnTo>
                <a:lnTo>
                  <a:pt x="15939" y="350330"/>
                </a:lnTo>
                <a:lnTo>
                  <a:pt x="14289" y="308839"/>
                </a:lnTo>
                <a:lnTo>
                  <a:pt x="12413" y="267195"/>
                </a:lnTo>
                <a:lnTo>
                  <a:pt x="10400" y="225416"/>
                </a:lnTo>
                <a:lnTo>
                  <a:pt x="8339" y="183530"/>
                </a:lnTo>
                <a:lnTo>
                  <a:pt x="6313" y="141567"/>
                </a:lnTo>
                <a:lnTo>
                  <a:pt x="4388" y="99559"/>
                </a:lnTo>
                <a:lnTo>
                  <a:pt x="2637" y="98784"/>
                </a:lnTo>
                <a:lnTo>
                  <a:pt x="1650" y="87153"/>
                </a:lnTo>
                <a:lnTo>
                  <a:pt x="2054" y="75717"/>
                </a:lnTo>
                <a:lnTo>
                  <a:pt x="3815" y="64610"/>
                </a:lnTo>
                <a:lnTo>
                  <a:pt x="6870" y="53955"/>
                </a:lnTo>
                <a:lnTo>
                  <a:pt x="11129" y="43865"/>
                </a:lnTo>
                <a:lnTo>
                  <a:pt x="16484" y="34442"/>
                </a:lnTo>
                <a:lnTo>
                  <a:pt x="22813" y="25779"/>
                </a:lnTo>
                <a:lnTo>
                  <a:pt x="29990" y="17963"/>
                </a:lnTo>
                <a:lnTo>
                  <a:pt x="37890" y="11076"/>
                </a:lnTo>
                <a:lnTo>
                  <a:pt x="46392" y="5193"/>
                </a:lnTo>
                <a:lnTo>
                  <a:pt x="55386" y="388"/>
                </a:lnTo>
                <a:lnTo>
                  <a:pt x="64774" y="-3270"/>
                </a:lnTo>
                <a:lnTo>
                  <a:pt x="74467" y="-5720"/>
                </a:lnTo>
                <a:lnTo>
                  <a:pt x="84384" y="-6905"/>
                </a:lnTo>
                <a:close/>
              </a:path>
            </a:pathLst>
          </a:custGeom>
          <a:pattFill prst="ltUpDiag">
            <a:fgClr>
              <a:srgbClr val="F9EFF0"/>
            </a:fgClr>
            <a:bgClr>
              <a:srgbClr val="FFFFFF"/>
            </a:bgClr>
          </a:pattFill>
          <a:ln w="14224" cap="flat" cmpd="sng">
            <a:solidFill>
              <a:srgbClr val="B31E2E"/>
            </a:solidFill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73" name="Google Shape;88;p7"/>
          <p:cNvSpPr/>
          <p:nvPr/>
        </p:nvSpPr>
        <p:spPr>
          <a:xfrm>
            <a:off x="438912" y="1536192"/>
            <a:ext cx="3515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74" name="Google Shape;90;p7"/>
          <p:cNvSpPr/>
          <p:nvPr/>
        </p:nvSpPr>
        <p:spPr>
          <a:xfrm>
            <a:off x="4169572" y="91440"/>
            <a:ext cx="3734816" cy="1847088"/>
          </a:xfrm>
          <a:custGeom>
            <a:avLst/>
            <a:gdLst/>
            <a:ahLst/>
            <a:cxnLst/>
            <a:rect l="0" t="0" r="r" b="b"/>
            <a:pathLst>
              <a:path w="3734816" h="1847088">
                <a:moveTo>
                  <a:pt x="91917" y="-2974"/>
                </a:moveTo>
                <a:lnTo>
                  <a:pt x="151017" y="-3019"/>
                </a:lnTo>
                <a:lnTo>
                  <a:pt x="209955" y="-3158"/>
                </a:lnTo>
                <a:lnTo>
                  <a:pt x="268793" y="-3364"/>
                </a:lnTo>
                <a:lnTo>
                  <a:pt x="327609" y="-3601"/>
                </a:lnTo>
                <a:lnTo>
                  <a:pt x="386482" y="-3820"/>
                </a:lnTo>
                <a:lnTo>
                  <a:pt x="445495" y="-3966"/>
                </a:lnTo>
                <a:lnTo>
                  <a:pt x="504717" y="-3983"/>
                </a:lnTo>
                <a:lnTo>
                  <a:pt x="564201" y="-3814"/>
                </a:lnTo>
                <a:lnTo>
                  <a:pt x="623977" y="-3412"/>
                </a:lnTo>
                <a:lnTo>
                  <a:pt x="684050" y="-2738"/>
                </a:lnTo>
                <a:lnTo>
                  <a:pt x="744392" y="-1769"/>
                </a:lnTo>
                <a:lnTo>
                  <a:pt x="804954" y="-503"/>
                </a:lnTo>
                <a:lnTo>
                  <a:pt x="865661" y="1044"/>
                </a:lnTo>
                <a:lnTo>
                  <a:pt x="926421" y="2838"/>
                </a:lnTo>
                <a:lnTo>
                  <a:pt x="987135" y="4824"/>
                </a:lnTo>
                <a:lnTo>
                  <a:pt x="1047703" y="6930"/>
                </a:lnTo>
                <a:lnTo>
                  <a:pt x="1108033" y="9073"/>
                </a:lnTo>
                <a:lnTo>
                  <a:pt x="1168051" y="11166"/>
                </a:lnTo>
                <a:lnTo>
                  <a:pt x="1227704" y="13121"/>
                </a:lnTo>
                <a:lnTo>
                  <a:pt x="1286968" y="14858"/>
                </a:lnTo>
                <a:lnTo>
                  <a:pt x="1345847" y="16309"/>
                </a:lnTo>
                <a:lnTo>
                  <a:pt x="1404370" y="17429"/>
                </a:lnTo>
                <a:lnTo>
                  <a:pt x="1462590" y="18190"/>
                </a:lnTo>
                <a:lnTo>
                  <a:pt x="1520576" y="18593"/>
                </a:lnTo>
                <a:lnTo>
                  <a:pt x="1578402" y="18660"/>
                </a:lnTo>
                <a:lnTo>
                  <a:pt x="1636145" y="18433"/>
                </a:lnTo>
                <a:lnTo>
                  <a:pt x="1693872" y="17969"/>
                </a:lnTo>
                <a:lnTo>
                  <a:pt x="1751636" y="17331"/>
                </a:lnTo>
                <a:lnTo>
                  <a:pt x="1809473" y="16578"/>
                </a:lnTo>
                <a:lnTo>
                  <a:pt x="1867408" y="15763"/>
                </a:lnTo>
                <a:lnTo>
                  <a:pt x="1925447" y="14920"/>
                </a:lnTo>
                <a:lnTo>
                  <a:pt x="1983596" y="14067"/>
                </a:lnTo>
                <a:lnTo>
                  <a:pt x="2041856" y="13202"/>
                </a:lnTo>
                <a:lnTo>
                  <a:pt x="2100235" y="12308"/>
                </a:lnTo>
                <a:lnTo>
                  <a:pt x="2158745" y="11358"/>
                </a:lnTo>
                <a:lnTo>
                  <a:pt x="2217409" y="10323"/>
                </a:lnTo>
                <a:lnTo>
                  <a:pt x="2276254" y="9180"/>
                </a:lnTo>
                <a:lnTo>
                  <a:pt x="2335307" y="7913"/>
                </a:lnTo>
                <a:lnTo>
                  <a:pt x="2394594" y="6524"/>
                </a:lnTo>
                <a:lnTo>
                  <a:pt x="2454124" y="5030"/>
                </a:lnTo>
                <a:lnTo>
                  <a:pt x="2513896" y="3464"/>
                </a:lnTo>
                <a:lnTo>
                  <a:pt x="2573888" y="1873"/>
                </a:lnTo>
                <a:lnTo>
                  <a:pt x="2634057" y="312"/>
                </a:lnTo>
                <a:lnTo>
                  <a:pt x="2694344" y="-1156"/>
                </a:lnTo>
                <a:lnTo>
                  <a:pt x="2754674" y="-2475"/>
                </a:lnTo>
                <a:lnTo>
                  <a:pt x="2814966" y="-3591"/>
                </a:lnTo>
                <a:lnTo>
                  <a:pt x="2875136" y="-4464"/>
                </a:lnTo>
                <a:lnTo>
                  <a:pt x="2935106" y="-5066"/>
                </a:lnTo>
                <a:lnTo>
                  <a:pt x="2994814" y="-5388"/>
                </a:lnTo>
                <a:lnTo>
                  <a:pt x="3054217" y="-5439"/>
                </a:lnTo>
                <a:lnTo>
                  <a:pt x="3113296" y="-5244"/>
                </a:lnTo>
                <a:lnTo>
                  <a:pt x="3172060" y="-4843"/>
                </a:lnTo>
                <a:lnTo>
                  <a:pt x="3230544" y="-4286"/>
                </a:lnTo>
                <a:lnTo>
                  <a:pt x="3288808" y="-3632"/>
                </a:lnTo>
                <a:lnTo>
                  <a:pt x="3346929" y="-2941"/>
                </a:lnTo>
                <a:lnTo>
                  <a:pt x="3404999" y="-2272"/>
                </a:lnTo>
                <a:lnTo>
                  <a:pt x="3463113" y="-1678"/>
                </a:lnTo>
                <a:lnTo>
                  <a:pt x="3521360" y="-1201"/>
                </a:lnTo>
                <a:lnTo>
                  <a:pt x="3579820" y="-872"/>
                </a:lnTo>
                <a:lnTo>
                  <a:pt x="3638553" y="-707"/>
                </a:lnTo>
                <a:lnTo>
                  <a:pt x="3638591" y="-726"/>
                </a:lnTo>
                <a:lnTo>
                  <a:pt x="3649873" y="-290"/>
                </a:lnTo>
                <a:lnTo>
                  <a:pt x="3661307" y="1220"/>
                </a:lnTo>
                <a:lnTo>
                  <a:pt x="3672710" y="3811"/>
                </a:lnTo>
                <a:lnTo>
                  <a:pt x="3683883" y="7483"/>
                </a:lnTo>
                <a:lnTo>
                  <a:pt x="3694619" y="12226"/>
                </a:lnTo>
                <a:lnTo>
                  <a:pt x="3704709" y="18020"/>
                </a:lnTo>
                <a:lnTo>
                  <a:pt x="3713956" y="24828"/>
                </a:lnTo>
                <a:lnTo>
                  <a:pt x="3722178" y="32594"/>
                </a:lnTo>
                <a:lnTo>
                  <a:pt x="3729220" y="41243"/>
                </a:lnTo>
                <a:lnTo>
                  <a:pt x="3734959" y="50677"/>
                </a:lnTo>
                <a:lnTo>
                  <a:pt x="3739307" y="60781"/>
                </a:lnTo>
                <a:lnTo>
                  <a:pt x="3742217" y="71419"/>
                </a:lnTo>
                <a:lnTo>
                  <a:pt x="3743677" y="82440"/>
                </a:lnTo>
                <a:lnTo>
                  <a:pt x="3743711" y="93683"/>
                </a:lnTo>
                <a:lnTo>
                  <a:pt x="3742970" y="94011"/>
                </a:lnTo>
                <a:lnTo>
                  <a:pt x="3742219" y="135803"/>
                </a:lnTo>
                <a:lnTo>
                  <a:pt x="3741454" y="177568"/>
                </a:lnTo>
                <a:lnTo>
                  <a:pt x="3740743" y="219278"/>
                </a:lnTo>
                <a:lnTo>
                  <a:pt x="3740142" y="260918"/>
                </a:lnTo>
                <a:lnTo>
                  <a:pt x="3739691" y="302482"/>
                </a:lnTo>
                <a:lnTo>
                  <a:pt x="3739410" y="343973"/>
                </a:lnTo>
                <a:lnTo>
                  <a:pt x="3739296" y="385404"/>
                </a:lnTo>
                <a:lnTo>
                  <a:pt x="3739327" y="426791"/>
                </a:lnTo>
                <a:lnTo>
                  <a:pt x="3739461" y="468154"/>
                </a:lnTo>
                <a:lnTo>
                  <a:pt x="3739645" y="509512"/>
                </a:lnTo>
                <a:lnTo>
                  <a:pt x="3739817" y="550881"/>
                </a:lnTo>
                <a:lnTo>
                  <a:pt x="3739916" y="592271"/>
                </a:lnTo>
                <a:lnTo>
                  <a:pt x="3739888" y="633684"/>
                </a:lnTo>
                <a:lnTo>
                  <a:pt x="3739692" y="675119"/>
                </a:lnTo>
                <a:lnTo>
                  <a:pt x="3739307" y="716565"/>
                </a:lnTo>
                <a:lnTo>
                  <a:pt x="3738732" y="758012"/>
                </a:lnTo>
                <a:lnTo>
                  <a:pt x="3737988" y="799444"/>
                </a:lnTo>
                <a:lnTo>
                  <a:pt x="3737120" y="840849"/>
                </a:lnTo>
                <a:lnTo>
                  <a:pt x="3736183" y="882217"/>
                </a:lnTo>
                <a:lnTo>
                  <a:pt x="3735249" y="923544"/>
                </a:lnTo>
                <a:lnTo>
                  <a:pt x="3734387" y="964830"/>
                </a:lnTo>
                <a:lnTo>
                  <a:pt x="3733667" y="1006085"/>
                </a:lnTo>
                <a:lnTo>
                  <a:pt x="3733141" y="1047321"/>
                </a:lnTo>
                <a:lnTo>
                  <a:pt x="3732848" y="1088555"/>
                </a:lnTo>
                <a:lnTo>
                  <a:pt x="3732799" y="1129802"/>
                </a:lnTo>
                <a:lnTo>
                  <a:pt x="3732981" y="1171078"/>
                </a:lnTo>
                <a:lnTo>
                  <a:pt x="3733355" y="1212392"/>
                </a:lnTo>
                <a:lnTo>
                  <a:pt x="3733861" y="1253745"/>
                </a:lnTo>
                <a:lnTo>
                  <a:pt x="3734419" y="1295131"/>
                </a:lnTo>
                <a:lnTo>
                  <a:pt x="3734938" y="1336533"/>
                </a:lnTo>
                <a:lnTo>
                  <a:pt x="3735325" y="1377927"/>
                </a:lnTo>
                <a:lnTo>
                  <a:pt x="3735494" y="1419279"/>
                </a:lnTo>
                <a:lnTo>
                  <a:pt x="3735373" y="1460556"/>
                </a:lnTo>
                <a:lnTo>
                  <a:pt x="3734911" y="1501721"/>
                </a:lnTo>
                <a:lnTo>
                  <a:pt x="3734083" y="1542745"/>
                </a:lnTo>
                <a:lnTo>
                  <a:pt x="3732894" y="1583605"/>
                </a:lnTo>
                <a:lnTo>
                  <a:pt x="3731380" y="1624289"/>
                </a:lnTo>
                <a:lnTo>
                  <a:pt x="3729602" y="1664801"/>
                </a:lnTo>
                <a:lnTo>
                  <a:pt x="3727644" y="1705160"/>
                </a:lnTo>
                <a:lnTo>
                  <a:pt x="3725607" y="1745397"/>
                </a:lnTo>
                <a:lnTo>
                  <a:pt x="3723505" y="1744467"/>
                </a:lnTo>
                <a:lnTo>
                  <a:pt x="3720919" y="1754445"/>
                </a:lnTo>
                <a:lnTo>
                  <a:pt x="3717325" y="1764354"/>
                </a:lnTo>
                <a:lnTo>
                  <a:pt x="3712834" y="1774104"/>
                </a:lnTo>
                <a:lnTo>
                  <a:pt x="3707552" y="1783600"/>
                </a:lnTo>
                <a:lnTo>
                  <a:pt x="3701574" y="1792743"/>
                </a:lnTo>
                <a:lnTo>
                  <a:pt x="3694982" y="1801429"/>
                </a:lnTo>
                <a:lnTo>
                  <a:pt x="3687844" y="1809550"/>
                </a:lnTo>
                <a:lnTo>
                  <a:pt x="3680217" y="1816996"/>
                </a:lnTo>
                <a:lnTo>
                  <a:pt x="3672148" y="1823654"/>
                </a:lnTo>
                <a:lnTo>
                  <a:pt x="3663680" y="1829416"/>
                </a:lnTo>
                <a:lnTo>
                  <a:pt x="3654857" y="1834181"/>
                </a:lnTo>
                <a:lnTo>
                  <a:pt x="3645730" y="1837858"/>
                </a:lnTo>
                <a:lnTo>
                  <a:pt x="3636360" y="1840375"/>
                </a:lnTo>
                <a:lnTo>
                  <a:pt x="3626828" y="1841676"/>
                </a:lnTo>
                <a:lnTo>
                  <a:pt x="3628147" y="1842364"/>
                </a:lnTo>
                <a:lnTo>
                  <a:pt x="3570447" y="1842900"/>
                </a:lnTo>
                <a:lnTo>
                  <a:pt x="3512647" y="1843417"/>
                </a:lnTo>
                <a:lnTo>
                  <a:pt x="3454759" y="1843922"/>
                </a:lnTo>
                <a:lnTo>
                  <a:pt x="3396813" y="1844431"/>
                </a:lnTo>
                <a:lnTo>
                  <a:pt x="3338842" y="1844964"/>
                </a:lnTo>
                <a:lnTo>
                  <a:pt x="3280885" y="1845552"/>
                </a:lnTo>
                <a:lnTo>
                  <a:pt x="3222974" y="1846221"/>
                </a:lnTo>
                <a:lnTo>
                  <a:pt x="3165131" y="1847000"/>
                </a:lnTo>
                <a:lnTo>
                  <a:pt x="3107365" y="1847911"/>
                </a:lnTo>
                <a:lnTo>
                  <a:pt x="3049667" y="1848965"/>
                </a:lnTo>
                <a:lnTo>
                  <a:pt x="2992007" y="1850163"/>
                </a:lnTo>
                <a:lnTo>
                  <a:pt x="2934343" y="1851490"/>
                </a:lnTo>
                <a:lnTo>
                  <a:pt x="2876617" y="1852915"/>
                </a:lnTo>
                <a:lnTo>
                  <a:pt x="2818765" y="1854396"/>
                </a:lnTo>
                <a:lnTo>
                  <a:pt x="2760724" y="1855876"/>
                </a:lnTo>
                <a:lnTo>
                  <a:pt x="2702434" y="1857291"/>
                </a:lnTo>
                <a:lnTo>
                  <a:pt x="2643853" y="1858572"/>
                </a:lnTo>
                <a:lnTo>
                  <a:pt x="2584955" y="1859653"/>
                </a:lnTo>
                <a:lnTo>
                  <a:pt x="2525738" y="1860477"/>
                </a:lnTo>
                <a:lnTo>
                  <a:pt x="2466226" y="1861002"/>
                </a:lnTo>
                <a:lnTo>
                  <a:pt x="2406462" y="1861208"/>
                </a:lnTo>
                <a:lnTo>
                  <a:pt x="2346511" y="1861097"/>
                </a:lnTo>
                <a:lnTo>
                  <a:pt x="2286444" y="1860698"/>
                </a:lnTo>
                <a:lnTo>
                  <a:pt x="2226340" y="1860068"/>
                </a:lnTo>
                <a:lnTo>
                  <a:pt x="2166267" y="1859281"/>
                </a:lnTo>
                <a:lnTo>
                  <a:pt x="2106277" y="1858428"/>
                </a:lnTo>
                <a:lnTo>
                  <a:pt x="2046402" y="1857604"/>
                </a:lnTo>
                <a:lnTo>
                  <a:pt x="1986647" y="1856898"/>
                </a:lnTo>
                <a:lnTo>
                  <a:pt x="1926994" y="1856380"/>
                </a:lnTo>
                <a:lnTo>
                  <a:pt x="1867408" y="1856094"/>
                </a:lnTo>
                <a:lnTo>
                  <a:pt x="1807842" y="1856053"/>
                </a:lnTo>
                <a:lnTo>
                  <a:pt x="1748253" y="1856232"/>
                </a:lnTo>
                <a:lnTo>
                  <a:pt x="1688610" y="1856578"/>
                </a:lnTo>
                <a:lnTo>
                  <a:pt x="1628899" y="1857013"/>
                </a:lnTo>
                <a:lnTo>
                  <a:pt x="1569134" y="1857446"/>
                </a:lnTo>
                <a:lnTo>
                  <a:pt x="1509350" y="1857783"/>
                </a:lnTo>
                <a:lnTo>
                  <a:pt x="1449604" y="1857939"/>
                </a:lnTo>
                <a:lnTo>
                  <a:pt x="1389965" y="1857848"/>
                </a:lnTo>
                <a:lnTo>
                  <a:pt x="1330502" y="1857469"/>
                </a:lnTo>
                <a:lnTo>
                  <a:pt x="1271282" y="1856786"/>
                </a:lnTo>
                <a:lnTo>
                  <a:pt x="1212354" y="1855812"/>
                </a:lnTo>
                <a:lnTo>
                  <a:pt x="1153744" y="1854585"/>
                </a:lnTo>
                <a:lnTo>
                  <a:pt x="1095455" y="1853161"/>
                </a:lnTo>
                <a:lnTo>
                  <a:pt x="1037460" y="1851611"/>
                </a:lnTo>
                <a:lnTo>
                  <a:pt x="979713" y="1850010"/>
                </a:lnTo>
                <a:lnTo>
                  <a:pt x="922143" y="1848434"/>
                </a:lnTo>
                <a:lnTo>
                  <a:pt x="864673" y="1846953"/>
                </a:lnTo>
                <a:lnTo>
                  <a:pt x="807216" y="1845625"/>
                </a:lnTo>
                <a:lnTo>
                  <a:pt x="749691" y="1844491"/>
                </a:lnTo>
                <a:lnTo>
                  <a:pt x="692030" y="1843579"/>
                </a:lnTo>
                <a:lnTo>
                  <a:pt x="634177" y="1842896"/>
                </a:lnTo>
                <a:lnTo>
                  <a:pt x="576101" y="1842434"/>
                </a:lnTo>
                <a:lnTo>
                  <a:pt x="517791" y="1842171"/>
                </a:lnTo>
                <a:lnTo>
                  <a:pt x="459259" y="1842076"/>
                </a:lnTo>
                <a:lnTo>
                  <a:pt x="400534" y="1842108"/>
                </a:lnTo>
                <a:lnTo>
                  <a:pt x="341661" y="1842228"/>
                </a:lnTo>
                <a:lnTo>
                  <a:pt x="282691" y="1842394"/>
                </a:lnTo>
                <a:lnTo>
                  <a:pt x="223678" y="1842573"/>
                </a:lnTo>
                <a:lnTo>
                  <a:pt x="164669" y="1842738"/>
                </a:lnTo>
                <a:lnTo>
                  <a:pt x="105701" y="1842869"/>
                </a:lnTo>
                <a:lnTo>
                  <a:pt x="105733" y="1842853"/>
                </a:lnTo>
                <a:lnTo>
                  <a:pt x="94916" y="1842209"/>
                </a:lnTo>
                <a:lnTo>
                  <a:pt x="84291" y="1840323"/>
                </a:lnTo>
                <a:lnTo>
                  <a:pt x="73965" y="1837234"/>
                </a:lnTo>
                <a:lnTo>
                  <a:pt x="64025" y="1833001"/>
                </a:lnTo>
                <a:lnTo>
                  <a:pt x="54549" y="1827702"/>
                </a:lnTo>
                <a:lnTo>
                  <a:pt x="45607" y="1821427"/>
                </a:lnTo>
                <a:lnTo>
                  <a:pt x="37267" y="1814273"/>
                </a:lnTo>
                <a:lnTo>
                  <a:pt x="29598" y="1806346"/>
                </a:lnTo>
                <a:lnTo>
                  <a:pt x="22674" y="1797751"/>
                </a:lnTo>
                <a:lnTo>
                  <a:pt x="16580" y="1788593"/>
                </a:lnTo>
                <a:lnTo>
                  <a:pt x="11407" y="1778978"/>
                </a:lnTo>
                <a:lnTo>
                  <a:pt x="7253" y="1769007"/>
                </a:lnTo>
                <a:lnTo>
                  <a:pt x="4222" y="1758782"/>
                </a:lnTo>
                <a:lnTo>
                  <a:pt x="2414" y="1748402"/>
                </a:lnTo>
                <a:lnTo>
                  <a:pt x="1305" y="1748892"/>
                </a:lnTo>
                <a:lnTo>
                  <a:pt x="378" y="1708014"/>
                </a:lnTo>
                <a:lnTo>
                  <a:pt x="-306" y="1666999"/>
                </a:lnTo>
                <a:lnTo>
                  <a:pt x="-681" y="1625837"/>
                </a:lnTo>
                <a:lnTo>
                  <a:pt x="-698" y="1584531"/>
                </a:lnTo>
                <a:lnTo>
                  <a:pt x="-335" y="1543099"/>
                </a:lnTo>
                <a:lnTo>
                  <a:pt x="399" y="1501568"/>
                </a:lnTo>
                <a:lnTo>
                  <a:pt x="1468" y="1459973"/>
                </a:lnTo>
                <a:lnTo>
                  <a:pt x="2807" y="1418354"/>
                </a:lnTo>
                <a:lnTo>
                  <a:pt x="4327" y="1376750"/>
                </a:lnTo>
                <a:lnTo>
                  <a:pt x="5922" y="1335197"/>
                </a:lnTo>
                <a:lnTo>
                  <a:pt x="7478" y="1293722"/>
                </a:lnTo>
                <a:lnTo>
                  <a:pt x="8882" y="1252343"/>
                </a:lnTo>
                <a:lnTo>
                  <a:pt x="10029" y="1211065"/>
                </a:lnTo>
                <a:lnTo>
                  <a:pt x="10835" y="1169884"/>
                </a:lnTo>
                <a:lnTo>
                  <a:pt x="11238" y="1128782"/>
                </a:lnTo>
                <a:lnTo>
                  <a:pt x="11208" y="1087737"/>
                </a:lnTo>
                <a:lnTo>
                  <a:pt x="10745" y="1046720"/>
                </a:lnTo>
                <a:lnTo>
                  <a:pt x="9878" y="1005699"/>
                </a:lnTo>
                <a:lnTo>
                  <a:pt x="8667" y="964648"/>
                </a:lnTo>
                <a:lnTo>
                  <a:pt x="7190" y="923544"/>
                </a:lnTo>
                <a:lnTo>
                  <a:pt x="5538" y="882370"/>
                </a:lnTo>
                <a:lnTo>
                  <a:pt x="3809" y="841119"/>
                </a:lnTo>
                <a:lnTo>
                  <a:pt x="2097" y="799794"/>
                </a:lnTo>
                <a:lnTo>
                  <a:pt x="481" y="758401"/>
                </a:lnTo>
                <a:lnTo>
                  <a:pt x="-973" y="716954"/>
                </a:lnTo>
                <a:lnTo>
                  <a:pt x="-2228" y="675470"/>
                </a:lnTo>
                <a:lnTo>
                  <a:pt x="-3269" y="633963"/>
                </a:lnTo>
                <a:lnTo>
                  <a:pt x="-4102" y="592447"/>
                </a:lnTo>
                <a:lnTo>
                  <a:pt x="-4759" y="550929"/>
                </a:lnTo>
                <a:lnTo>
                  <a:pt x="-5286" y="509411"/>
                </a:lnTo>
                <a:lnTo>
                  <a:pt x="-5737" y="467888"/>
                </a:lnTo>
                <a:lnTo>
                  <a:pt x="-6171" y="426350"/>
                </a:lnTo>
                <a:lnTo>
                  <a:pt x="-6639" y="384783"/>
                </a:lnTo>
                <a:lnTo>
                  <a:pt x="-7183" y="343171"/>
                </a:lnTo>
                <a:lnTo>
                  <a:pt x="-7827" y="301502"/>
                </a:lnTo>
                <a:lnTo>
                  <a:pt x="-8577" y="259768"/>
                </a:lnTo>
                <a:lnTo>
                  <a:pt x="-9418" y="217966"/>
                </a:lnTo>
                <a:lnTo>
                  <a:pt x="-10315" y="176104"/>
                </a:lnTo>
                <a:lnTo>
                  <a:pt x="-11220" y="134199"/>
                </a:lnTo>
                <a:lnTo>
                  <a:pt x="-12074" y="92277"/>
                </a:lnTo>
                <a:lnTo>
                  <a:pt x="-12922" y="91902"/>
                </a:lnTo>
                <a:lnTo>
                  <a:pt x="-12968" y="80599"/>
                </a:lnTo>
                <a:lnTo>
                  <a:pt x="-11576" y="69521"/>
                </a:lnTo>
                <a:lnTo>
                  <a:pt x="-8731" y="58827"/>
                </a:lnTo>
                <a:lnTo>
                  <a:pt x="-4449" y="48665"/>
                </a:lnTo>
                <a:lnTo>
                  <a:pt x="1216" y="39168"/>
                </a:lnTo>
                <a:lnTo>
                  <a:pt x="8179" y="30452"/>
                </a:lnTo>
                <a:lnTo>
                  <a:pt x="16316" y="22617"/>
                </a:lnTo>
                <a:lnTo>
                  <a:pt x="25476" y="15739"/>
                </a:lnTo>
                <a:lnTo>
                  <a:pt x="35487" y="9878"/>
                </a:lnTo>
                <a:lnTo>
                  <a:pt x="46160" y="5076"/>
                </a:lnTo>
                <a:lnTo>
                  <a:pt x="57300" y="1363"/>
                </a:lnTo>
                <a:lnTo>
                  <a:pt x="68715" y="-1244"/>
                </a:lnTo>
                <a:lnTo>
                  <a:pt x="80219" y="-2738"/>
                </a:lnTo>
                <a:lnTo>
                  <a:pt x="91648" y="-3115"/>
                </a:lnTo>
                <a:close/>
              </a:path>
            </a:pathLst>
          </a:custGeom>
          <a:pattFill prst="ltUpDiag">
            <a:fgClr>
              <a:srgbClr val="F9EFF0"/>
            </a:fgClr>
            <a:bgClr>
              <a:srgbClr val="FFFFFF"/>
            </a:bgClr>
          </a:pattFill>
          <a:ln w="14224" cap="flat" cmpd="sng">
            <a:solidFill>
              <a:srgbClr val="B31E2E"/>
            </a:solidFill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75" name="Google Shape;91;p7"/>
          <p:cNvSpPr/>
          <p:nvPr/>
        </p:nvSpPr>
        <p:spPr>
          <a:xfrm>
            <a:off x="7985852" y="91440"/>
            <a:ext cx="3734816" cy="1847088"/>
          </a:xfrm>
          <a:custGeom>
            <a:avLst/>
            <a:gdLst/>
            <a:ahLst/>
            <a:cxnLst/>
            <a:rect l="0" t="0" r="r" b="b"/>
            <a:pathLst>
              <a:path w="3734816" h="1847088">
                <a:moveTo>
                  <a:pt x="95702" y="-999"/>
                </a:moveTo>
                <a:lnTo>
                  <a:pt x="154980" y="-880"/>
                </a:lnTo>
                <a:lnTo>
                  <a:pt x="214142" y="-817"/>
                </a:lnTo>
                <a:lnTo>
                  <a:pt x="273198" y="-810"/>
                </a:lnTo>
                <a:lnTo>
                  <a:pt x="332180" y="-848"/>
                </a:lnTo>
                <a:lnTo>
                  <a:pt x="391134" y="-906"/>
                </a:lnTo>
                <a:lnTo>
                  <a:pt x="450117" y="-951"/>
                </a:lnTo>
                <a:lnTo>
                  <a:pt x="509190" y="-938"/>
                </a:lnTo>
                <a:lnTo>
                  <a:pt x="568410" y="-819"/>
                </a:lnTo>
                <a:lnTo>
                  <a:pt x="627826" y="-543"/>
                </a:lnTo>
                <a:lnTo>
                  <a:pt x="687469" y="-61"/>
                </a:lnTo>
                <a:lnTo>
                  <a:pt x="747350" y="666"/>
                </a:lnTo>
                <a:lnTo>
                  <a:pt x="807452" y="1668"/>
                </a:lnTo>
                <a:lnTo>
                  <a:pt x="867737" y="2956"/>
                </a:lnTo>
                <a:lnTo>
                  <a:pt x="928139" y="4520"/>
                </a:lnTo>
                <a:lnTo>
                  <a:pt x="988576" y="6328"/>
                </a:lnTo>
                <a:lnTo>
                  <a:pt x="1048954" y="8328"/>
                </a:lnTo>
                <a:lnTo>
                  <a:pt x="1109172" y="10444"/>
                </a:lnTo>
                <a:lnTo>
                  <a:pt x="1169139" y="12585"/>
                </a:lnTo>
                <a:lnTo>
                  <a:pt x="1228776" y="14646"/>
                </a:lnTo>
                <a:lnTo>
                  <a:pt x="1288029" y="16518"/>
                </a:lnTo>
                <a:lnTo>
                  <a:pt x="1346874" y="18096"/>
                </a:lnTo>
                <a:lnTo>
                  <a:pt x="1405319" y="19286"/>
                </a:lnTo>
                <a:lnTo>
                  <a:pt x="1463406" y="20015"/>
                </a:lnTo>
                <a:lnTo>
                  <a:pt x="1521207" y="20241"/>
                </a:lnTo>
                <a:lnTo>
                  <a:pt x="1578815" y="19952"/>
                </a:lnTo>
                <a:lnTo>
                  <a:pt x="1636335" y="19174"/>
                </a:lnTo>
                <a:lnTo>
                  <a:pt x="1693872" y="17967"/>
                </a:lnTo>
                <a:lnTo>
                  <a:pt x="1751519" y="16420"/>
                </a:lnTo>
                <a:lnTo>
                  <a:pt x="1809350" y="14643"/>
                </a:lnTo>
                <a:lnTo>
                  <a:pt x="1867408" y="12753"/>
                </a:lnTo>
                <a:lnTo>
                  <a:pt x="1925707" y="10863"/>
                </a:lnTo>
                <a:lnTo>
                  <a:pt x="1984235" y="9068"/>
                </a:lnTo>
                <a:lnTo>
                  <a:pt x="2042961" y="7440"/>
                </a:lnTo>
                <a:lnTo>
                  <a:pt x="2101841" y="6020"/>
                </a:lnTo>
                <a:lnTo>
                  <a:pt x="2160835" y="4815"/>
                </a:lnTo>
                <a:lnTo>
                  <a:pt x="2219906" y="3807"/>
                </a:lnTo>
                <a:lnTo>
                  <a:pt x="2279036" y="2958"/>
                </a:lnTo>
                <a:lnTo>
                  <a:pt x="2338220" y="2215"/>
                </a:lnTo>
                <a:lnTo>
                  <a:pt x="2397468" y="1524"/>
                </a:lnTo>
                <a:lnTo>
                  <a:pt x="2456804" y="835"/>
                </a:lnTo>
                <a:lnTo>
                  <a:pt x="2516253" y="110"/>
                </a:lnTo>
                <a:lnTo>
                  <a:pt x="2575840" y="-673"/>
                </a:lnTo>
                <a:lnTo>
                  <a:pt x="2635581" y="-1522"/>
                </a:lnTo>
                <a:lnTo>
                  <a:pt x="2695478" y="-2424"/>
                </a:lnTo>
                <a:lnTo>
                  <a:pt x="2755518" y="-3356"/>
                </a:lnTo>
                <a:lnTo>
                  <a:pt x="2815671" y="-4281"/>
                </a:lnTo>
                <a:lnTo>
                  <a:pt x="2875891" y="-5159"/>
                </a:lnTo>
                <a:lnTo>
                  <a:pt x="2936122" y="-5949"/>
                </a:lnTo>
                <a:lnTo>
                  <a:pt x="2996301" y="-6613"/>
                </a:lnTo>
                <a:lnTo>
                  <a:pt x="3056367" y="-7122"/>
                </a:lnTo>
                <a:lnTo>
                  <a:pt x="3116266" y="-7458"/>
                </a:lnTo>
                <a:lnTo>
                  <a:pt x="3175956" y="-7615"/>
                </a:lnTo>
                <a:lnTo>
                  <a:pt x="3235414" y="-7601"/>
                </a:lnTo>
                <a:lnTo>
                  <a:pt x="3294638" y="-7435"/>
                </a:lnTo>
                <a:lnTo>
                  <a:pt x="3353646" y="-7147"/>
                </a:lnTo>
                <a:lnTo>
                  <a:pt x="3412476" y="-6773"/>
                </a:lnTo>
                <a:lnTo>
                  <a:pt x="3471182" y="-6356"/>
                </a:lnTo>
                <a:lnTo>
                  <a:pt x="3529828" y="-5935"/>
                </a:lnTo>
                <a:lnTo>
                  <a:pt x="3588484" y="-5548"/>
                </a:lnTo>
                <a:lnTo>
                  <a:pt x="3647213" y="-5226"/>
                </a:lnTo>
                <a:lnTo>
                  <a:pt x="3647010" y="-5120"/>
                </a:lnTo>
                <a:lnTo>
                  <a:pt x="3657923" y="-4463"/>
                </a:lnTo>
                <a:lnTo>
                  <a:pt x="3668885" y="-2676"/>
                </a:lnTo>
                <a:lnTo>
                  <a:pt x="3679751" y="224"/>
                </a:lnTo>
                <a:lnTo>
                  <a:pt x="3690355" y="4219"/>
                </a:lnTo>
                <a:lnTo>
                  <a:pt x="3700516" y="9285"/>
                </a:lnTo>
                <a:lnTo>
                  <a:pt x="3710042" y="15392"/>
                </a:lnTo>
                <a:lnTo>
                  <a:pt x="3718741" y="22499"/>
                </a:lnTo>
                <a:lnTo>
                  <a:pt x="3726424" y="30554"/>
                </a:lnTo>
                <a:lnTo>
                  <a:pt x="3732917" y="39491"/>
                </a:lnTo>
                <a:lnTo>
                  <a:pt x="3738071" y="49223"/>
                </a:lnTo>
                <a:lnTo>
                  <a:pt x="3741766" y="59648"/>
                </a:lnTo>
                <a:lnTo>
                  <a:pt x="3743922" y="70644"/>
                </a:lnTo>
                <a:lnTo>
                  <a:pt x="3744499" y="82072"/>
                </a:lnTo>
                <a:lnTo>
                  <a:pt x="3743499" y="93777"/>
                </a:lnTo>
                <a:lnTo>
                  <a:pt x="3741569" y="94630"/>
                </a:lnTo>
                <a:lnTo>
                  <a:pt x="3739459" y="136963"/>
                </a:lnTo>
                <a:lnTo>
                  <a:pt x="3737189" y="179265"/>
                </a:lnTo>
                <a:lnTo>
                  <a:pt x="3734862" y="221489"/>
                </a:lnTo>
                <a:lnTo>
                  <a:pt x="3732587" y="263591"/>
                </a:lnTo>
                <a:lnTo>
                  <a:pt x="3730467" y="305541"/>
                </a:lnTo>
                <a:lnTo>
                  <a:pt x="3728596" y="347321"/>
                </a:lnTo>
                <a:lnTo>
                  <a:pt x="3727046" y="388925"/>
                </a:lnTo>
                <a:lnTo>
                  <a:pt x="3725865" y="430363"/>
                </a:lnTo>
                <a:lnTo>
                  <a:pt x="3725074" y="471654"/>
                </a:lnTo>
                <a:lnTo>
                  <a:pt x="3724664" y="512825"/>
                </a:lnTo>
                <a:lnTo>
                  <a:pt x="3724602" y="553910"/>
                </a:lnTo>
                <a:lnTo>
                  <a:pt x="3724829" y="594940"/>
                </a:lnTo>
                <a:lnTo>
                  <a:pt x="3725275" y="635946"/>
                </a:lnTo>
                <a:lnTo>
                  <a:pt x="3725859" y="676954"/>
                </a:lnTo>
                <a:lnTo>
                  <a:pt x="3726499" y="717982"/>
                </a:lnTo>
                <a:lnTo>
                  <a:pt x="3727122" y="759039"/>
                </a:lnTo>
                <a:lnTo>
                  <a:pt x="3727670" y="800129"/>
                </a:lnTo>
                <a:lnTo>
                  <a:pt x="3728101" y="841248"/>
                </a:lnTo>
                <a:lnTo>
                  <a:pt x="3728398" y="882389"/>
                </a:lnTo>
                <a:lnTo>
                  <a:pt x="3728564" y="923544"/>
                </a:lnTo>
                <a:lnTo>
                  <a:pt x="3728623" y="964703"/>
                </a:lnTo>
                <a:lnTo>
                  <a:pt x="3728613" y="1005862"/>
                </a:lnTo>
                <a:lnTo>
                  <a:pt x="3728584" y="1047019"/>
                </a:lnTo>
                <a:lnTo>
                  <a:pt x="3728586" y="1088178"/>
                </a:lnTo>
                <a:lnTo>
                  <a:pt x="3728668" y="1129345"/>
                </a:lnTo>
                <a:lnTo>
                  <a:pt x="3728865" y="1170532"/>
                </a:lnTo>
                <a:lnTo>
                  <a:pt x="3729197" y="1211748"/>
                </a:lnTo>
                <a:lnTo>
                  <a:pt x="3729665" y="1253003"/>
                </a:lnTo>
                <a:lnTo>
                  <a:pt x="3730249" y="1294301"/>
                </a:lnTo>
                <a:lnTo>
                  <a:pt x="3730910" y="1335643"/>
                </a:lnTo>
                <a:lnTo>
                  <a:pt x="3731593" y="1377019"/>
                </a:lnTo>
                <a:lnTo>
                  <a:pt x="3732232" y="1418414"/>
                </a:lnTo>
                <a:lnTo>
                  <a:pt x="3732759" y="1459804"/>
                </a:lnTo>
                <a:lnTo>
                  <a:pt x="3733108" y="1501163"/>
                </a:lnTo>
                <a:lnTo>
                  <a:pt x="3733225" y="1542460"/>
                </a:lnTo>
                <a:lnTo>
                  <a:pt x="3733072" y="1583668"/>
                </a:lnTo>
                <a:lnTo>
                  <a:pt x="3732635" y="1624761"/>
                </a:lnTo>
                <a:lnTo>
                  <a:pt x="3731924" y="1665726"/>
                </a:lnTo>
                <a:lnTo>
                  <a:pt x="3730972" y="1706558"/>
                </a:lnTo>
                <a:lnTo>
                  <a:pt x="3729839" y="1747268"/>
                </a:lnTo>
                <a:lnTo>
                  <a:pt x="3728548" y="1746698"/>
                </a:lnTo>
                <a:lnTo>
                  <a:pt x="3726622" y="1757001"/>
                </a:lnTo>
                <a:lnTo>
                  <a:pt x="3723539" y="1767178"/>
                </a:lnTo>
                <a:lnTo>
                  <a:pt x="3719418" y="1777139"/>
                </a:lnTo>
                <a:lnTo>
                  <a:pt x="3714386" y="1786794"/>
                </a:lnTo>
                <a:lnTo>
                  <a:pt x="3708569" y="1796058"/>
                </a:lnTo>
                <a:lnTo>
                  <a:pt x="3702084" y="1804841"/>
                </a:lnTo>
                <a:lnTo>
                  <a:pt x="3695037" y="1813051"/>
                </a:lnTo>
                <a:lnTo>
                  <a:pt x="3687520" y="1820595"/>
                </a:lnTo>
                <a:lnTo>
                  <a:pt x="3679605" y="1827373"/>
                </a:lnTo>
                <a:lnTo>
                  <a:pt x="3671351" y="1833284"/>
                </a:lnTo>
                <a:lnTo>
                  <a:pt x="3662805" y="1838230"/>
                </a:lnTo>
                <a:lnTo>
                  <a:pt x="3654008" y="1842115"/>
                </a:lnTo>
                <a:lnTo>
                  <a:pt x="3644997" y="1844851"/>
                </a:lnTo>
                <a:lnTo>
                  <a:pt x="3635815" y="1846366"/>
                </a:lnTo>
                <a:lnTo>
                  <a:pt x="3637445" y="1847217"/>
                </a:lnTo>
                <a:lnTo>
                  <a:pt x="3579885" y="1847995"/>
                </a:lnTo>
                <a:lnTo>
                  <a:pt x="3522069" y="1848685"/>
                </a:lnTo>
                <a:lnTo>
                  <a:pt x="3463972" y="1849264"/>
                </a:lnTo>
                <a:lnTo>
                  <a:pt x="3405597" y="1849720"/>
                </a:lnTo>
                <a:lnTo>
                  <a:pt x="3346968" y="1850053"/>
                </a:lnTo>
                <a:lnTo>
                  <a:pt x="3288130" y="1850278"/>
                </a:lnTo>
                <a:lnTo>
                  <a:pt x="3229142" y="1850420"/>
                </a:lnTo>
                <a:lnTo>
                  <a:pt x="3170071" y="1850516"/>
                </a:lnTo>
                <a:lnTo>
                  <a:pt x="3110982" y="1850607"/>
                </a:lnTo>
                <a:lnTo>
                  <a:pt x="3051932" y="1850739"/>
                </a:lnTo>
                <a:lnTo>
                  <a:pt x="2992967" y="1850954"/>
                </a:lnTo>
                <a:lnTo>
                  <a:pt x="2934111" y="1851288"/>
                </a:lnTo>
                <a:lnTo>
                  <a:pt x="2875370" y="1851767"/>
                </a:lnTo>
                <a:lnTo>
                  <a:pt x="2816729" y="1852404"/>
                </a:lnTo>
                <a:lnTo>
                  <a:pt x="2758154" y="1853194"/>
                </a:lnTo>
                <a:lnTo>
                  <a:pt x="2699596" y="1854117"/>
                </a:lnTo>
                <a:lnTo>
                  <a:pt x="2641000" y="1855136"/>
                </a:lnTo>
                <a:lnTo>
                  <a:pt x="2582309" y="1856201"/>
                </a:lnTo>
                <a:lnTo>
                  <a:pt x="2523473" y="1857253"/>
                </a:lnTo>
                <a:lnTo>
                  <a:pt x="2464454" y="1858229"/>
                </a:lnTo>
                <a:lnTo>
                  <a:pt x="2405232" y="1859068"/>
                </a:lnTo>
                <a:lnTo>
                  <a:pt x="2345807" y="1859720"/>
                </a:lnTo>
                <a:lnTo>
                  <a:pt x="2286198" y="1860147"/>
                </a:lnTo>
                <a:lnTo>
                  <a:pt x="2226442" y="1860333"/>
                </a:lnTo>
                <a:lnTo>
                  <a:pt x="2166586" y="1860282"/>
                </a:lnTo>
                <a:lnTo>
                  <a:pt x="2106684" y="1860022"/>
                </a:lnTo>
                <a:lnTo>
                  <a:pt x="2046785" y="1859601"/>
                </a:lnTo>
                <a:lnTo>
                  <a:pt x="1986926" y="1859079"/>
                </a:lnTo>
                <a:lnTo>
                  <a:pt x="1927131" y="1858522"/>
                </a:lnTo>
                <a:lnTo>
                  <a:pt x="1867408" y="1857991"/>
                </a:lnTo>
                <a:lnTo>
                  <a:pt x="1807747" y="1857534"/>
                </a:lnTo>
                <a:lnTo>
                  <a:pt x="1748132" y="1857178"/>
                </a:lnTo>
                <a:lnTo>
                  <a:pt x="1688543" y="1856925"/>
                </a:lnTo>
                <a:lnTo>
                  <a:pt x="1628966" y="1856753"/>
                </a:lnTo>
                <a:lnTo>
                  <a:pt x="1569399" y="1856616"/>
                </a:lnTo>
                <a:lnTo>
                  <a:pt x="1509859" y="1856456"/>
                </a:lnTo>
                <a:lnTo>
                  <a:pt x="1450380" y="1856205"/>
                </a:lnTo>
                <a:lnTo>
                  <a:pt x="1391012" y="1855799"/>
                </a:lnTo>
                <a:lnTo>
                  <a:pt x="1331816" y="1855183"/>
                </a:lnTo>
                <a:lnTo>
                  <a:pt x="1272858" y="1854320"/>
                </a:lnTo>
                <a:lnTo>
                  <a:pt x="1214195" y="1853193"/>
                </a:lnTo>
                <a:lnTo>
                  <a:pt x="1155872" y="1851809"/>
                </a:lnTo>
                <a:lnTo>
                  <a:pt x="1097914" y="1850199"/>
                </a:lnTo>
                <a:lnTo>
                  <a:pt x="1040320" y="1848413"/>
                </a:lnTo>
                <a:lnTo>
                  <a:pt x="983059" y="1846517"/>
                </a:lnTo>
                <a:lnTo>
                  <a:pt x="926077" y="1844585"/>
                </a:lnTo>
                <a:lnTo>
                  <a:pt x="869292" y="1842699"/>
                </a:lnTo>
                <a:lnTo>
                  <a:pt x="812606" y="1840936"/>
                </a:lnTo>
                <a:lnTo>
                  <a:pt x="755912" y="1839366"/>
                </a:lnTo>
                <a:lnTo>
                  <a:pt x="699100" y="1838045"/>
                </a:lnTo>
                <a:lnTo>
                  <a:pt x="642067" y="1837014"/>
                </a:lnTo>
                <a:lnTo>
                  <a:pt x="584726" y="1836296"/>
                </a:lnTo>
                <a:lnTo>
                  <a:pt x="527011" y="1835896"/>
                </a:lnTo>
                <a:lnTo>
                  <a:pt x="468882" y="1835799"/>
                </a:lnTo>
                <a:lnTo>
                  <a:pt x="410328" y="1835975"/>
                </a:lnTo>
                <a:lnTo>
                  <a:pt x="351367" y="1836383"/>
                </a:lnTo>
                <a:lnTo>
                  <a:pt x="292041" y="1836973"/>
                </a:lnTo>
                <a:lnTo>
                  <a:pt x="232412" y="1837690"/>
                </a:lnTo>
                <a:lnTo>
                  <a:pt x="172556" y="1838479"/>
                </a:lnTo>
                <a:lnTo>
                  <a:pt x="112556" y="1839292"/>
                </a:lnTo>
                <a:lnTo>
                  <a:pt x="111388" y="1839901"/>
                </a:lnTo>
                <a:lnTo>
                  <a:pt x="99338" y="1839917"/>
                </a:lnTo>
                <a:lnTo>
                  <a:pt x="87506" y="1838670"/>
                </a:lnTo>
                <a:lnTo>
                  <a:pt x="76060" y="1836166"/>
                </a:lnTo>
                <a:lnTo>
                  <a:pt x="65145" y="1832436"/>
                </a:lnTo>
                <a:lnTo>
                  <a:pt x="54880" y="1827537"/>
                </a:lnTo>
                <a:lnTo>
                  <a:pt x="45360" y="1821549"/>
                </a:lnTo>
                <a:lnTo>
                  <a:pt x="36659" y="1814569"/>
                </a:lnTo>
                <a:lnTo>
                  <a:pt x="28834" y="1806713"/>
                </a:lnTo>
                <a:lnTo>
                  <a:pt x="21928" y="1798104"/>
                </a:lnTo>
                <a:lnTo>
                  <a:pt x="15980" y="1788874"/>
                </a:lnTo>
                <a:lnTo>
                  <a:pt x="11022" y="1779155"/>
                </a:lnTo>
                <a:lnTo>
                  <a:pt x="7091" y="1769081"/>
                </a:lnTo>
                <a:lnTo>
                  <a:pt x="4225" y="1758780"/>
                </a:lnTo>
                <a:lnTo>
                  <a:pt x="2466" y="1748378"/>
                </a:lnTo>
                <a:lnTo>
                  <a:pt x="1244" y="1748919"/>
                </a:lnTo>
                <a:lnTo>
                  <a:pt x="5" y="1708171"/>
                </a:lnTo>
                <a:lnTo>
                  <a:pt x="-1210" y="1667359"/>
                </a:lnTo>
                <a:lnTo>
                  <a:pt x="-2334" y="1626458"/>
                </a:lnTo>
                <a:lnTo>
                  <a:pt x="-3302" y="1585453"/>
                </a:lnTo>
                <a:lnTo>
                  <a:pt x="-4056" y="1544333"/>
                </a:lnTo>
                <a:lnTo>
                  <a:pt x="-4554" y="1503102"/>
                </a:lnTo>
                <a:lnTo>
                  <a:pt x="-4775" y="1461768"/>
                </a:lnTo>
                <a:lnTo>
                  <a:pt x="-4721" y="1420352"/>
                </a:lnTo>
                <a:lnTo>
                  <a:pt x="-4419" y="1378878"/>
                </a:lnTo>
                <a:lnTo>
                  <a:pt x="-3921" y="1337374"/>
                </a:lnTo>
                <a:lnTo>
                  <a:pt x="-3295" y="1295866"/>
                </a:lnTo>
                <a:lnTo>
                  <a:pt x="-2628" y="1254379"/>
                </a:lnTo>
                <a:lnTo>
                  <a:pt x="-2010" y="1212929"/>
                </a:lnTo>
                <a:lnTo>
                  <a:pt x="-1529" y="1171524"/>
                </a:lnTo>
                <a:lnTo>
                  <a:pt x="-1265" y="1130165"/>
                </a:lnTo>
                <a:lnTo>
                  <a:pt x="-1278" y="1088842"/>
                </a:lnTo>
                <a:lnTo>
                  <a:pt x="-1605" y="1047539"/>
                </a:lnTo>
                <a:lnTo>
                  <a:pt x="-2253" y="1006236"/>
                </a:lnTo>
                <a:lnTo>
                  <a:pt x="-3202" y="964911"/>
                </a:lnTo>
                <a:lnTo>
                  <a:pt x="-4401" y="923544"/>
                </a:lnTo>
                <a:lnTo>
                  <a:pt x="-5775" y="882119"/>
                </a:lnTo>
                <a:lnTo>
                  <a:pt x="-7231" y="840631"/>
                </a:lnTo>
                <a:lnTo>
                  <a:pt x="-8666" y="799080"/>
                </a:lnTo>
                <a:lnTo>
                  <a:pt x="-9976" y="757476"/>
                </a:lnTo>
                <a:lnTo>
                  <a:pt x="-11066" y="715838"/>
                </a:lnTo>
                <a:lnTo>
                  <a:pt x="-11854" y="674193"/>
                </a:lnTo>
                <a:lnTo>
                  <a:pt x="-12286" y="632567"/>
                </a:lnTo>
                <a:lnTo>
                  <a:pt x="-12334" y="590991"/>
                </a:lnTo>
                <a:lnTo>
                  <a:pt x="-12000" y="549488"/>
                </a:lnTo>
                <a:lnTo>
                  <a:pt x="-11316" y="508078"/>
                </a:lnTo>
                <a:lnTo>
                  <a:pt x="-10341" y="466769"/>
                </a:lnTo>
                <a:lnTo>
                  <a:pt x="-9153" y="425559"/>
                </a:lnTo>
                <a:lnTo>
                  <a:pt x="-7845" y="384436"/>
                </a:lnTo>
                <a:lnTo>
                  <a:pt x="-6513" y="343379"/>
                </a:lnTo>
                <a:lnTo>
                  <a:pt x="-5251" y="302357"/>
                </a:lnTo>
                <a:lnTo>
                  <a:pt x="-4141" y="261337"/>
                </a:lnTo>
                <a:lnTo>
                  <a:pt x="-3245" y="220286"/>
                </a:lnTo>
                <a:lnTo>
                  <a:pt x="-2605" y="179173"/>
                </a:lnTo>
                <a:lnTo>
                  <a:pt x="-2236" y="137974"/>
                </a:lnTo>
                <a:lnTo>
                  <a:pt x="-2127" y="96677"/>
                </a:lnTo>
                <a:lnTo>
                  <a:pt x="-2265" y="96615"/>
                </a:lnTo>
                <a:lnTo>
                  <a:pt x="-1968" y="85530"/>
                </a:lnTo>
                <a:lnTo>
                  <a:pt x="-573" y="74522"/>
                </a:lnTo>
                <a:lnTo>
                  <a:pt x="1964" y="63757"/>
                </a:lnTo>
                <a:lnTo>
                  <a:pt x="5673" y="53396"/>
                </a:lnTo>
                <a:lnTo>
                  <a:pt x="10563" y="43597"/>
                </a:lnTo>
                <a:lnTo>
                  <a:pt x="16616" y="34505"/>
                </a:lnTo>
                <a:lnTo>
                  <a:pt x="23784" y="26251"/>
                </a:lnTo>
                <a:lnTo>
                  <a:pt x="31988" y="18948"/>
                </a:lnTo>
                <a:lnTo>
                  <a:pt x="41122" y="12688"/>
                </a:lnTo>
                <a:lnTo>
                  <a:pt x="51048" y="7541"/>
                </a:lnTo>
                <a:lnTo>
                  <a:pt x="61608" y="3558"/>
                </a:lnTo>
                <a:lnTo>
                  <a:pt x="72629" y="768"/>
                </a:lnTo>
                <a:lnTo>
                  <a:pt x="83928" y="-816"/>
                </a:lnTo>
                <a:lnTo>
                  <a:pt x="95322" y="-1197"/>
                </a:lnTo>
                <a:close/>
              </a:path>
            </a:pathLst>
          </a:custGeom>
          <a:pattFill prst="ltUpDiag">
            <a:fgClr>
              <a:srgbClr val="EFF5F2"/>
            </a:fgClr>
            <a:bgClr>
              <a:srgbClr val="FFFFFF"/>
            </a:bgClr>
          </a:pattFill>
          <a:ln w="14224" cap="flat" cmpd="sng">
            <a:solidFill>
              <a:srgbClr val="1E7A46"/>
            </a:solidFill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77" name="Google Shape;93;p7"/>
          <p:cNvSpPr/>
          <p:nvPr/>
        </p:nvSpPr>
        <p:spPr>
          <a:xfrm>
            <a:off x="8095580" y="1536192"/>
            <a:ext cx="3515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81" name="Google Shape;98;p7"/>
          <p:cNvSpPr/>
          <p:nvPr/>
        </p:nvSpPr>
        <p:spPr>
          <a:xfrm>
            <a:off x="4279300" y="1536192"/>
            <a:ext cx="3515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cxnSp>
        <p:nvCxnSpPr>
          <p:cNvPr id="683" name="Google Shape;130;p7"/>
          <p:cNvCxnSpPr/>
          <p:nvPr/>
        </p:nvCxnSpPr>
        <p:spPr>
          <a:xfrm>
            <a:off x="1890863" y="838920"/>
            <a:ext cx="309353" cy="0"/>
          </a:xfrm>
          <a:prstGeom prst="straightConnector1">
            <a:avLst/>
          </a:prstGeom>
          <a:noFill/>
          <a:ln w="15225" cap="flat" cmpd="sng">
            <a:solidFill>
              <a:srgbClr val="252B32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684" name="Google Shape;131;p7"/>
          <p:cNvSpPr/>
          <p:nvPr/>
        </p:nvSpPr>
        <p:spPr>
          <a:xfrm>
            <a:off x="4537089" y="632631"/>
            <a:ext cx="472744" cy="472744"/>
          </a:xfrm>
          <a:prstGeom prst="rect">
            <a:avLst/>
          </a:prstGeom>
          <a:solidFill>
            <a:srgbClr val="E7EBF0"/>
          </a:solidFill>
          <a:ln w="9525" cap="flat" cmpd="sng">
            <a:solidFill>
              <a:srgbClr val="9BA6B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85" name="Google Shape;132;p7"/>
          <p:cNvSpPr/>
          <p:nvPr/>
        </p:nvSpPr>
        <p:spPr>
          <a:xfrm>
            <a:off x="4502708" y="598250"/>
            <a:ext cx="472744" cy="472744"/>
          </a:xfrm>
          <a:prstGeom prst="rect">
            <a:avLst/>
          </a:prstGeom>
          <a:solidFill>
            <a:srgbClr val="E7EBF0"/>
          </a:solidFill>
          <a:ln w="9525" cap="flat" cmpd="sng">
            <a:solidFill>
              <a:srgbClr val="9BA6B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86" name="Google Shape;133;p7"/>
          <p:cNvSpPr/>
          <p:nvPr/>
        </p:nvSpPr>
        <p:spPr>
          <a:xfrm>
            <a:off x="4468326" y="563868"/>
            <a:ext cx="472744" cy="472744"/>
          </a:xfrm>
          <a:prstGeom prst="rect">
            <a:avLst/>
          </a:prstGeom>
          <a:solidFill>
            <a:srgbClr val="E7EBF0"/>
          </a:solidFill>
          <a:ln w="9525" cap="flat" cmpd="sng">
            <a:solidFill>
              <a:srgbClr val="9BA6B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87" name="Google Shape;134;p7"/>
          <p:cNvSpPr/>
          <p:nvPr/>
        </p:nvSpPr>
        <p:spPr>
          <a:xfrm>
            <a:off x="4489814" y="585357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88" name="Google Shape;135;p7"/>
          <p:cNvSpPr/>
          <p:nvPr/>
        </p:nvSpPr>
        <p:spPr>
          <a:xfrm>
            <a:off x="4575767" y="585357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89" name="Google Shape;136;p7"/>
          <p:cNvSpPr/>
          <p:nvPr/>
        </p:nvSpPr>
        <p:spPr>
          <a:xfrm>
            <a:off x="4661722" y="585357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90" name="Google Shape;137;p7"/>
          <p:cNvSpPr/>
          <p:nvPr/>
        </p:nvSpPr>
        <p:spPr>
          <a:xfrm>
            <a:off x="4747675" y="585357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91" name="Google Shape;138;p7"/>
          <p:cNvSpPr/>
          <p:nvPr/>
        </p:nvSpPr>
        <p:spPr>
          <a:xfrm>
            <a:off x="4833629" y="585357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92" name="Google Shape;139;p7"/>
          <p:cNvSpPr/>
          <p:nvPr/>
        </p:nvSpPr>
        <p:spPr>
          <a:xfrm>
            <a:off x="4489814" y="671309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93" name="Google Shape;140;p7"/>
          <p:cNvSpPr/>
          <p:nvPr/>
        </p:nvSpPr>
        <p:spPr>
          <a:xfrm>
            <a:off x="4575767" y="671309"/>
            <a:ext cx="75638" cy="75638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94" name="Google Shape;141;p7"/>
          <p:cNvSpPr/>
          <p:nvPr/>
        </p:nvSpPr>
        <p:spPr>
          <a:xfrm>
            <a:off x="4661722" y="671309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95" name="Google Shape;142;p7"/>
          <p:cNvSpPr/>
          <p:nvPr/>
        </p:nvSpPr>
        <p:spPr>
          <a:xfrm>
            <a:off x="4747675" y="671309"/>
            <a:ext cx="75638" cy="75638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96" name="Google Shape;143;p7"/>
          <p:cNvSpPr/>
          <p:nvPr/>
        </p:nvSpPr>
        <p:spPr>
          <a:xfrm>
            <a:off x="4833629" y="671309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97" name="Google Shape;144;p7"/>
          <p:cNvSpPr/>
          <p:nvPr/>
        </p:nvSpPr>
        <p:spPr>
          <a:xfrm>
            <a:off x="4489814" y="757263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98" name="Google Shape;145;p7"/>
          <p:cNvSpPr/>
          <p:nvPr/>
        </p:nvSpPr>
        <p:spPr>
          <a:xfrm>
            <a:off x="4575767" y="757263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99" name="Google Shape;146;p7"/>
          <p:cNvSpPr/>
          <p:nvPr/>
        </p:nvSpPr>
        <p:spPr>
          <a:xfrm>
            <a:off x="4661722" y="757263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00" name="Google Shape;147;p7"/>
          <p:cNvSpPr/>
          <p:nvPr/>
        </p:nvSpPr>
        <p:spPr>
          <a:xfrm>
            <a:off x="4747675" y="757263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01" name="Google Shape;148;p7"/>
          <p:cNvSpPr/>
          <p:nvPr/>
        </p:nvSpPr>
        <p:spPr>
          <a:xfrm>
            <a:off x="4833629" y="757263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02" name="Google Shape;149;p7"/>
          <p:cNvSpPr/>
          <p:nvPr/>
        </p:nvSpPr>
        <p:spPr>
          <a:xfrm>
            <a:off x="4489814" y="843215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03" name="Google Shape;150;p7"/>
          <p:cNvSpPr/>
          <p:nvPr/>
        </p:nvSpPr>
        <p:spPr>
          <a:xfrm>
            <a:off x="4575767" y="843215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04" name="Google Shape;151;p7"/>
          <p:cNvSpPr/>
          <p:nvPr/>
        </p:nvSpPr>
        <p:spPr>
          <a:xfrm>
            <a:off x="4661722" y="843215"/>
            <a:ext cx="75638" cy="75638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05" name="Google Shape;152;p7"/>
          <p:cNvSpPr/>
          <p:nvPr/>
        </p:nvSpPr>
        <p:spPr>
          <a:xfrm>
            <a:off x="4747675" y="843215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06" name="Google Shape;153;p7"/>
          <p:cNvSpPr/>
          <p:nvPr/>
        </p:nvSpPr>
        <p:spPr>
          <a:xfrm>
            <a:off x="4833629" y="843215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07" name="Google Shape;154;p7"/>
          <p:cNvSpPr/>
          <p:nvPr/>
        </p:nvSpPr>
        <p:spPr>
          <a:xfrm>
            <a:off x="4489814" y="929171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08" name="Google Shape;155;p7"/>
          <p:cNvSpPr/>
          <p:nvPr/>
        </p:nvSpPr>
        <p:spPr>
          <a:xfrm>
            <a:off x="4575767" y="929171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09" name="Google Shape;156;p7"/>
          <p:cNvSpPr/>
          <p:nvPr/>
        </p:nvSpPr>
        <p:spPr>
          <a:xfrm>
            <a:off x="4661722" y="929171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10" name="Google Shape;157;p7"/>
          <p:cNvSpPr/>
          <p:nvPr/>
        </p:nvSpPr>
        <p:spPr>
          <a:xfrm>
            <a:off x="4747675" y="929171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11" name="Google Shape;158;p7"/>
          <p:cNvSpPr/>
          <p:nvPr/>
        </p:nvSpPr>
        <p:spPr>
          <a:xfrm>
            <a:off x="4833629" y="929171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12" name="Google Shape;159;p7"/>
          <p:cNvSpPr txBox="1"/>
          <p:nvPr/>
        </p:nvSpPr>
        <p:spPr>
          <a:xfrm>
            <a:off x="4330801" y="1165542"/>
            <a:ext cx="850940" cy="2922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252B32"/>
                </a:solidFill>
                <a:latin typeface="Comic Sans MS" panose="030F0702030302020204"/>
              </a:rPr>
              <a:t>Frozen patch
features</a:t>
            </a:r>
            <a:endParaRPr sz="920" b="0">
              <a:solidFill>
                <a:srgbClr val="252B32"/>
              </a:solidFill>
              <a:latin typeface="Arial" panose="020B0704020202020204"/>
            </a:endParaRPr>
          </a:p>
        </p:txBody>
      </p:sp>
      <p:cxnSp>
        <p:nvCxnSpPr>
          <p:cNvPr id="713" name="Google Shape;160;p7"/>
          <p:cNvCxnSpPr/>
          <p:nvPr/>
        </p:nvCxnSpPr>
        <p:spPr>
          <a:xfrm>
            <a:off x="5155955" y="838920"/>
            <a:ext cx="309432" cy="0"/>
          </a:xfrm>
          <a:prstGeom prst="straightConnector1">
            <a:avLst/>
          </a:prstGeom>
          <a:noFill/>
          <a:ln w="15225" cap="flat" cmpd="sng">
            <a:solidFill>
              <a:srgbClr val="252B32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14" name="Google Shape;161;p7"/>
          <p:cNvSpPr/>
          <p:nvPr/>
        </p:nvSpPr>
        <p:spPr>
          <a:xfrm>
            <a:off x="8353369" y="632631"/>
            <a:ext cx="472744" cy="472744"/>
          </a:xfrm>
          <a:prstGeom prst="rect">
            <a:avLst/>
          </a:prstGeom>
          <a:solidFill>
            <a:srgbClr val="E7EBF0"/>
          </a:solidFill>
          <a:ln w="9525" cap="flat" cmpd="sng">
            <a:solidFill>
              <a:srgbClr val="9BA6B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15" name="Google Shape;162;p7"/>
          <p:cNvSpPr/>
          <p:nvPr/>
        </p:nvSpPr>
        <p:spPr>
          <a:xfrm>
            <a:off x="8318988" y="598250"/>
            <a:ext cx="472744" cy="472744"/>
          </a:xfrm>
          <a:prstGeom prst="rect">
            <a:avLst/>
          </a:prstGeom>
          <a:solidFill>
            <a:srgbClr val="E7EBF0"/>
          </a:solidFill>
          <a:ln w="9525" cap="flat" cmpd="sng">
            <a:solidFill>
              <a:srgbClr val="9BA6B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16" name="Google Shape;163;p7"/>
          <p:cNvSpPr/>
          <p:nvPr/>
        </p:nvSpPr>
        <p:spPr>
          <a:xfrm>
            <a:off x="8284606" y="563868"/>
            <a:ext cx="472744" cy="472744"/>
          </a:xfrm>
          <a:prstGeom prst="rect">
            <a:avLst/>
          </a:prstGeom>
          <a:solidFill>
            <a:srgbClr val="E7EBF0"/>
          </a:solidFill>
          <a:ln w="9525" cap="flat" cmpd="sng">
            <a:solidFill>
              <a:srgbClr val="9BA6B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17" name="Google Shape;164;p7"/>
          <p:cNvSpPr/>
          <p:nvPr/>
        </p:nvSpPr>
        <p:spPr>
          <a:xfrm>
            <a:off x="8306095" y="585357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18" name="Google Shape;165;p7"/>
          <p:cNvSpPr/>
          <p:nvPr/>
        </p:nvSpPr>
        <p:spPr>
          <a:xfrm>
            <a:off x="8392048" y="585357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19" name="Google Shape;166;p7"/>
          <p:cNvSpPr/>
          <p:nvPr/>
        </p:nvSpPr>
        <p:spPr>
          <a:xfrm>
            <a:off x="8478002" y="585357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20" name="Google Shape;167;p7"/>
          <p:cNvSpPr/>
          <p:nvPr/>
        </p:nvSpPr>
        <p:spPr>
          <a:xfrm>
            <a:off x="8563956" y="585357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21" name="Google Shape;168;p7"/>
          <p:cNvSpPr/>
          <p:nvPr/>
        </p:nvSpPr>
        <p:spPr>
          <a:xfrm>
            <a:off x="8649909" y="585357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22" name="Google Shape;169;p7"/>
          <p:cNvSpPr/>
          <p:nvPr/>
        </p:nvSpPr>
        <p:spPr>
          <a:xfrm>
            <a:off x="8306095" y="671309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23" name="Google Shape;170;p7"/>
          <p:cNvSpPr/>
          <p:nvPr/>
        </p:nvSpPr>
        <p:spPr>
          <a:xfrm>
            <a:off x="8392048" y="671309"/>
            <a:ext cx="75638" cy="75638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24" name="Google Shape;171;p7"/>
          <p:cNvSpPr/>
          <p:nvPr/>
        </p:nvSpPr>
        <p:spPr>
          <a:xfrm>
            <a:off x="8478002" y="671309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25" name="Google Shape;172;p7"/>
          <p:cNvSpPr/>
          <p:nvPr/>
        </p:nvSpPr>
        <p:spPr>
          <a:xfrm>
            <a:off x="8563956" y="671309"/>
            <a:ext cx="75638" cy="75638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26" name="Google Shape;173;p7"/>
          <p:cNvSpPr/>
          <p:nvPr/>
        </p:nvSpPr>
        <p:spPr>
          <a:xfrm>
            <a:off x="8649909" y="671309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27" name="Google Shape;174;p7"/>
          <p:cNvSpPr/>
          <p:nvPr/>
        </p:nvSpPr>
        <p:spPr>
          <a:xfrm>
            <a:off x="8306095" y="757263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28" name="Google Shape;175;p7"/>
          <p:cNvSpPr/>
          <p:nvPr/>
        </p:nvSpPr>
        <p:spPr>
          <a:xfrm>
            <a:off x="8392048" y="757263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29" name="Google Shape;176;p7"/>
          <p:cNvSpPr/>
          <p:nvPr/>
        </p:nvSpPr>
        <p:spPr>
          <a:xfrm>
            <a:off x="8478002" y="757263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30" name="Google Shape;177;p7"/>
          <p:cNvSpPr/>
          <p:nvPr/>
        </p:nvSpPr>
        <p:spPr>
          <a:xfrm>
            <a:off x="8563956" y="757263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31" name="Google Shape;178;p7"/>
          <p:cNvSpPr/>
          <p:nvPr/>
        </p:nvSpPr>
        <p:spPr>
          <a:xfrm>
            <a:off x="8649909" y="757263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32" name="Google Shape;179;p7"/>
          <p:cNvSpPr/>
          <p:nvPr/>
        </p:nvSpPr>
        <p:spPr>
          <a:xfrm>
            <a:off x="8306095" y="843215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33" name="Google Shape;180;p7"/>
          <p:cNvSpPr/>
          <p:nvPr/>
        </p:nvSpPr>
        <p:spPr>
          <a:xfrm>
            <a:off x="8392048" y="843215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34" name="Google Shape;181;p7"/>
          <p:cNvSpPr/>
          <p:nvPr/>
        </p:nvSpPr>
        <p:spPr>
          <a:xfrm>
            <a:off x="8478002" y="843215"/>
            <a:ext cx="75638" cy="75638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35" name="Google Shape;182;p7"/>
          <p:cNvSpPr/>
          <p:nvPr/>
        </p:nvSpPr>
        <p:spPr>
          <a:xfrm>
            <a:off x="8563956" y="843215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36" name="Google Shape;183;p7"/>
          <p:cNvSpPr/>
          <p:nvPr/>
        </p:nvSpPr>
        <p:spPr>
          <a:xfrm>
            <a:off x="8649909" y="843215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37" name="Google Shape;184;p7"/>
          <p:cNvSpPr/>
          <p:nvPr/>
        </p:nvSpPr>
        <p:spPr>
          <a:xfrm>
            <a:off x="8306095" y="929171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38" name="Google Shape;185;p7"/>
          <p:cNvSpPr/>
          <p:nvPr/>
        </p:nvSpPr>
        <p:spPr>
          <a:xfrm>
            <a:off x="8392048" y="929171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39" name="Google Shape;186;p7"/>
          <p:cNvSpPr/>
          <p:nvPr/>
        </p:nvSpPr>
        <p:spPr>
          <a:xfrm>
            <a:off x="8478002" y="929171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40" name="Google Shape;187;p7"/>
          <p:cNvSpPr/>
          <p:nvPr/>
        </p:nvSpPr>
        <p:spPr>
          <a:xfrm>
            <a:off x="8563956" y="929171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41" name="Google Shape;188;p7"/>
          <p:cNvSpPr/>
          <p:nvPr/>
        </p:nvSpPr>
        <p:spPr>
          <a:xfrm>
            <a:off x="8649909" y="929171"/>
            <a:ext cx="75638" cy="75638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42" name="Google Shape;189;p7"/>
          <p:cNvSpPr txBox="1"/>
          <p:nvPr/>
        </p:nvSpPr>
        <p:spPr>
          <a:xfrm>
            <a:off x="8147081" y="1165542"/>
            <a:ext cx="850940" cy="2922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252B32"/>
                </a:solidFill>
                <a:latin typeface="Comic Sans MS" panose="030F0702030302020204"/>
              </a:rPr>
              <a:t>Frozen patch
features</a:t>
            </a:r>
            <a:endParaRPr sz="920" b="0">
              <a:solidFill>
                <a:srgbClr val="252B32"/>
              </a:solidFill>
              <a:latin typeface="Arial" panose="020B0704020202020204"/>
            </a:endParaRPr>
          </a:p>
        </p:txBody>
      </p:sp>
      <p:cxnSp>
        <p:nvCxnSpPr>
          <p:cNvPr id="743" name="Google Shape;190;p7"/>
          <p:cNvCxnSpPr/>
          <p:nvPr/>
        </p:nvCxnSpPr>
        <p:spPr>
          <a:xfrm>
            <a:off x="8972235" y="838920"/>
            <a:ext cx="309432" cy="0"/>
          </a:xfrm>
          <a:prstGeom prst="straightConnector1">
            <a:avLst/>
          </a:prstGeom>
          <a:noFill/>
          <a:ln w="15225" cap="flat" cmpd="sng">
            <a:solidFill>
              <a:srgbClr val="252B32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44" name="Google Shape;191;p7"/>
          <p:cNvSpPr/>
          <p:nvPr/>
        </p:nvSpPr>
        <p:spPr>
          <a:xfrm>
            <a:off x="2369884" y="546677"/>
            <a:ext cx="988410" cy="541440"/>
          </a:xfrm>
          <a:prstGeom prst="rect">
            <a:avLst/>
          </a:prstGeom>
          <a:solidFill>
            <a:srgbClr val="FFFFFF"/>
          </a:solidFill>
          <a:ln w="10150" cap="flat" cmpd="sng">
            <a:solidFill>
              <a:srgbClr val="B8C0C9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45" name="Google Shape;192;p7"/>
          <p:cNvSpPr/>
          <p:nvPr/>
        </p:nvSpPr>
        <p:spPr>
          <a:xfrm>
            <a:off x="2516005" y="727180"/>
            <a:ext cx="90240" cy="90240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46" name="Google Shape;193;p7"/>
          <p:cNvSpPr/>
          <p:nvPr/>
        </p:nvSpPr>
        <p:spPr>
          <a:xfrm>
            <a:off x="2644936" y="649822"/>
            <a:ext cx="90240" cy="90240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47" name="Google Shape;194;p7"/>
          <p:cNvSpPr/>
          <p:nvPr/>
        </p:nvSpPr>
        <p:spPr>
          <a:xfrm>
            <a:off x="3023131" y="684203"/>
            <a:ext cx="90240" cy="90240"/>
          </a:xfrm>
          <a:prstGeom prst="rect">
            <a:avLst/>
          </a:prstGeom>
          <a:solidFill>
            <a:srgbClr val="B8865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48" name="Google Shape;195;p7"/>
          <p:cNvSpPr/>
          <p:nvPr/>
        </p:nvSpPr>
        <p:spPr>
          <a:xfrm>
            <a:off x="3126276" y="778752"/>
            <a:ext cx="90240" cy="90240"/>
          </a:xfrm>
          <a:prstGeom prst="rect">
            <a:avLst/>
          </a:prstGeom>
          <a:solidFill>
            <a:srgbClr val="B8865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49" name="Google Shape;196;p7"/>
          <p:cNvSpPr/>
          <p:nvPr/>
        </p:nvSpPr>
        <p:spPr>
          <a:xfrm>
            <a:off x="2765271" y="942064"/>
            <a:ext cx="90240" cy="90240"/>
          </a:xfrm>
          <a:prstGeom prst="rect">
            <a:avLst/>
          </a:prstGeom>
          <a:solidFill>
            <a:srgbClr val="9980B7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50" name="Google Shape;197;p7"/>
          <p:cNvSpPr/>
          <p:nvPr/>
        </p:nvSpPr>
        <p:spPr>
          <a:xfrm>
            <a:off x="2894201" y="881896"/>
            <a:ext cx="90240" cy="90240"/>
          </a:xfrm>
          <a:prstGeom prst="rect">
            <a:avLst/>
          </a:prstGeom>
          <a:solidFill>
            <a:srgbClr val="9980B7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51" name="Google Shape;199;p7"/>
          <p:cNvSpPr/>
          <p:nvPr/>
        </p:nvSpPr>
        <p:spPr>
          <a:xfrm>
            <a:off x="5628700" y="546677"/>
            <a:ext cx="498530" cy="49853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4CAD2"/>
            </a:solidFill>
            <a:prstDash val="solid"/>
            <a:miter lim="0"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52" name="Google Shape;200;p7"/>
          <p:cNvSpPr/>
          <p:nvPr/>
        </p:nvSpPr>
        <p:spPr>
          <a:xfrm>
            <a:off x="5692613" y="642548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53" name="Google Shape;201;p7"/>
          <p:cNvSpPr/>
          <p:nvPr/>
        </p:nvSpPr>
        <p:spPr>
          <a:xfrm>
            <a:off x="5788485" y="725635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54" name="Google Shape;202;p7"/>
          <p:cNvSpPr/>
          <p:nvPr/>
        </p:nvSpPr>
        <p:spPr>
          <a:xfrm>
            <a:off x="5699005" y="719245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55" name="Google Shape;203;p7"/>
          <p:cNvSpPr/>
          <p:nvPr/>
        </p:nvSpPr>
        <p:spPr>
          <a:xfrm>
            <a:off x="5782094" y="636156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56" name="Google Shape;204;p7"/>
          <p:cNvSpPr/>
          <p:nvPr/>
        </p:nvSpPr>
        <p:spPr>
          <a:xfrm>
            <a:off x="5724571" y="661721"/>
            <a:ext cx="44739" cy="4473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31E2E"/>
            </a:solidFill>
            <a:prstDash val="solid"/>
            <a:miter lim="0"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57" name="Google Shape;205;p7"/>
          <p:cNvSpPr/>
          <p:nvPr/>
        </p:nvSpPr>
        <p:spPr>
          <a:xfrm>
            <a:off x="5909923" y="687288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58" name="Google Shape;206;p7"/>
          <p:cNvSpPr/>
          <p:nvPr/>
        </p:nvSpPr>
        <p:spPr>
          <a:xfrm>
            <a:off x="6005794" y="770376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59" name="Google Shape;207;p7"/>
          <p:cNvSpPr/>
          <p:nvPr/>
        </p:nvSpPr>
        <p:spPr>
          <a:xfrm>
            <a:off x="5916314" y="763984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0" name="Google Shape;208;p7"/>
          <p:cNvSpPr/>
          <p:nvPr/>
        </p:nvSpPr>
        <p:spPr>
          <a:xfrm>
            <a:off x="5999401" y="680897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1" name="Google Shape;209;p7"/>
          <p:cNvSpPr/>
          <p:nvPr/>
        </p:nvSpPr>
        <p:spPr>
          <a:xfrm>
            <a:off x="5941880" y="706462"/>
            <a:ext cx="44739" cy="4473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31E2E"/>
            </a:solidFill>
            <a:prstDash val="solid"/>
            <a:miter lim="0"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2" name="Google Shape;210;p7"/>
          <p:cNvSpPr/>
          <p:nvPr/>
        </p:nvSpPr>
        <p:spPr>
          <a:xfrm>
            <a:off x="5788485" y="872639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3" name="Google Shape;211;p7"/>
          <p:cNvSpPr/>
          <p:nvPr/>
        </p:nvSpPr>
        <p:spPr>
          <a:xfrm>
            <a:off x="5884356" y="955728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4" name="Google Shape;212;p7"/>
          <p:cNvSpPr/>
          <p:nvPr/>
        </p:nvSpPr>
        <p:spPr>
          <a:xfrm>
            <a:off x="5794877" y="949337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5" name="Google Shape;213;p7"/>
          <p:cNvSpPr/>
          <p:nvPr/>
        </p:nvSpPr>
        <p:spPr>
          <a:xfrm>
            <a:off x="5877965" y="866247"/>
            <a:ext cx="19174" cy="19174"/>
          </a:xfrm>
          <a:prstGeom prst="rect">
            <a:avLst/>
          </a:prstGeom>
          <a:solidFill>
            <a:srgbClr val="9CA6B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6" name="Google Shape;214;p7"/>
          <p:cNvSpPr/>
          <p:nvPr/>
        </p:nvSpPr>
        <p:spPr>
          <a:xfrm>
            <a:off x="5820442" y="891813"/>
            <a:ext cx="44739" cy="4473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31E2E"/>
            </a:solidFill>
            <a:prstDash val="solid"/>
            <a:miter lim="0"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7" name="Google Shape;215;p7"/>
          <p:cNvSpPr txBox="1"/>
          <p:nvPr/>
        </p:nvSpPr>
        <p:spPr>
          <a:xfrm>
            <a:off x="5516960" y="1079590"/>
            <a:ext cx="722010" cy="12893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2B2B2B"/>
                </a:solidFill>
                <a:latin typeface="Comic Sans MS" panose="030F0702030302020204"/>
                <a:ea typeface="Arial" panose="020B0704020202020204"/>
                <a:cs typeface="Arial" panose="020B0704020202020204"/>
                <a:sym typeface="Arial" panose="020B0704020202020204"/>
              </a:rPr>
              <a:t>Codebook</a:t>
            </a:r>
            <a:endParaRPr lang="en-US" sz="720" b="0" i="0" u="none" strike="noStrike" cap="none">
              <a:solidFill>
                <a:srgbClr val="75808D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8" name="Google Shape;216;p7"/>
          <p:cNvSpPr/>
          <p:nvPr/>
        </p:nvSpPr>
        <p:spPr>
          <a:xfrm>
            <a:off x="6299138" y="546677"/>
            <a:ext cx="498530" cy="49853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4CAD2"/>
            </a:solidFill>
            <a:prstDash val="solid"/>
            <a:miter lim="0"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9" name="Google Shape;217;p7"/>
          <p:cNvSpPr/>
          <p:nvPr/>
        </p:nvSpPr>
        <p:spPr>
          <a:xfrm>
            <a:off x="6343878" y="591417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70" name="Google Shape;218;p7"/>
          <p:cNvSpPr/>
          <p:nvPr/>
        </p:nvSpPr>
        <p:spPr>
          <a:xfrm>
            <a:off x="6426967" y="591417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71" name="Google Shape;219;p7"/>
          <p:cNvSpPr/>
          <p:nvPr/>
        </p:nvSpPr>
        <p:spPr>
          <a:xfrm>
            <a:off x="6510055" y="591417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72" name="Google Shape;220;p7"/>
          <p:cNvSpPr/>
          <p:nvPr/>
        </p:nvSpPr>
        <p:spPr>
          <a:xfrm>
            <a:off x="6593144" y="591417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73" name="Google Shape;221;p7"/>
          <p:cNvSpPr/>
          <p:nvPr/>
        </p:nvSpPr>
        <p:spPr>
          <a:xfrm>
            <a:off x="6676232" y="591417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74" name="Google Shape;222;p7"/>
          <p:cNvSpPr/>
          <p:nvPr/>
        </p:nvSpPr>
        <p:spPr>
          <a:xfrm>
            <a:off x="6343878" y="674505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75" name="Google Shape;223;p7"/>
          <p:cNvSpPr/>
          <p:nvPr/>
        </p:nvSpPr>
        <p:spPr>
          <a:xfrm>
            <a:off x="6426967" y="674505"/>
            <a:ext cx="74139" cy="74139"/>
          </a:xfrm>
          <a:prstGeom prst="rect">
            <a:avLst/>
          </a:prstGeom>
          <a:solidFill>
            <a:srgbClr val="B88A5E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76" name="Google Shape;224;p7"/>
          <p:cNvSpPr/>
          <p:nvPr/>
        </p:nvSpPr>
        <p:spPr>
          <a:xfrm>
            <a:off x="6510055" y="674505"/>
            <a:ext cx="74139" cy="74139"/>
          </a:xfrm>
          <a:prstGeom prst="rect">
            <a:avLst/>
          </a:prstGeom>
          <a:solidFill>
            <a:srgbClr val="B88A5E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77" name="Google Shape;225;p7"/>
          <p:cNvSpPr/>
          <p:nvPr/>
        </p:nvSpPr>
        <p:spPr>
          <a:xfrm>
            <a:off x="6593144" y="674505"/>
            <a:ext cx="74139" cy="74139"/>
          </a:xfrm>
          <a:prstGeom prst="rect">
            <a:avLst/>
          </a:prstGeom>
          <a:solidFill>
            <a:srgbClr val="B88A5E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78" name="Google Shape;226;p7"/>
          <p:cNvSpPr/>
          <p:nvPr/>
        </p:nvSpPr>
        <p:spPr>
          <a:xfrm>
            <a:off x="6676232" y="674505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79" name="Google Shape;227;p7"/>
          <p:cNvSpPr/>
          <p:nvPr/>
        </p:nvSpPr>
        <p:spPr>
          <a:xfrm>
            <a:off x="6343878" y="757594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80" name="Google Shape;228;p7"/>
          <p:cNvSpPr/>
          <p:nvPr/>
        </p:nvSpPr>
        <p:spPr>
          <a:xfrm>
            <a:off x="6426967" y="757594"/>
            <a:ext cx="74139" cy="74139"/>
          </a:xfrm>
          <a:prstGeom prst="rect">
            <a:avLst/>
          </a:prstGeom>
          <a:solidFill>
            <a:srgbClr val="B88A5E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81" name="Google Shape;229;p7"/>
          <p:cNvSpPr/>
          <p:nvPr/>
        </p:nvSpPr>
        <p:spPr>
          <a:xfrm>
            <a:off x="6510055" y="757594"/>
            <a:ext cx="74139" cy="74139"/>
          </a:xfrm>
          <a:prstGeom prst="rect">
            <a:avLst/>
          </a:prstGeom>
          <a:solidFill>
            <a:srgbClr val="B88A5E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82" name="Google Shape;230;p7"/>
          <p:cNvSpPr/>
          <p:nvPr/>
        </p:nvSpPr>
        <p:spPr>
          <a:xfrm>
            <a:off x="6593144" y="757594"/>
            <a:ext cx="74139" cy="74139"/>
          </a:xfrm>
          <a:prstGeom prst="rect">
            <a:avLst/>
          </a:prstGeom>
          <a:solidFill>
            <a:srgbClr val="B88A5E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83" name="Google Shape;231;p7"/>
          <p:cNvSpPr/>
          <p:nvPr/>
        </p:nvSpPr>
        <p:spPr>
          <a:xfrm>
            <a:off x="6676232" y="757594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84" name="Google Shape;232;p7"/>
          <p:cNvSpPr/>
          <p:nvPr/>
        </p:nvSpPr>
        <p:spPr>
          <a:xfrm>
            <a:off x="6343878" y="840682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85" name="Google Shape;233;p7"/>
          <p:cNvSpPr/>
          <p:nvPr/>
        </p:nvSpPr>
        <p:spPr>
          <a:xfrm>
            <a:off x="6426967" y="840682"/>
            <a:ext cx="74139" cy="74139"/>
          </a:xfrm>
          <a:prstGeom prst="rect">
            <a:avLst/>
          </a:prstGeom>
          <a:solidFill>
            <a:srgbClr val="B88A5E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86" name="Google Shape;234;p7"/>
          <p:cNvSpPr/>
          <p:nvPr/>
        </p:nvSpPr>
        <p:spPr>
          <a:xfrm>
            <a:off x="6510055" y="840682"/>
            <a:ext cx="74139" cy="74139"/>
          </a:xfrm>
          <a:prstGeom prst="rect">
            <a:avLst/>
          </a:prstGeom>
          <a:solidFill>
            <a:srgbClr val="B88A5E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87" name="Google Shape;235;p7"/>
          <p:cNvSpPr/>
          <p:nvPr/>
        </p:nvSpPr>
        <p:spPr>
          <a:xfrm>
            <a:off x="6593144" y="840682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88" name="Google Shape;236;p7"/>
          <p:cNvSpPr/>
          <p:nvPr/>
        </p:nvSpPr>
        <p:spPr>
          <a:xfrm>
            <a:off x="6676232" y="840682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89" name="Google Shape;237;p7"/>
          <p:cNvSpPr/>
          <p:nvPr/>
        </p:nvSpPr>
        <p:spPr>
          <a:xfrm>
            <a:off x="6343878" y="923772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90" name="Google Shape;238;p7"/>
          <p:cNvSpPr/>
          <p:nvPr/>
        </p:nvSpPr>
        <p:spPr>
          <a:xfrm>
            <a:off x="6426967" y="923772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91" name="Google Shape;239;p7"/>
          <p:cNvSpPr/>
          <p:nvPr/>
        </p:nvSpPr>
        <p:spPr>
          <a:xfrm>
            <a:off x="6510055" y="923772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92" name="Google Shape;240;p7"/>
          <p:cNvSpPr/>
          <p:nvPr/>
        </p:nvSpPr>
        <p:spPr>
          <a:xfrm>
            <a:off x="6593144" y="923772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93" name="Google Shape;241;p7"/>
          <p:cNvSpPr/>
          <p:nvPr/>
        </p:nvSpPr>
        <p:spPr>
          <a:xfrm>
            <a:off x="6676232" y="923772"/>
            <a:ext cx="74139" cy="74139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94" name="Google Shape;242;p7"/>
          <p:cNvSpPr txBox="1"/>
          <p:nvPr/>
        </p:nvSpPr>
        <p:spPr>
          <a:xfrm>
            <a:off x="6187398" y="1079590"/>
            <a:ext cx="722010" cy="12893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>
                <a:solidFill>
                  <a:srgbClr val="2B2B2B"/>
                </a:solidFill>
                <a:latin typeface="Comic Sans MS" panose="030F0702030302020204"/>
              </a:rPr>
              <a:t>Segmentation</a:t>
            </a:r>
            <a:endParaRPr sz="720" b="0">
              <a:solidFill>
                <a:srgbClr val="75808D"/>
              </a:solidFill>
              <a:latin typeface="Arial" panose="020B0704020202020204"/>
            </a:endParaRPr>
          </a:p>
        </p:txBody>
      </p:sp>
      <p:sp>
        <p:nvSpPr>
          <p:cNvPr id="795" name="Google Shape;243;p7"/>
          <p:cNvSpPr/>
          <p:nvPr/>
        </p:nvSpPr>
        <p:spPr>
          <a:xfrm>
            <a:off x="6969576" y="546677"/>
            <a:ext cx="498530" cy="49853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4CAD2"/>
            </a:solidFill>
            <a:prstDash val="solid"/>
            <a:miter lim="0"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96" name="Google Shape;244;p7"/>
          <p:cNvSpPr/>
          <p:nvPr/>
        </p:nvSpPr>
        <p:spPr>
          <a:xfrm>
            <a:off x="7014315" y="591417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97" name="Google Shape;245;p7"/>
          <p:cNvSpPr/>
          <p:nvPr/>
        </p:nvSpPr>
        <p:spPr>
          <a:xfrm>
            <a:off x="7097405" y="591417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98" name="Google Shape;246;p7"/>
          <p:cNvSpPr/>
          <p:nvPr/>
        </p:nvSpPr>
        <p:spPr>
          <a:xfrm>
            <a:off x="7180492" y="591417"/>
            <a:ext cx="74139" cy="74139"/>
          </a:xfrm>
          <a:prstGeom prst="rect">
            <a:avLst/>
          </a:prstGeom>
          <a:solidFill>
            <a:srgbClr val="EAC6C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99" name="Google Shape;247;p7"/>
          <p:cNvSpPr/>
          <p:nvPr/>
        </p:nvSpPr>
        <p:spPr>
          <a:xfrm>
            <a:off x="7263581" y="591417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0" name="Google Shape;248;p7"/>
          <p:cNvSpPr/>
          <p:nvPr/>
        </p:nvSpPr>
        <p:spPr>
          <a:xfrm>
            <a:off x="7346670" y="591417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1" name="Google Shape;249;p7"/>
          <p:cNvSpPr/>
          <p:nvPr/>
        </p:nvSpPr>
        <p:spPr>
          <a:xfrm>
            <a:off x="7014315" y="674505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2" name="Google Shape;250;p7"/>
          <p:cNvSpPr/>
          <p:nvPr/>
        </p:nvSpPr>
        <p:spPr>
          <a:xfrm>
            <a:off x="7097405" y="674505"/>
            <a:ext cx="74139" cy="74139"/>
          </a:xfrm>
          <a:prstGeom prst="rect">
            <a:avLst/>
          </a:prstGeom>
          <a:solidFill>
            <a:srgbClr val="EAC6C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3" name="Google Shape;251;p7"/>
          <p:cNvSpPr/>
          <p:nvPr/>
        </p:nvSpPr>
        <p:spPr>
          <a:xfrm>
            <a:off x="7180492" y="674505"/>
            <a:ext cx="74139" cy="74139"/>
          </a:xfrm>
          <a:prstGeom prst="rect">
            <a:avLst/>
          </a:prstGeom>
          <a:solidFill>
            <a:srgbClr val="D79AA6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4" name="Google Shape;252;p7"/>
          <p:cNvSpPr/>
          <p:nvPr/>
        </p:nvSpPr>
        <p:spPr>
          <a:xfrm>
            <a:off x="7263581" y="674505"/>
            <a:ext cx="74139" cy="74139"/>
          </a:xfrm>
          <a:prstGeom prst="rect">
            <a:avLst/>
          </a:prstGeom>
          <a:solidFill>
            <a:srgbClr val="EAC6C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5" name="Google Shape;253;p7"/>
          <p:cNvSpPr/>
          <p:nvPr/>
        </p:nvSpPr>
        <p:spPr>
          <a:xfrm>
            <a:off x="7346670" y="674505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6" name="Google Shape;254;p7"/>
          <p:cNvSpPr/>
          <p:nvPr/>
        </p:nvSpPr>
        <p:spPr>
          <a:xfrm>
            <a:off x="7014315" y="757594"/>
            <a:ext cx="74139" cy="74139"/>
          </a:xfrm>
          <a:prstGeom prst="rect">
            <a:avLst/>
          </a:prstGeom>
          <a:solidFill>
            <a:srgbClr val="EAC6C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7" name="Google Shape;255;p7"/>
          <p:cNvSpPr/>
          <p:nvPr/>
        </p:nvSpPr>
        <p:spPr>
          <a:xfrm>
            <a:off x="7097405" y="757594"/>
            <a:ext cx="74139" cy="74139"/>
          </a:xfrm>
          <a:prstGeom prst="rect">
            <a:avLst/>
          </a:prstGeom>
          <a:solidFill>
            <a:srgbClr val="D79AA6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8" name="Google Shape;256;p7"/>
          <p:cNvSpPr/>
          <p:nvPr/>
        </p:nvSpPr>
        <p:spPr>
          <a:xfrm>
            <a:off x="7180492" y="757594"/>
            <a:ext cx="74139" cy="74139"/>
          </a:xfrm>
          <a:prstGeom prst="rect">
            <a:avLst/>
          </a:prstGeom>
          <a:solidFill>
            <a:srgbClr val="BE596C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9" name="Google Shape;257;p7"/>
          <p:cNvSpPr/>
          <p:nvPr/>
        </p:nvSpPr>
        <p:spPr>
          <a:xfrm>
            <a:off x="7263581" y="757594"/>
            <a:ext cx="74139" cy="74139"/>
          </a:xfrm>
          <a:prstGeom prst="rect">
            <a:avLst/>
          </a:prstGeom>
          <a:solidFill>
            <a:srgbClr val="D79AA6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10" name="Google Shape;258;p7"/>
          <p:cNvSpPr/>
          <p:nvPr/>
        </p:nvSpPr>
        <p:spPr>
          <a:xfrm>
            <a:off x="7346670" y="757594"/>
            <a:ext cx="74139" cy="74139"/>
          </a:xfrm>
          <a:prstGeom prst="rect">
            <a:avLst/>
          </a:prstGeom>
          <a:solidFill>
            <a:srgbClr val="EAC6C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11" name="Google Shape;259;p7"/>
          <p:cNvSpPr/>
          <p:nvPr/>
        </p:nvSpPr>
        <p:spPr>
          <a:xfrm>
            <a:off x="7014315" y="840682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12" name="Google Shape;260;p7"/>
          <p:cNvSpPr/>
          <p:nvPr/>
        </p:nvSpPr>
        <p:spPr>
          <a:xfrm>
            <a:off x="7097405" y="840682"/>
            <a:ext cx="74139" cy="74139"/>
          </a:xfrm>
          <a:prstGeom prst="rect">
            <a:avLst/>
          </a:prstGeom>
          <a:solidFill>
            <a:srgbClr val="EAC6C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13" name="Google Shape;261;p7"/>
          <p:cNvSpPr/>
          <p:nvPr/>
        </p:nvSpPr>
        <p:spPr>
          <a:xfrm>
            <a:off x="7180492" y="840682"/>
            <a:ext cx="74139" cy="74139"/>
          </a:xfrm>
          <a:prstGeom prst="rect">
            <a:avLst/>
          </a:prstGeom>
          <a:solidFill>
            <a:srgbClr val="D79AA6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14" name="Google Shape;262;p7"/>
          <p:cNvSpPr/>
          <p:nvPr/>
        </p:nvSpPr>
        <p:spPr>
          <a:xfrm>
            <a:off x="7263581" y="840682"/>
            <a:ext cx="74139" cy="74139"/>
          </a:xfrm>
          <a:prstGeom prst="rect">
            <a:avLst/>
          </a:prstGeom>
          <a:solidFill>
            <a:srgbClr val="EAC6C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15" name="Google Shape;263;p7"/>
          <p:cNvSpPr/>
          <p:nvPr/>
        </p:nvSpPr>
        <p:spPr>
          <a:xfrm>
            <a:off x="7346670" y="840682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16" name="Google Shape;264;p7"/>
          <p:cNvSpPr/>
          <p:nvPr/>
        </p:nvSpPr>
        <p:spPr>
          <a:xfrm>
            <a:off x="7014315" y="923772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17" name="Google Shape;265;p7"/>
          <p:cNvSpPr/>
          <p:nvPr/>
        </p:nvSpPr>
        <p:spPr>
          <a:xfrm>
            <a:off x="7097405" y="923772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18" name="Google Shape;266;p7"/>
          <p:cNvSpPr/>
          <p:nvPr/>
        </p:nvSpPr>
        <p:spPr>
          <a:xfrm>
            <a:off x="7180492" y="923772"/>
            <a:ext cx="74139" cy="74139"/>
          </a:xfrm>
          <a:prstGeom prst="rect">
            <a:avLst/>
          </a:prstGeom>
          <a:solidFill>
            <a:srgbClr val="EAC6C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19" name="Google Shape;267;p7"/>
          <p:cNvSpPr/>
          <p:nvPr/>
        </p:nvSpPr>
        <p:spPr>
          <a:xfrm>
            <a:off x="7263581" y="923772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20" name="Google Shape;268;p7"/>
          <p:cNvSpPr/>
          <p:nvPr/>
        </p:nvSpPr>
        <p:spPr>
          <a:xfrm>
            <a:off x="7346670" y="923772"/>
            <a:ext cx="74139" cy="74139"/>
          </a:xfrm>
          <a:prstGeom prst="rect">
            <a:avLst/>
          </a:prstGeom>
          <a:solidFill>
            <a:srgbClr val="F6EA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704020202020204"/>
              <a:buNone/>
            </a:pPr>
            <a:endParaRPr sz="1335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21" name="Google Shape;269;p7"/>
          <p:cNvSpPr txBox="1"/>
          <p:nvPr/>
        </p:nvSpPr>
        <p:spPr>
          <a:xfrm>
            <a:off x="6857835" y="1079590"/>
            <a:ext cx="722010" cy="12893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2B2B2B"/>
                </a:solidFill>
                <a:latin typeface="Comic Sans MS" panose="030F0702030302020204"/>
                <a:ea typeface="Arial" panose="020B0704020202020204"/>
                <a:cs typeface="Arial" panose="020B0704020202020204"/>
                <a:sym typeface="Arial" panose="020B0704020202020204"/>
              </a:rPr>
              <a:t>CLS attention</a:t>
            </a:r>
            <a:endParaRPr lang="en-US" sz="720" b="0" i="0" u="none" strike="noStrike" cap="none">
              <a:solidFill>
                <a:srgbClr val="75808D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22" name="Google Shape;270;p7"/>
          <p:cNvSpPr txBox="1"/>
          <p:nvPr/>
        </p:nvSpPr>
        <p:spPr>
          <a:xfrm>
            <a:off x="5396625" y="1277281"/>
            <a:ext cx="2294961" cy="15471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252B32"/>
                </a:solidFill>
                <a:latin typeface="Comic Sans MS" panose="030F0702030302020204"/>
              </a:rPr>
              <a:t>Prior-selected / aggregated features</a:t>
            </a:r>
            <a:endParaRPr sz="1050" b="1">
              <a:solidFill>
                <a:srgbClr val="252B32"/>
              </a:solidFill>
              <a:latin typeface="Arial" panose="020B0704020202020204"/>
            </a:endParaRPr>
          </a:p>
        </p:txBody>
      </p:sp>
      <p:sp>
        <p:nvSpPr>
          <p:cNvPr id="823" name="Google Shape;271;p7"/>
          <p:cNvSpPr/>
          <p:nvPr/>
        </p:nvSpPr>
        <p:spPr>
          <a:xfrm>
            <a:off x="9513743" y="59825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24" name="Google Shape;272;p7"/>
          <p:cNvSpPr/>
          <p:nvPr/>
        </p:nvSpPr>
        <p:spPr>
          <a:xfrm>
            <a:off x="9596258" y="59825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25" name="Google Shape;273;p7"/>
          <p:cNvSpPr/>
          <p:nvPr/>
        </p:nvSpPr>
        <p:spPr>
          <a:xfrm>
            <a:off x="9678773" y="59825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26" name="Google Shape;274;p7"/>
          <p:cNvSpPr/>
          <p:nvPr/>
        </p:nvSpPr>
        <p:spPr>
          <a:xfrm>
            <a:off x="9761289" y="59825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27" name="Google Shape;275;p7"/>
          <p:cNvSpPr/>
          <p:nvPr/>
        </p:nvSpPr>
        <p:spPr>
          <a:xfrm>
            <a:off x="9843804" y="59825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28" name="Google Shape;276;p7"/>
          <p:cNvSpPr/>
          <p:nvPr/>
        </p:nvSpPr>
        <p:spPr>
          <a:xfrm>
            <a:off x="9513743" y="680765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29" name="Google Shape;277;p7"/>
          <p:cNvSpPr/>
          <p:nvPr/>
        </p:nvSpPr>
        <p:spPr>
          <a:xfrm>
            <a:off x="9596258" y="680765"/>
            <a:ext cx="72613" cy="72613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0" name="Google Shape;278;p7"/>
          <p:cNvSpPr/>
          <p:nvPr/>
        </p:nvSpPr>
        <p:spPr>
          <a:xfrm>
            <a:off x="9678773" y="680765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1" name="Google Shape;279;p7"/>
          <p:cNvSpPr/>
          <p:nvPr/>
        </p:nvSpPr>
        <p:spPr>
          <a:xfrm>
            <a:off x="9761289" y="680765"/>
            <a:ext cx="72613" cy="72613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2" name="Google Shape;280;p7"/>
          <p:cNvSpPr/>
          <p:nvPr/>
        </p:nvSpPr>
        <p:spPr>
          <a:xfrm>
            <a:off x="9843804" y="680765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3" name="Google Shape;281;p7"/>
          <p:cNvSpPr/>
          <p:nvPr/>
        </p:nvSpPr>
        <p:spPr>
          <a:xfrm>
            <a:off x="9513743" y="76328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4" name="Google Shape;282;p7"/>
          <p:cNvSpPr/>
          <p:nvPr/>
        </p:nvSpPr>
        <p:spPr>
          <a:xfrm>
            <a:off x="9596258" y="76328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5" name="Google Shape;283;p7"/>
          <p:cNvSpPr/>
          <p:nvPr/>
        </p:nvSpPr>
        <p:spPr>
          <a:xfrm>
            <a:off x="9678773" y="76328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6" name="Google Shape;284;p7"/>
          <p:cNvSpPr/>
          <p:nvPr/>
        </p:nvSpPr>
        <p:spPr>
          <a:xfrm>
            <a:off x="9761289" y="76328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7" name="Google Shape;285;p7"/>
          <p:cNvSpPr/>
          <p:nvPr/>
        </p:nvSpPr>
        <p:spPr>
          <a:xfrm>
            <a:off x="9843804" y="76328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8" name="Google Shape;286;p7"/>
          <p:cNvSpPr/>
          <p:nvPr/>
        </p:nvSpPr>
        <p:spPr>
          <a:xfrm>
            <a:off x="9513743" y="845796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9" name="Google Shape;287;p7"/>
          <p:cNvSpPr/>
          <p:nvPr/>
        </p:nvSpPr>
        <p:spPr>
          <a:xfrm>
            <a:off x="9596258" y="845796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40" name="Google Shape;288;p7"/>
          <p:cNvSpPr/>
          <p:nvPr/>
        </p:nvSpPr>
        <p:spPr>
          <a:xfrm>
            <a:off x="9678773" y="845796"/>
            <a:ext cx="72613" cy="72613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41" name="Google Shape;289;p7"/>
          <p:cNvSpPr/>
          <p:nvPr/>
        </p:nvSpPr>
        <p:spPr>
          <a:xfrm>
            <a:off x="9761289" y="845796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42" name="Google Shape;290;p7"/>
          <p:cNvSpPr/>
          <p:nvPr/>
        </p:nvSpPr>
        <p:spPr>
          <a:xfrm>
            <a:off x="9843804" y="845796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43" name="Google Shape;291;p7"/>
          <p:cNvSpPr/>
          <p:nvPr/>
        </p:nvSpPr>
        <p:spPr>
          <a:xfrm>
            <a:off x="9513743" y="928311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44" name="Google Shape;292;p7"/>
          <p:cNvSpPr/>
          <p:nvPr/>
        </p:nvSpPr>
        <p:spPr>
          <a:xfrm>
            <a:off x="9596258" y="928311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45" name="Google Shape;293;p7"/>
          <p:cNvSpPr/>
          <p:nvPr/>
        </p:nvSpPr>
        <p:spPr>
          <a:xfrm>
            <a:off x="9678773" y="928311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46" name="Google Shape;294;p7"/>
          <p:cNvSpPr/>
          <p:nvPr/>
        </p:nvSpPr>
        <p:spPr>
          <a:xfrm>
            <a:off x="9761289" y="928311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47" name="Google Shape;295;p7"/>
          <p:cNvSpPr/>
          <p:nvPr/>
        </p:nvSpPr>
        <p:spPr>
          <a:xfrm>
            <a:off x="9843804" y="928311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cxnSp>
        <p:nvCxnSpPr>
          <p:cNvPr id="848" name="Google Shape;296;p7"/>
          <p:cNvCxnSpPr/>
          <p:nvPr/>
        </p:nvCxnSpPr>
        <p:spPr>
          <a:xfrm>
            <a:off x="9632564" y="717071"/>
            <a:ext cx="165031" cy="0"/>
          </a:xfrm>
          <a:prstGeom prst="straightConnector1">
            <a:avLst/>
          </a:prstGeom>
          <a:noFill/>
          <a:ln w="10150" cap="flat" cmpd="sng">
            <a:solidFill>
              <a:srgbClr val="1E7A46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49" name="Google Shape;297;p7"/>
          <p:cNvCxnSpPr/>
          <p:nvPr/>
        </p:nvCxnSpPr>
        <p:spPr>
          <a:xfrm>
            <a:off x="9632564" y="717071"/>
            <a:ext cx="82516" cy="165031"/>
          </a:xfrm>
          <a:prstGeom prst="straightConnector1">
            <a:avLst/>
          </a:prstGeom>
          <a:noFill/>
          <a:ln w="10150" cap="flat" cmpd="sng">
            <a:solidFill>
              <a:srgbClr val="1E7A46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50" name="Google Shape;298;p7"/>
          <p:cNvSpPr txBox="1"/>
          <p:nvPr/>
        </p:nvSpPr>
        <p:spPr>
          <a:xfrm>
            <a:off x="9307454" y="1079590"/>
            <a:ext cx="825154" cy="12893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52B32"/>
                </a:solidFill>
                <a:latin typeface="Comic Sans MS" panose="030F0702030302020204"/>
                <a:ea typeface="Arial" panose="020B0704020202020204"/>
                <a:cs typeface="Arial" panose="020B0704020202020204"/>
                <a:sym typeface="Arial" panose="020B0704020202020204"/>
              </a:rPr>
              <a:t>Within-image</a:t>
            </a:r>
            <a:endParaRPr lang="en-US" sz="770" b="1" i="0" u="none" strike="noStrike" cap="none">
              <a:solidFill>
                <a:srgbClr val="1E7A46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51" name="Google Shape;299;p7"/>
          <p:cNvSpPr/>
          <p:nvPr/>
        </p:nvSpPr>
        <p:spPr>
          <a:xfrm>
            <a:off x="10338897" y="59825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52" name="Google Shape;300;p7"/>
          <p:cNvSpPr/>
          <p:nvPr/>
        </p:nvSpPr>
        <p:spPr>
          <a:xfrm>
            <a:off x="10421412" y="59825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53" name="Google Shape;301;p7"/>
          <p:cNvSpPr/>
          <p:nvPr/>
        </p:nvSpPr>
        <p:spPr>
          <a:xfrm>
            <a:off x="10503928" y="59825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54" name="Google Shape;302;p7"/>
          <p:cNvSpPr/>
          <p:nvPr/>
        </p:nvSpPr>
        <p:spPr>
          <a:xfrm>
            <a:off x="10586444" y="59825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55" name="Google Shape;303;p7"/>
          <p:cNvSpPr/>
          <p:nvPr/>
        </p:nvSpPr>
        <p:spPr>
          <a:xfrm>
            <a:off x="10668959" y="59825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56" name="Google Shape;304;p7"/>
          <p:cNvSpPr/>
          <p:nvPr/>
        </p:nvSpPr>
        <p:spPr>
          <a:xfrm>
            <a:off x="10338897" y="680765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57" name="Google Shape;305;p7"/>
          <p:cNvSpPr/>
          <p:nvPr/>
        </p:nvSpPr>
        <p:spPr>
          <a:xfrm>
            <a:off x="10421412" y="680765"/>
            <a:ext cx="72613" cy="72613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58" name="Google Shape;306;p7"/>
          <p:cNvSpPr/>
          <p:nvPr/>
        </p:nvSpPr>
        <p:spPr>
          <a:xfrm>
            <a:off x="10503928" y="680765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59" name="Google Shape;307;p7"/>
          <p:cNvSpPr/>
          <p:nvPr/>
        </p:nvSpPr>
        <p:spPr>
          <a:xfrm>
            <a:off x="10586444" y="680765"/>
            <a:ext cx="72613" cy="72613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60" name="Google Shape;308;p7"/>
          <p:cNvSpPr/>
          <p:nvPr/>
        </p:nvSpPr>
        <p:spPr>
          <a:xfrm>
            <a:off x="10668959" y="680765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61" name="Google Shape;309;p7"/>
          <p:cNvSpPr/>
          <p:nvPr/>
        </p:nvSpPr>
        <p:spPr>
          <a:xfrm>
            <a:off x="10338897" y="76328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62" name="Google Shape;310;p7"/>
          <p:cNvSpPr/>
          <p:nvPr/>
        </p:nvSpPr>
        <p:spPr>
          <a:xfrm>
            <a:off x="10421412" y="76328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63" name="Google Shape;311;p7"/>
          <p:cNvSpPr/>
          <p:nvPr/>
        </p:nvSpPr>
        <p:spPr>
          <a:xfrm>
            <a:off x="10503928" y="76328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64" name="Google Shape;312;p7"/>
          <p:cNvSpPr/>
          <p:nvPr/>
        </p:nvSpPr>
        <p:spPr>
          <a:xfrm>
            <a:off x="10586444" y="76328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65" name="Google Shape;313;p7"/>
          <p:cNvSpPr/>
          <p:nvPr/>
        </p:nvSpPr>
        <p:spPr>
          <a:xfrm>
            <a:off x="10668959" y="763280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66" name="Google Shape;314;p7"/>
          <p:cNvSpPr/>
          <p:nvPr/>
        </p:nvSpPr>
        <p:spPr>
          <a:xfrm>
            <a:off x="10338897" y="845796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67" name="Google Shape;315;p7"/>
          <p:cNvSpPr/>
          <p:nvPr/>
        </p:nvSpPr>
        <p:spPr>
          <a:xfrm>
            <a:off x="10421412" y="845796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68" name="Google Shape;316;p7"/>
          <p:cNvSpPr/>
          <p:nvPr/>
        </p:nvSpPr>
        <p:spPr>
          <a:xfrm>
            <a:off x="10503928" y="845796"/>
            <a:ext cx="72613" cy="72613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69" name="Google Shape;317;p7"/>
          <p:cNvSpPr/>
          <p:nvPr/>
        </p:nvSpPr>
        <p:spPr>
          <a:xfrm>
            <a:off x="10586444" y="845796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70" name="Google Shape;318;p7"/>
          <p:cNvSpPr/>
          <p:nvPr/>
        </p:nvSpPr>
        <p:spPr>
          <a:xfrm>
            <a:off x="10668959" y="845796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71" name="Google Shape;319;p7"/>
          <p:cNvSpPr/>
          <p:nvPr/>
        </p:nvSpPr>
        <p:spPr>
          <a:xfrm>
            <a:off x="10338897" y="928311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72" name="Google Shape;320;p7"/>
          <p:cNvSpPr/>
          <p:nvPr/>
        </p:nvSpPr>
        <p:spPr>
          <a:xfrm>
            <a:off x="10421412" y="928311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73" name="Google Shape;321;p7"/>
          <p:cNvSpPr/>
          <p:nvPr/>
        </p:nvSpPr>
        <p:spPr>
          <a:xfrm>
            <a:off x="10503928" y="928311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74" name="Google Shape;322;p7"/>
          <p:cNvSpPr/>
          <p:nvPr/>
        </p:nvSpPr>
        <p:spPr>
          <a:xfrm>
            <a:off x="10586444" y="928311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75" name="Google Shape;323;p7"/>
          <p:cNvSpPr/>
          <p:nvPr/>
        </p:nvSpPr>
        <p:spPr>
          <a:xfrm>
            <a:off x="10668959" y="928311"/>
            <a:ext cx="72613" cy="72613"/>
          </a:xfrm>
          <a:prstGeom prst="rect">
            <a:avLst/>
          </a:prstGeom>
          <a:solidFill>
            <a:srgbClr val="D5E3EF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76" name="Google Shape;324;p7"/>
          <p:cNvSpPr/>
          <p:nvPr/>
        </p:nvSpPr>
        <p:spPr>
          <a:xfrm>
            <a:off x="11060908" y="598250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77" name="Google Shape;325;p7"/>
          <p:cNvSpPr/>
          <p:nvPr/>
        </p:nvSpPr>
        <p:spPr>
          <a:xfrm>
            <a:off x="11143423" y="598250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78" name="Google Shape;326;p7"/>
          <p:cNvSpPr/>
          <p:nvPr/>
        </p:nvSpPr>
        <p:spPr>
          <a:xfrm>
            <a:off x="11225938" y="598250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79" name="Google Shape;327;p7"/>
          <p:cNvSpPr/>
          <p:nvPr/>
        </p:nvSpPr>
        <p:spPr>
          <a:xfrm>
            <a:off x="11308454" y="598250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80" name="Google Shape;328;p7"/>
          <p:cNvSpPr/>
          <p:nvPr/>
        </p:nvSpPr>
        <p:spPr>
          <a:xfrm>
            <a:off x="11390969" y="598250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81" name="Google Shape;329;p7"/>
          <p:cNvSpPr/>
          <p:nvPr/>
        </p:nvSpPr>
        <p:spPr>
          <a:xfrm>
            <a:off x="11060908" y="680765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82" name="Google Shape;330;p7"/>
          <p:cNvSpPr/>
          <p:nvPr/>
        </p:nvSpPr>
        <p:spPr>
          <a:xfrm>
            <a:off x="11143423" y="680765"/>
            <a:ext cx="72613" cy="72613"/>
          </a:xfrm>
          <a:prstGeom prst="rect">
            <a:avLst/>
          </a:prstGeom>
          <a:solidFill>
            <a:srgbClr val="9980B7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83" name="Google Shape;331;p7"/>
          <p:cNvSpPr/>
          <p:nvPr/>
        </p:nvSpPr>
        <p:spPr>
          <a:xfrm>
            <a:off x="11225938" y="680765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84" name="Google Shape;332;p7"/>
          <p:cNvSpPr/>
          <p:nvPr/>
        </p:nvSpPr>
        <p:spPr>
          <a:xfrm>
            <a:off x="11308454" y="680765"/>
            <a:ext cx="72613" cy="72613"/>
          </a:xfrm>
          <a:prstGeom prst="rect">
            <a:avLst/>
          </a:prstGeom>
          <a:solidFill>
            <a:srgbClr val="9980B7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85" name="Google Shape;333;p7"/>
          <p:cNvSpPr/>
          <p:nvPr/>
        </p:nvSpPr>
        <p:spPr>
          <a:xfrm>
            <a:off x="11390969" y="680765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86" name="Google Shape;334;p7"/>
          <p:cNvSpPr/>
          <p:nvPr/>
        </p:nvSpPr>
        <p:spPr>
          <a:xfrm>
            <a:off x="11060908" y="763280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87" name="Google Shape;335;p7"/>
          <p:cNvSpPr/>
          <p:nvPr/>
        </p:nvSpPr>
        <p:spPr>
          <a:xfrm>
            <a:off x="11143423" y="763280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88" name="Google Shape;336;p7"/>
          <p:cNvSpPr/>
          <p:nvPr/>
        </p:nvSpPr>
        <p:spPr>
          <a:xfrm>
            <a:off x="11225938" y="763280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89" name="Google Shape;337;p7"/>
          <p:cNvSpPr/>
          <p:nvPr/>
        </p:nvSpPr>
        <p:spPr>
          <a:xfrm>
            <a:off x="11308454" y="763280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90" name="Google Shape;338;p7"/>
          <p:cNvSpPr/>
          <p:nvPr/>
        </p:nvSpPr>
        <p:spPr>
          <a:xfrm>
            <a:off x="11390969" y="763280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91" name="Google Shape;339;p7"/>
          <p:cNvSpPr/>
          <p:nvPr/>
        </p:nvSpPr>
        <p:spPr>
          <a:xfrm>
            <a:off x="11060908" y="845796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92" name="Google Shape;340;p7"/>
          <p:cNvSpPr/>
          <p:nvPr/>
        </p:nvSpPr>
        <p:spPr>
          <a:xfrm>
            <a:off x="11143423" y="845796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93" name="Google Shape;341;p7"/>
          <p:cNvSpPr/>
          <p:nvPr/>
        </p:nvSpPr>
        <p:spPr>
          <a:xfrm>
            <a:off x="11225938" y="845796"/>
            <a:ext cx="72613" cy="72613"/>
          </a:xfrm>
          <a:prstGeom prst="rect">
            <a:avLst/>
          </a:prstGeom>
          <a:solidFill>
            <a:srgbClr val="9980B7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94" name="Google Shape;342;p7"/>
          <p:cNvSpPr/>
          <p:nvPr/>
        </p:nvSpPr>
        <p:spPr>
          <a:xfrm>
            <a:off x="11308454" y="845796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95" name="Google Shape;343;p7"/>
          <p:cNvSpPr/>
          <p:nvPr/>
        </p:nvSpPr>
        <p:spPr>
          <a:xfrm>
            <a:off x="11390969" y="845796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96" name="Google Shape;344;p7"/>
          <p:cNvSpPr/>
          <p:nvPr/>
        </p:nvSpPr>
        <p:spPr>
          <a:xfrm>
            <a:off x="11060908" y="928311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97" name="Google Shape;345;p7"/>
          <p:cNvSpPr/>
          <p:nvPr/>
        </p:nvSpPr>
        <p:spPr>
          <a:xfrm>
            <a:off x="11143423" y="928311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98" name="Google Shape;346;p7"/>
          <p:cNvSpPr/>
          <p:nvPr/>
        </p:nvSpPr>
        <p:spPr>
          <a:xfrm>
            <a:off x="11225938" y="928311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99" name="Google Shape;347;p7"/>
          <p:cNvSpPr/>
          <p:nvPr/>
        </p:nvSpPr>
        <p:spPr>
          <a:xfrm>
            <a:off x="11308454" y="928311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900" name="Google Shape;348;p7"/>
          <p:cNvSpPr/>
          <p:nvPr/>
        </p:nvSpPr>
        <p:spPr>
          <a:xfrm>
            <a:off x="11390969" y="928311"/>
            <a:ext cx="72613" cy="72613"/>
          </a:xfrm>
          <a:prstGeom prst="rect">
            <a:avLst/>
          </a:prstGeom>
          <a:solidFill>
            <a:srgbClr val="E2D9ED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cxnSp>
        <p:nvCxnSpPr>
          <p:cNvPr id="901" name="Google Shape;349;p7"/>
          <p:cNvCxnSpPr/>
          <p:nvPr/>
        </p:nvCxnSpPr>
        <p:spPr>
          <a:xfrm>
            <a:off x="10622750" y="717071"/>
            <a:ext cx="556979" cy="0"/>
          </a:xfrm>
          <a:prstGeom prst="straightConnector1">
            <a:avLst/>
          </a:prstGeom>
          <a:noFill/>
          <a:ln w="11425" cap="flat" cmpd="sng">
            <a:solidFill>
              <a:srgbClr val="1E7A46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02" name="Google Shape;350;p7"/>
          <p:cNvCxnSpPr/>
          <p:nvPr/>
        </p:nvCxnSpPr>
        <p:spPr>
          <a:xfrm>
            <a:off x="10540235" y="882102"/>
            <a:ext cx="722010" cy="0"/>
          </a:xfrm>
          <a:prstGeom prst="straightConnector1">
            <a:avLst/>
          </a:prstGeom>
          <a:noFill/>
          <a:ln w="11425" cap="flat" cmpd="sng">
            <a:solidFill>
              <a:srgbClr val="1E7A46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03" name="Google Shape;351;p7"/>
          <p:cNvSpPr txBox="1"/>
          <p:nvPr/>
        </p:nvSpPr>
        <p:spPr>
          <a:xfrm>
            <a:off x="10278730" y="1079590"/>
            <a:ext cx="1246327" cy="12893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52B32"/>
                </a:solidFill>
                <a:latin typeface="Comic Sans MS" panose="030F0702030302020204"/>
                <a:ea typeface="Arial" panose="020B0704020202020204"/>
                <a:cs typeface="Arial" panose="020B0704020202020204"/>
                <a:sym typeface="Arial" panose="020B0704020202020204"/>
              </a:rPr>
              <a:t>Across-image</a:t>
            </a:r>
            <a:endParaRPr lang="en-US" sz="770" b="1" i="0" u="none" strike="noStrike" cap="none">
              <a:solidFill>
                <a:srgbClr val="1E7A46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904" name="Google Shape;352;p7"/>
          <p:cNvSpPr txBox="1"/>
          <p:nvPr/>
        </p:nvSpPr>
        <p:spPr>
          <a:xfrm>
            <a:off x="9092570" y="1277281"/>
            <a:ext cx="2492654" cy="15471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252B32"/>
                </a:solidFill>
                <a:latin typeface="Comic Sans MS" panose="030F0702030302020204"/>
              </a:rPr>
              <a:t>Balanced, matchable patch evidence</a:t>
            </a:r>
            <a:endParaRPr sz="1050" b="1">
              <a:solidFill>
                <a:srgbClr val="1E7A46"/>
              </a:solidFill>
              <a:latin typeface="Arial" panose="020B0704020202020204"/>
            </a:endParaRPr>
          </a:p>
        </p:txBody>
      </p:sp>
      <p:sp>
        <p:nvSpPr>
          <p:cNvPr id="968" name="TextBox 415"/>
          <p:cNvSpPr txBox="1"/>
          <p:nvPr/>
        </p:nvSpPr>
        <p:spPr>
          <a:xfrm>
            <a:off x="765464" y="1165542"/>
            <a:ext cx="1117396" cy="292242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2B32"/>
                </a:solidFill>
                <a:latin typeface="Comic Sans MS" panose="030F0702030302020204"/>
              </a:rPr>
              <a:t>Large labelled</a:t>
            </a:r>
            <a:endParaRPr sz="950" b="0">
              <a:solidFill>
                <a:srgbClr val="252B32"/>
              </a:solidFill>
              <a:latin typeface="Arial" panose="020B0704020202020204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2B32"/>
                </a:solidFill>
                <a:latin typeface="Comic Sans MS" panose="030F0702030302020204"/>
              </a:rPr>
              <a:t>training set</a:t>
            </a:r>
            <a:endParaRPr sz="950" b="0">
              <a:solidFill>
                <a:srgbClr val="252B32"/>
              </a:solidFill>
              <a:latin typeface="Arial" panose="020B0704020202020204"/>
            </a:endParaRPr>
          </a:p>
        </p:txBody>
      </p:sp>
      <p:sp>
        <p:nvSpPr>
          <p:cNvPr id="969" name="TextBox 416"/>
          <p:cNvSpPr txBox="1"/>
          <p:nvPr/>
        </p:nvSpPr>
        <p:spPr>
          <a:xfrm>
            <a:off x="1883627" y="658416"/>
            <a:ext cx="318028" cy="120335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1E2E"/>
                </a:solidFill>
                <a:latin typeface="Comic Sans MS" panose="030F0702030302020204"/>
              </a:rPr>
              <a:t>train</a:t>
            </a:r>
            <a:endParaRPr sz="800" b="1">
              <a:solidFill>
                <a:srgbClr val="B31E2E"/>
              </a:solidFill>
              <a:latin typeface="Arial" panose="020B0704020202020204"/>
            </a:endParaRPr>
          </a:p>
        </p:txBody>
      </p:sp>
      <p:sp>
        <p:nvSpPr>
          <p:cNvPr id="970" name="TextBox 417"/>
          <p:cNvSpPr txBox="1"/>
          <p:nvPr/>
        </p:nvSpPr>
        <p:spPr>
          <a:xfrm>
            <a:off x="6140124" y="752966"/>
            <a:ext cx="146121" cy="120335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B2B2B"/>
                </a:solidFill>
                <a:latin typeface="Comic Sans MS" panose="030F0702030302020204"/>
              </a:rPr>
              <a:t>or</a:t>
            </a:r>
            <a:endParaRPr sz="720" b="0">
              <a:solidFill>
                <a:srgbClr val="75808D"/>
              </a:solidFill>
              <a:latin typeface="Arial" panose="020B0704020202020204"/>
            </a:endParaRPr>
          </a:p>
        </p:txBody>
      </p:sp>
      <p:sp>
        <p:nvSpPr>
          <p:cNvPr id="971" name="TextBox 418"/>
          <p:cNvSpPr txBox="1"/>
          <p:nvPr/>
        </p:nvSpPr>
        <p:spPr>
          <a:xfrm>
            <a:off x="6810562" y="752966"/>
            <a:ext cx="146121" cy="120335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B2B2B"/>
                </a:solidFill>
                <a:latin typeface="Comic Sans MS" panose="030F0702030302020204"/>
              </a:rPr>
              <a:t>or</a:t>
            </a:r>
            <a:endParaRPr sz="720" b="0">
              <a:solidFill>
                <a:srgbClr val="75808D"/>
              </a:solidFill>
              <a:latin typeface="Arial" panose="020B0704020202020204"/>
            </a:endParaRPr>
          </a:p>
        </p:txBody>
      </p:sp>
      <p:sp>
        <p:nvSpPr>
          <p:cNvPr id="972" name="TextBox 419"/>
          <p:cNvSpPr txBox="1"/>
          <p:nvPr/>
        </p:nvSpPr>
        <p:spPr>
          <a:xfrm>
            <a:off x="1957307" y="1165542"/>
            <a:ext cx="1804991" cy="311328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2B32"/>
                </a:solidFill>
                <a:latin typeface="Comic Sans MS"/>
              </a:rPr>
              <a:t>Environment-specific
features</a:t>
            </a:r>
            <a:endParaRPr sz="1050" b="1">
              <a:solidFill>
                <a:srgbClr val="252B32"/>
              </a:solidFill>
              <a:latin typeface="Arial" panose="020B0704020202020204"/>
            </a:endParaRPr>
          </a:p>
        </p:txBody>
      </p:sp>
      <p:sp>
        <p:nvSpPr>
          <p:cNvPr id="973" name="TextBox 420"/>
          <p:cNvSpPr txBox="1"/>
          <p:nvPr/>
        </p:nvSpPr>
        <p:spPr>
          <a:xfrm>
            <a:off x="850392" y="1627632"/>
            <a:ext cx="713232" cy="146304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Comic Sans MS"/>
              </a:rPr>
              <a:t>Standard</a:t>
            </a:r>
            <a:endParaRPr sz="880" b="1">
              <a:solidFill>
                <a:srgbClr val="75808D"/>
              </a:solidFill>
              <a:latin typeface="Arial" panose="020B0704020202020204"/>
            </a:endParaRPr>
          </a:p>
        </p:txBody>
      </p:sp>
      <p:sp>
        <p:nvSpPr>
          <p:cNvPr id="974" name="TextBox 421"/>
          <p:cNvSpPr txBox="1"/>
          <p:nvPr/>
        </p:nvSpPr>
        <p:spPr>
          <a:xfrm>
            <a:off x="2608072" y="1627632"/>
            <a:ext cx="713232" cy="146304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Comic Sans MS"/>
              </a:rPr>
              <a:t>Cross-env.</a:t>
            </a:r>
            <a:endParaRPr sz="880" b="1">
              <a:solidFill>
                <a:srgbClr val="75808D"/>
              </a:solidFill>
              <a:latin typeface="Arial" panose="020B0704020202020204"/>
            </a:endParaRPr>
          </a:p>
        </p:txBody>
      </p:sp>
      <p:sp>
        <p:nvSpPr>
          <p:cNvPr id="977" name="TextBox 424"/>
          <p:cNvSpPr txBox="1"/>
          <p:nvPr/>
        </p:nvSpPr>
        <p:spPr>
          <a:xfrm>
            <a:off x="4690780" y="1627632"/>
            <a:ext cx="713232" cy="146304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Comic Sans MS"/>
              </a:rPr>
              <a:t>Standard</a:t>
            </a:r>
            <a:endParaRPr sz="880" b="1">
              <a:solidFill>
                <a:srgbClr val="75808D"/>
              </a:solidFill>
              <a:latin typeface="Arial" panose="020B0704020202020204"/>
            </a:endParaRPr>
          </a:p>
        </p:txBody>
      </p:sp>
      <p:sp>
        <p:nvSpPr>
          <p:cNvPr id="978" name="TextBox 425"/>
          <p:cNvSpPr txBox="1"/>
          <p:nvPr/>
        </p:nvSpPr>
        <p:spPr>
          <a:xfrm>
            <a:off x="6448460" y="1627632"/>
            <a:ext cx="713232" cy="146304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Comic Sans MS"/>
              </a:rPr>
              <a:t>Cross-env.</a:t>
            </a:r>
            <a:endParaRPr sz="880" b="1">
              <a:solidFill>
                <a:srgbClr val="75808D"/>
              </a:solidFill>
              <a:latin typeface="Arial" panose="020B0704020202020204"/>
            </a:endParaRPr>
          </a:p>
        </p:txBody>
      </p:sp>
      <p:sp>
        <p:nvSpPr>
          <p:cNvPr id="981" name="TextBox 428"/>
          <p:cNvSpPr txBox="1"/>
          <p:nvPr/>
        </p:nvSpPr>
        <p:spPr>
          <a:xfrm>
            <a:off x="8507060" y="1627632"/>
            <a:ext cx="713232" cy="146304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Comic Sans MS"/>
              </a:rPr>
              <a:t>Standard</a:t>
            </a:r>
            <a:endParaRPr sz="880" b="1">
              <a:solidFill>
                <a:srgbClr val="75808D"/>
              </a:solidFill>
              <a:latin typeface="Arial" panose="020B0704020202020204"/>
            </a:endParaRPr>
          </a:p>
        </p:txBody>
      </p:sp>
      <p:sp>
        <p:nvSpPr>
          <p:cNvPr id="982" name="TextBox 429"/>
          <p:cNvSpPr txBox="1"/>
          <p:nvPr/>
        </p:nvSpPr>
        <p:spPr>
          <a:xfrm>
            <a:off x="10264740" y="1627632"/>
            <a:ext cx="713232" cy="146304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Comic Sans MS"/>
              </a:rPr>
              <a:t>Cross-env.</a:t>
            </a:r>
            <a:endParaRPr sz="880" b="1">
              <a:solidFill>
                <a:srgbClr val="75808D"/>
              </a:solidFill>
              <a:latin typeface="Arial" panose="020B0704020202020204"/>
            </a:endParaRPr>
          </a:p>
        </p:txBody>
      </p:sp>
      <p:sp>
        <p:nvSpPr>
          <p:cNvPr id="985" name="Rectangle 984"/>
          <p:cNvSpPr/>
          <p:nvPr/>
        </p:nvSpPr>
        <p:spPr>
          <a:xfrm>
            <a:off x="1005840" y="2560320"/>
            <a:ext cx="6144768" cy="2907791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86" name="Connector 985"/>
          <p:cNvCxnSpPr/>
          <p:nvPr/>
        </p:nvCxnSpPr>
        <p:spPr>
          <a:xfrm>
            <a:off x="1005840" y="5244435"/>
            <a:ext cx="6144768" cy="0"/>
          </a:xfrm>
          <a:prstGeom prst="line">
            <a:avLst/>
          </a:prstGeom>
          <a:ln w="8890">
            <a:solidFill>
              <a:srgbClr val="C9C9C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>
            <a:off x="1005840" y="4871641"/>
            <a:ext cx="6144768" cy="0"/>
          </a:xfrm>
          <a:prstGeom prst="line">
            <a:avLst/>
          </a:prstGeom>
          <a:ln w="8890">
            <a:solidFill>
              <a:srgbClr val="C9C9C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>
            <a:off x="1005840" y="4498848"/>
            <a:ext cx="6144768" cy="0"/>
          </a:xfrm>
          <a:prstGeom prst="line">
            <a:avLst/>
          </a:prstGeom>
          <a:ln w="8890">
            <a:solidFill>
              <a:srgbClr val="C9C9C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>
            <a:off x="1005840" y="4126054"/>
            <a:ext cx="6144768" cy="0"/>
          </a:xfrm>
          <a:prstGeom prst="line">
            <a:avLst/>
          </a:prstGeom>
          <a:ln w="8890">
            <a:solidFill>
              <a:srgbClr val="C9C9C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>
            <a:off x="1005840" y="3753260"/>
            <a:ext cx="6144768" cy="0"/>
          </a:xfrm>
          <a:prstGeom prst="line">
            <a:avLst/>
          </a:prstGeom>
          <a:ln w="8890">
            <a:solidFill>
              <a:srgbClr val="C9C9C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>
            <a:off x="1005840" y="3380466"/>
            <a:ext cx="6144768" cy="0"/>
          </a:xfrm>
          <a:prstGeom prst="line">
            <a:avLst/>
          </a:prstGeom>
          <a:ln w="8890">
            <a:solidFill>
              <a:srgbClr val="C9C9C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>
            <a:off x="1005840" y="3007672"/>
            <a:ext cx="6144768" cy="0"/>
          </a:xfrm>
          <a:prstGeom prst="line">
            <a:avLst/>
          </a:prstGeom>
          <a:ln w="8890">
            <a:solidFill>
              <a:srgbClr val="C9C9C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>
            <a:off x="1005840" y="2634878"/>
            <a:ext cx="6144768" cy="0"/>
          </a:xfrm>
          <a:prstGeom prst="line">
            <a:avLst/>
          </a:prstGeom>
          <a:ln w="8890">
            <a:solidFill>
              <a:srgbClr val="C9C9C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>
            <a:off x="1199885" y="2560320"/>
            <a:ext cx="0" cy="2907792"/>
          </a:xfrm>
          <a:prstGeom prst="line">
            <a:avLst/>
          </a:prstGeom>
          <a:ln w="7620">
            <a:solidFill>
              <a:srgbClr val="EAEA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>
            <a:off x="1846702" y="2560320"/>
            <a:ext cx="0" cy="2907792"/>
          </a:xfrm>
          <a:prstGeom prst="line">
            <a:avLst/>
          </a:prstGeom>
          <a:ln w="7620">
            <a:solidFill>
              <a:srgbClr val="EAEA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>
            <a:off x="2493520" y="2560320"/>
            <a:ext cx="0" cy="2907792"/>
          </a:xfrm>
          <a:prstGeom prst="line">
            <a:avLst/>
          </a:prstGeom>
          <a:ln w="7620">
            <a:solidFill>
              <a:srgbClr val="EAEA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>
            <a:off x="3140338" y="2560320"/>
            <a:ext cx="0" cy="2907792"/>
          </a:xfrm>
          <a:prstGeom prst="line">
            <a:avLst/>
          </a:prstGeom>
          <a:ln w="7620">
            <a:solidFill>
              <a:srgbClr val="EAEA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>
            <a:off x="3787156" y="2560320"/>
            <a:ext cx="0" cy="2907792"/>
          </a:xfrm>
          <a:prstGeom prst="line">
            <a:avLst/>
          </a:prstGeom>
          <a:ln w="7620">
            <a:solidFill>
              <a:srgbClr val="EAEA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>
            <a:off x="4433973" y="2560320"/>
            <a:ext cx="0" cy="2907792"/>
          </a:xfrm>
          <a:prstGeom prst="line">
            <a:avLst/>
          </a:prstGeom>
          <a:ln w="7620">
            <a:solidFill>
              <a:srgbClr val="EAEA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>
            <a:off x="5080791" y="2560320"/>
            <a:ext cx="0" cy="2907792"/>
          </a:xfrm>
          <a:prstGeom prst="line">
            <a:avLst/>
          </a:prstGeom>
          <a:ln w="7620">
            <a:solidFill>
              <a:srgbClr val="EAEA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>
            <a:off x="5727609" y="2560320"/>
            <a:ext cx="0" cy="2907792"/>
          </a:xfrm>
          <a:prstGeom prst="line">
            <a:avLst/>
          </a:prstGeom>
          <a:ln w="7620">
            <a:solidFill>
              <a:srgbClr val="EAEA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>
            <a:off x="6374426" y="2560320"/>
            <a:ext cx="0" cy="2907792"/>
          </a:xfrm>
          <a:prstGeom prst="line">
            <a:avLst/>
          </a:prstGeom>
          <a:ln w="7620">
            <a:solidFill>
              <a:srgbClr val="EAEA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>
            <a:off x="7021244" y="2560320"/>
            <a:ext cx="0" cy="2907792"/>
          </a:xfrm>
          <a:prstGeom prst="line">
            <a:avLst/>
          </a:prstGeom>
          <a:ln w="7620">
            <a:solidFill>
              <a:srgbClr val="EAEA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sp>
        <p:nvSpPr>
          <p:cNvPr id="1004" name="Oval 1003"/>
          <p:cNvSpPr/>
          <p:nvPr/>
        </p:nvSpPr>
        <p:spPr>
          <a:xfrm>
            <a:off x="5351646" y="3379622"/>
            <a:ext cx="1075334" cy="1075334"/>
          </a:xfrm>
          <a:prstGeom prst="ellipse">
            <a:avLst/>
          </a:prstGeom>
          <a:solidFill>
            <a:srgbClr val="F2C6C0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5" name="Oval 1004"/>
          <p:cNvSpPr/>
          <p:nvPr/>
        </p:nvSpPr>
        <p:spPr>
          <a:xfrm>
            <a:off x="5873768" y="3901744"/>
            <a:ext cx="31089" cy="31089"/>
          </a:xfrm>
          <a:prstGeom prst="ellipse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6" name="Oval 1005"/>
          <p:cNvSpPr/>
          <p:nvPr/>
        </p:nvSpPr>
        <p:spPr>
          <a:xfrm>
            <a:off x="2399487" y="4715058"/>
            <a:ext cx="1028930" cy="1028930"/>
          </a:xfrm>
          <a:prstGeom prst="ellipse">
            <a:avLst/>
          </a:prstGeom>
          <a:solidFill>
            <a:srgbClr val="E7D9F2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7" name="Oval 1006"/>
          <p:cNvSpPr/>
          <p:nvPr/>
        </p:nvSpPr>
        <p:spPr>
          <a:xfrm>
            <a:off x="2898407" y="5213979"/>
            <a:ext cx="31089" cy="31089"/>
          </a:xfrm>
          <a:prstGeom prst="ellipse">
            <a:avLst/>
          </a:prstGeom>
          <a:solidFill>
            <a:srgbClr val="7B4FA3"/>
          </a:solidFill>
          <a:ln w="3175">
            <a:solidFill>
              <a:srgbClr val="7B4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8" name="Oval 1007"/>
          <p:cNvSpPr/>
          <p:nvPr/>
        </p:nvSpPr>
        <p:spPr>
          <a:xfrm>
            <a:off x="4242917" y="4614404"/>
            <a:ext cx="1028930" cy="1028930"/>
          </a:xfrm>
          <a:prstGeom prst="ellipse">
            <a:avLst/>
          </a:prstGeom>
          <a:solidFill>
            <a:srgbClr val="B9DFC2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9" name="Oval 1008"/>
          <p:cNvSpPr/>
          <p:nvPr/>
        </p:nvSpPr>
        <p:spPr>
          <a:xfrm>
            <a:off x="4741837" y="5113324"/>
            <a:ext cx="31089" cy="31089"/>
          </a:xfrm>
          <a:prstGeom prst="ellipse">
            <a:avLst/>
          </a:prstGeom>
          <a:solidFill>
            <a:srgbClr val="2E8B57"/>
          </a:solidFill>
          <a:ln w="31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0" name="Oval 1009"/>
          <p:cNvSpPr/>
          <p:nvPr/>
        </p:nvSpPr>
        <p:spPr>
          <a:xfrm>
            <a:off x="6202211" y="4052072"/>
            <a:ext cx="215066" cy="215066"/>
          </a:xfrm>
          <a:prstGeom prst="ellipse">
            <a:avLst/>
          </a:prstGeom>
          <a:solidFill>
            <a:srgbClr val="EEC0DC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1" name="Oval 1010"/>
          <p:cNvSpPr/>
          <p:nvPr/>
        </p:nvSpPr>
        <p:spPr>
          <a:xfrm>
            <a:off x="6294200" y="4144060"/>
            <a:ext cx="31089" cy="31089"/>
          </a:xfrm>
          <a:prstGeom prst="ellipse">
            <a:avLst/>
          </a:prstGeom>
          <a:solidFill>
            <a:srgbClr val="A82878"/>
          </a:solidFill>
          <a:ln w="3175">
            <a:solidFill>
              <a:srgbClr val="A8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2" name="Oval 1011"/>
          <p:cNvSpPr/>
          <p:nvPr/>
        </p:nvSpPr>
        <p:spPr>
          <a:xfrm>
            <a:off x="4979407" y="4300538"/>
            <a:ext cx="202766" cy="202766"/>
          </a:xfrm>
          <a:prstGeom prst="ellipse">
            <a:avLst/>
          </a:prstGeom>
          <a:solidFill>
            <a:srgbClr val="B9DCE8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3" name="Oval 1012"/>
          <p:cNvSpPr/>
          <p:nvPr/>
        </p:nvSpPr>
        <p:spPr>
          <a:xfrm>
            <a:off x="5065246" y="4386376"/>
            <a:ext cx="31089" cy="31089"/>
          </a:xfrm>
          <a:prstGeom prst="ellipse">
            <a:avLst/>
          </a:prstGeom>
          <a:solidFill>
            <a:srgbClr val="2278A0"/>
          </a:solidFill>
          <a:ln w="3175">
            <a:solidFill>
              <a:srgbClr val="22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4" name="Oval 1013"/>
          <p:cNvSpPr/>
          <p:nvPr/>
        </p:nvSpPr>
        <p:spPr>
          <a:xfrm>
            <a:off x="3246582" y="4970238"/>
            <a:ext cx="175601" cy="175601"/>
          </a:xfrm>
          <a:prstGeom prst="ellipse">
            <a:avLst/>
          </a:prstGeom>
          <a:solidFill>
            <a:srgbClr val="C9DEF0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5" name="Oval 1014"/>
          <p:cNvSpPr/>
          <p:nvPr/>
        </p:nvSpPr>
        <p:spPr>
          <a:xfrm>
            <a:off x="3318838" y="5042493"/>
            <a:ext cx="31089" cy="31089"/>
          </a:xfrm>
          <a:prstGeom prst="ellipse">
            <a:avLst/>
          </a:prstGeom>
          <a:solidFill>
            <a:srgbClr val="1B6CA8"/>
          </a:solidFill>
          <a:ln w="3175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6" name="Oval 1015"/>
          <p:cNvSpPr/>
          <p:nvPr/>
        </p:nvSpPr>
        <p:spPr>
          <a:xfrm>
            <a:off x="2532192" y="5077974"/>
            <a:ext cx="116701" cy="116701"/>
          </a:xfrm>
          <a:prstGeom prst="ellipse">
            <a:avLst/>
          </a:prstGeom>
          <a:solidFill>
            <a:srgbClr val="C7E3D8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7" name="Oval 1016"/>
          <p:cNvSpPr/>
          <p:nvPr/>
        </p:nvSpPr>
        <p:spPr>
          <a:xfrm>
            <a:off x="2574998" y="5120780"/>
            <a:ext cx="31089" cy="31089"/>
          </a:xfrm>
          <a:prstGeom prst="ellipse">
            <a:avLst/>
          </a:prstGeom>
          <a:solidFill>
            <a:srgbClr val="2F8F6F"/>
          </a:solidFill>
          <a:ln w="3175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8" name="Oval 1017"/>
          <p:cNvSpPr/>
          <p:nvPr/>
        </p:nvSpPr>
        <p:spPr>
          <a:xfrm>
            <a:off x="4925418" y="4671629"/>
            <a:ext cx="116701" cy="116701"/>
          </a:xfrm>
          <a:prstGeom prst="ellipse">
            <a:avLst/>
          </a:prstGeom>
          <a:solidFill>
            <a:srgbClr val="E0D5D0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9" name="Oval 1018"/>
          <p:cNvSpPr/>
          <p:nvPr/>
        </p:nvSpPr>
        <p:spPr>
          <a:xfrm>
            <a:off x="4968223" y="4714435"/>
            <a:ext cx="31089" cy="31089"/>
          </a:xfrm>
          <a:prstGeom prst="ellipse">
            <a:avLst/>
          </a:prstGeom>
          <a:solidFill>
            <a:srgbClr val="6D4C41"/>
          </a:solidFill>
          <a:ln w="3175">
            <a:solidFill>
              <a:srgbClr val="6D4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0" name="Oval 1019"/>
          <p:cNvSpPr/>
          <p:nvPr/>
        </p:nvSpPr>
        <p:spPr>
          <a:xfrm>
            <a:off x="3793487" y="4817019"/>
            <a:ext cx="116701" cy="116701"/>
          </a:xfrm>
          <a:prstGeom prst="ellipse">
            <a:avLst/>
          </a:prstGeom>
          <a:solidFill>
            <a:srgbClr val="F0CBA8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1" name="Oval 1020"/>
          <p:cNvSpPr/>
          <p:nvPr/>
        </p:nvSpPr>
        <p:spPr>
          <a:xfrm>
            <a:off x="3836293" y="4859824"/>
            <a:ext cx="31089" cy="31089"/>
          </a:xfrm>
          <a:prstGeom prst="ellipse">
            <a:avLst/>
          </a:prstGeom>
          <a:solidFill>
            <a:srgbClr val="C07A2E"/>
          </a:solidFill>
          <a:ln w="3175">
            <a:solidFill>
              <a:srgbClr val="C0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2" name="Oval 1021"/>
          <p:cNvSpPr/>
          <p:nvPr/>
        </p:nvSpPr>
        <p:spPr>
          <a:xfrm>
            <a:off x="5830962" y="4317475"/>
            <a:ext cx="116701" cy="116701"/>
          </a:xfrm>
          <a:prstGeom prst="ellipse">
            <a:avLst/>
          </a:prstGeom>
          <a:solidFill>
            <a:srgbClr val="D8C6E8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3" name="Oval 1022"/>
          <p:cNvSpPr/>
          <p:nvPr/>
        </p:nvSpPr>
        <p:spPr>
          <a:xfrm>
            <a:off x="5873768" y="4360281"/>
            <a:ext cx="31089" cy="31089"/>
          </a:xfrm>
          <a:prstGeom prst="ellipse">
            <a:avLst/>
          </a:prstGeom>
          <a:solidFill>
            <a:srgbClr val="8348A8"/>
          </a:solidFill>
          <a:ln w="3175">
            <a:solidFill>
              <a:srgbClr val="834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4" name="Oval 1023"/>
          <p:cNvSpPr/>
          <p:nvPr/>
        </p:nvSpPr>
        <p:spPr>
          <a:xfrm>
            <a:off x="5216486" y="4664173"/>
            <a:ext cx="116701" cy="116701"/>
          </a:xfrm>
          <a:prstGeom prst="ellipse">
            <a:avLst/>
          </a:prstGeom>
          <a:solidFill>
            <a:srgbClr val="F6D3A6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5" name="Oval 1024"/>
          <p:cNvSpPr/>
          <p:nvPr/>
        </p:nvSpPr>
        <p:spPr>
          <a:xfrm>
            <a:off x="5259291" y="4706979"/>
            <a:ext cx="31089" cy="31089"/>
          </a:xfrm>
          <a:prstGeom prst="ellipse">
            <a:avLst/>
          </a:prstGeom>
          <a:solidFill>
            <a:srgbClr val="D08A1E"/>
          </a:solidFill>
          <a:ln w="3175">
            <a:solidFill>
              <a:srgbClr val="D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6" name="Oval 1025"/>
          <p:cNvSpPr/>
          <p:nvPr/>
        </p:nvSpPr>
        <p:spPr>
          <a:xfrm>
            <a:off x="6348417" y="4459137"/>
            <a:ext cx="116701" cy="116701"/>
          </a:xfrm>
          <a:prstGeom prst="ellipse">
            <a:avLst/>
          </a:prstGeom>
          <a:solidFill>
            <a:srgbClr val="BFD0EE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7" name="Oval 1026"/>
          <p:cNvSpPr/>
          <p:nvPr/>
        </p:nvSpPr>
        <p:spPr>
          <a:xfrm>
            <a:off x="6391222" y="4501942"/>
            <a:ext cx="31089" cy="31089"/>
          </a:xfrm>
          <a:prstGeom prst="ellipse">
            <a:avLst/>
          </a:prstGeom>
          <a:solidFill>
            <a:srgbClr val="2F58B0"/>
          </a:solidFill>
          <a:ln w="3175">
            <a:solidFill>
              <a:srgbClr val="2F5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8" name="Oval 1027"/>
          <p:cNvSpPr/>
          <p:nvPr/>
        </p:nvSpPr>
        <p:spPr>
          <a:xfrm>
            <a:off x="5927985" y="4705181"/>
            <a:ext cx="116701" cy="116701"/>
          </a:xfrm>
          <a:prstGeom prst="ellipse">
            <a:avLst/>
          </a:prstGeom>
          <a:solidFill>
            <a:srgbClr val="C2E0DE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" name="Oval 1028"/>
          <p:cNvSpPr/>
          <p:nvPr/>
        </p:nvSpPr>
        <p:spPr>
          <a:xfrm>
            <a:off x="5970791" y="4747986"/>
            <a:ext cx="31089" cy="31089"/>
          </a:xfrm>
          <a:prstGeom prst="ellipse">
            <a:avLst/>
          </a:prstGeom>
          <a:solidFill>
            <a:srgbClr val="0F6E6E"/>
          </a:solidFill>
          <a:ln w="3175">
            <a:solidFill>
              <a:srgbClr val="0F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" name="Oval 1029"/>
          <p:cNvSpPr/>
          <p:nvPr/>
        </p:nvSpPr>
        <p:spPr>
          <a:xfrm>
            <a:off x="2263630" y="5230958"/>
            <a:ext cx="71688" cy="71688"/>
          </a:xfrm>
          <a:prstGeom prst="ellipse">
            <a:avLst/>
          </a:prstGeom>
          <a:solidFill>
            <a:srgbClr val="E8C6B4">
              <a:alpha val="72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" name="Oval 1030"/>
          <p:cNvSpPr/>
          <p:nvPr/>
        </p:nvSpPr>
        <p:spPr>
          <a:xfrm>
            <a:off x="2283930" y="5251258"/>
            <a:ext cx="31089" cy="31089"/>
          </a:xfrm>
          <a:prstGeom prst="ellipse">
            <a:avLst/>
          </a:prstGeom>
          <a:solidFill>
            <a:srgbClr val="B05A2E"/>
          </a:solidFill>
          <a:ln w="3175">
            <a:solidFill>
              <a:srgbClr val="B0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2" name="Diamond 1031"/>
          <p:cNvSpPr/>
          <p:nvPr/>
        </p:nvSpPr>
        <p:spPr>
          <a:xfrm>
            <a:off x="1447519" y="3087260"/>
            <a:ext cx="86868" cy="86868"/>
          </a:xfrm>
          <a:prstGeom prst="diamond">
            <a:avLst/>
          </a:prstGeom>
          <a:solidFill>
            <a:srgbClr val="BCDCE5">
              <a:alpha val="85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3" name="Diamond 1032"/>
          <p:cNvSpPr/>
          <p:nvPr/>
        </p:nvSpPr>
        <p:spPr>
          <a:xfrm>
            <a:off x="5134380" y="2971694"/>
            <a:ext cx="86868" cy="86868"/>
          </a:xfrm>
          <a:prstGeom prst="diamond">
            <a:avLst/>
          </a:prstGeom>
          <a:solidFill>
            <a:srgbClr val="F6D6C2">
              <a:alpha val="85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4" name="Diamond 1033"/>
          <p:cNvSpPr/>
          <p:nvPr/>
        </p:nvSpPr>
        <p:spPr>
          <a:xfrm>
            <a:off x="4002449" y="3124539"/>
            <a:ext cx="86868" cy="86868"/>
          </a:xfrm>
          <a:prstGeom prst="diamond">
            <a:avLst/>
          </a:prstGeom>
          <a:solidFill>
            <a:srgbClr val="DCCFEE">
              <a:alpha val="85000"/>
            </a:srgb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5" name="5-Point Star 1034"/>
          <p:cNvSpPr/>
          <p:nvPr/>
        </p:nvSpPr>
        <p:spPr>
          <a:xfrm>
            <a:off x="6423780" y="2644339"/>
            <a:ext cx="160020" cy="160020"/>
          </a:xfrm>
          <a:prstGeom prst="star5">
            <a:avLst/>
          </a:prstGeom>
          <a:solidFill>
            <a:srgbClr val="C0233A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36" name="Connector 1035"/>
          <p:cNvCxnSpPr/>
          <p:nvPr/>
        </p:nvCxnSpPr>
        <p:spPr>
          <a:xfrm>
            <a:off x="1005840" y="2560320"/>
            <a:ext cx="6144768" cy="0"/>
          </a:xfrm>
          <a:prstGeom prst="line">
            <a:avLst/>
          </a:prstGeom>
          <a:ln w="1397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>
            <a:off x="1005840" y="5468112"/>
            <a:ext cx="6144768" cy="0"/>
          </a:xfrm>
          <a:prstGeom prst="line">
            <a:avLst/>
          </a:prstGeom>
          <a:ln w="1397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>
            <a:off x="1005840" y="2560320"/>
            <a:ext cx="0" cy="2907792"/>
          </a:xfrm>
          <a:prstGeom prst="line">
            <a:avLst/>
          </a:prstGeom>
          <a:ln w="1397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>
            <a:off x="7150608" y="2560320"/>
            <a:ext cx="0" cy="2907792"/>
          </a:xfrm>
          <a:prstGeom prst="line">
            <a:avLst/>
          </a:prstGeom>
          <a:ln w="1397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sp>
        <p:nvSpPr>
          <p:cNvPr id="1040" name="TextBox 1039"/>
          <p:cNvSpPr txBox="1"/>
          <p:nvPr/>
        </p:nvSpPr>
        <p:spPr>
          <a:xfrm>
            <a:off x="621792" y="5162139"/>
            <a:ext cx="310896" cy="16459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10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621792" y="4789345"/>
            <a:ext cx="310896" cy="16459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20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621792" y="4416552"/>
            <a:ext cx="310896" cy="16459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30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621792" y="4043758"/>
            <a:ext cx="310896" cy="16459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40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621792" y="3670964"/>
            <a:ext cx="310896" cy="16459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50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621792" y="3298170"/>
            <a:ext cx="310896" cy="16459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60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621792" y="2925376"/>
            <a:ext cx="310896" cy="16459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70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21792" y="2552582"/>
            <a:ext cx="310896" cy="16459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80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898133" y="5532120"/>
            <a:ext cx="603504" cy="19202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Comic Sans MS"/>
              </a:rPr>
              <a:t>82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1544950" y="5532120"/>
            <a:ext cx="603504" cy="19202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Comic Sans MS"/>
              </a:rPr>
              <a:t>84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2191768" y="5532120"/>
            <a:ext cx="603504" cy="19202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Comic Sans MS"/>
              </a:rPr>
              <a:t>86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2838586" y="5532120"/>
            <a:ext cx="603504" cy="19202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Comic Sans MS"/>
              </a:rPr>
              <a:t>88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3485404" y="5532120"/>
            <a:ext cx="603504" cy="19202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Comic Sans MS"/>
              </a:rPr>
              <a:t>90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4132221" y="5532120"/>
            <a:ext cx="603504" cy="19202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Comic Sans MS"/>
              </a:rPr>
              <a:t>92</a:t>
            </a:r>
          </a:p>
        </p:txBody>
      </p:sp>
      <p:sp>
        <p:nvSpPr>
          <p:cNvPr id="1054" name="TextBox 1053"/>
          <p:cNvSpPr txBox="1"/>
          <p:nvPr/>
        </p:nvSpPr>
        <p:spPr>
          <a:xfrm>
            <a:off x="4779039" y="5532120"/>
            <a:ext cx="603504" cy="19202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Comic Sans MS"/>
              </a:rPr>
              <a:t>94</a:t>
            </a:r>
          </a:p>
        </p:txBody>
      </p:sp>
      <p:sp>
        <p:nvSpPr>
          <p:cNvPr id="1055" name="TextBox 1054"/>
          <p:cNvSpPr txBox="1"/>
          <p:nvPr/>
        </p:nvSpPr>
        <p:spPr>
          <a:xfrm>
            <a:off x="5425857" y="5532120"/>
            <a:ext cx="603504" cy="19202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Comic Sans MS"/>
              </a:rPr>
              <a:t>96</a:t>
            </a:r>
          </a:p>
        </p:txBody>
      </p:sp>
      <p:sp>
        <p:nvSpPr>
          <p:cNvPr id="1056" name="TextBox 1055"/>
          <p:cNvSpPr txBox="1"/>
          <p:nvPr/>
        </p:nvSpPr>
        <p:spPr>
          <a:xfrm>
            <a:off x="6072674" y="5532120"/>
            <a:ext cx="603504" cy="19202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Comic Sans MS"/>
              </a:rPr>
              <a:t>98</a:t>
            </a:r>
          </a:p>
        </p:txBody>
      </p:sp>
      <p:sp>
        <p:nvSpPr>
          <p:cNvPr id="1057" name="TextBox 1056"/>
          <p:cNvSpPr txBox="1"/>
          <p:nvPr/>
        </p:nvSpPr>
        <p:spPr>
          <a:xfrm>
            <a:off x="6719492" y="5532120"/>
            <a:ext cx="603504" cy="19202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Comic Sans MS"/>
              </a:rPr>
              <a:t>100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566928" y="2359152"/>
            <a:ext cx="4937760" cy="21031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omic Sans MS"/>
              </a:rPr>
              <a:t>VP-Air R@1   (cross-environment benchmark, %)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3493008" y="5724144"/>
            <a:ext cx="3657600" cy="21031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omic Sans MS"/>
              </a:rPr>
              <a:t>Tokyo 24/7 R@1   (standard benchmark, %)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4547832" y="5224881"/>
            <a:ext cx="437387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Comic Sans MS"/>
              </a:rPr>
              <a:t>EigenPl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3209725" y="4804503"/>
            <a:ext cx="564388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7A2E"/>
                </a:solidFill>
                <a:latin typeface="Comic Sans MS"/>
              </a:rPr>
              <a:t>CricaVPR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5628963" y="3183026"/>
            <a:ext cx="538988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omic Sans MS"/>
              </a:rPr>
              <a:t>MegaLoc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2656777" y="4518462"/>
            <a:ext cx="532638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B4FA3"/>
                </a:solidFill>
                <a:latin typeface="Comic Sans MS"/>
              </a:rPr>
              <a:t>CosPlace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6472142" y="4088739"/>
            <a:ext cx="364363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A82878"/>
                </a:solidFill>
                <a:latin typeface="Comic Sans MS"/>
              </a:rPr>
              <a:t>SAGE</a:t>
            </a:r>
          </a:p>
        </p:txBody>
      </p:sp>
      <p:sp>
        <p:nvSpPr>
          <p:cNvPr id="1065" name="TextBox 1064"/>
          <p:cNvSpPr txBox="1"/>
          <p:nvPr/>
        </p:nvSpPr>
        <p:spPr>
          <a:xfrm>
            <a:off x="4426068" y="4331055"/>
            <a:ext cx="516763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278A0"/>
                </a:solidFill>
                <a:latin typeface="Comic Sans MS"/>
              </a:rPr>
              <a:t>SelaVPR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3039108" y="5200703"/>
            <a:ext cx="608838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B6CA8"/>
                </a:solidFill>
                <a:latin typeface="Comic Sans MS"/>
              </a:rPr>
              <a:t>R2Former</a:t>
            </a:r>
          </a:p>
        </p:txBody>
      </p:sp>
      <p:sp>
        <p:nvSpPr>
          <p:cNvPr id="1067" name="TextBox 1066"/>
          <p:cNvSpPr txBox="1"/>
          <p:nvPr/>
        </p:nvSpPr>
        <p:spPr>
          <a:xfrm>
            <a:off x="2361943" y="4881378"/>
            <a:ext cx="475488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F8F6F"/>
                </a:solidFill>
                <a:latin typeface="Comic Sans MS"/>
              </a:rPr>
              <a:t>MixVPR</a:t>
            </a:r>
          </a:p>
        </p:txBody>
      </p:sp>
      <p:sp>
        <p:nvSpPr>
          <p:cNvPr id="1068" name="TextBox 1067"/>
          <p:cNvSpPr txBox="1"/>
          <p:nvPr/>
        </p:nvSpPr>
        <p:spPr>
          <a:xfrm>
            <a:off x="4178404" y="4659114"/>
            <a:ext cx="710438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4C41"/>
                </a:solidFill>
                <a:latin typeface="Comic Sans MS"/>
              </a:rPr>
              <a:t>SuperVLAD</a:t>
            </a:r>
          </a:p>
        </p:txBody>
      </p:sp>
      <p:sp>
        <p:nvSpPr>
          <p:cNvPr id="1069" name="TextBox 1068"/>
          <p:cNvSpPr txBox="1"/>
          <p:nvPr/>
        </p:nvSpPr>
        <p:spPr>
          <a:xfrm>
            <a:off x="5532126" y="4120879"/>
            <a:ext cx="732663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348A8"/>
                </a:solidFill>
                <a:latin typeface="Comic Sans MS"/>
              </a:rPr>
              <a:t>VLAD-BuFF</a:t>
            </a:r>
          </a:p>
        </p:txBody>
      </p:sp>
      <p:sp>
        <p:nvSpPr>
          <p:cNvPr id="1070" name="TextBox 1069"/>
          <p:cNvSpPr txBox="1"/>
          <p:nvPr/>
        </p:nvSpPr>
        <p:spPr>
          <a:xfrm>
            <a:off x="5057349" y="4835738"/>
            <a:ext cx="453263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08A1E"/>
                </a:solidFill>
                <a:latin typeface="Comic Sans MS"/>
              </a:rPr>
              <a:t>SALAD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6519982" y="4446621"/>
            <a:ext cx="275463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F58B0"/>
                </a:solidFill>
                <a:latin typeface="Comic Sans MS"/>
              </a:rPr>
              <a:t>BoQ</a:t>
            </a:r>
          </a:p>
        </p:txBody>
      </p:sp>
      <p:sp>
        <p:nvSpPr>
          <p:cNvPr id="1072" name="TextBox 1071"/>
          <p:cNvSpPr txBox="1"/>
          <p:nvPr/>
        </p:nvSpPr>
        <p:spPr>
          <a:xfrm>
            <a:off x="5754561" y="4876746"/>
            <a:ext cx="481838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Comic Sans MS"/>
              </a:rPr>
              <a:t>CliqueM</a:t>
            </a:r>
          </a:p>
        </p:txBody>
      </p:sp>
      <p:sp>
        <p:nvSpPr>
          <p:cNvPr id="1073" name="TextBox 1072"/>
          <p:cNvSpPr txBox="1"/>
          <p:nvPr/>
        </p:nvSpPr>
        <p:spPr>
          <a:xfrm>
            <a:off x="1589251" y="3059828"/>
            <a:ext cx="450088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F7E96"/>
                </a:solidFill>
                <a:latin typeface="Comic Sans MS"/>
              </a:rPr>
              <a:t>AnyLoc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4152416" y="2944262"/>
            <a:ext cx="945388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410C"/>
                </a:solidFill>
                <a:latin typeface="Comic Sans MS"/>
              </a:rPr>
              <a:t>SegVLAD-PreT</a:t>
            </a:r>
          </a:p>
        </p:txBody>
      </p:sp>
      <p:sp>
        <p:nvSpPr>
          <p:cNvPr id="1075" name="TextBox 1074"/>
          <p:cNvSpPr txBox="1"/>
          <p:nvPr/>
        </p:nvSpPr>
        <p:spPr>
          <a:xfrm>
            <a:off x="3664883" y="3266271"/>
            <a:ext cx="780287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A3FA0"/>
                </a:solidFill>
                <a:latin typeface="Comic Sans MS"/>
              </a:rPr>
              <a:t>EffoVPR-ZS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872216" y="5195937"/>
            <a:ext cx="354837" cy="14173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5A2E"/>
                </a:solidFill>
                <a:latin typeface="Comic Sans MS"/>
              </a:rPr>
              <a:t>SFRS</a:t>
            </a:r>
          </a:p>
        </p:txBody>
      </p:sp>
      <p:sp>
        <p:nvSpPr>
          <p:cNvPr id="1077" name="TextBox 1076"/>
          <p:cNvSpPr txBox="1"/>
          <p:nvPr/>
        </p:nvSpPr>
        <p:spPr>
          <a:xfrm>
            <a:off x="5518524" y="2605477"/>
            <a:ext cx="850392" cy="2377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omic Sans MS"/>
              </a:rPr>
              <a:t>Ours</a:t>
            </a:r>
          </a:p>
        </p:txBody>
      </p:sp>
      <p:sp>
        <p:nvSpPr>
          <p:cNvPr id="1078" name="5-Point Star 1077"/>
          <p:cNvSpPr/>
          <p:nvPr/>
        </p:nvSpPr>
        <p:spPr>
          <a:xfrm>
            <a:off x="1051560" y="6127394"/>
            <a:ext cx="135331" cy="135331"/>
          </a:xfrm>
          <a:prstGeom prst="star5">
            <a:avLst/>
          </a:prstGeom>
          <a:solidFill>
            <a:srgbClr val="C0233A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9" name="TextBox 1078"/>
          <p:cNvSpPr txBox="1"/>
          <p:nvPr/>
        </p:nvSpPr>
        <p:spPr>
          <a:xfrm>
            <a:off x="1232611" y="6099047"/>
            <a:ext cx="1261872" cy="192024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omic Sans MS"/>
              </a:rPr>
              <a:t>ours (training-free)</a:t>
            </a:r>
          </a:p>
        </p:txBody>
      </p:sp>
      <p:sp>
        <p:nvSpPr>
          <p:cNvPr id="1080" name="Diamond 1079"/>
          <p:cNvSpPr/>
          <p:nvPr/>
        </p:nvSpPr>
        <p:spPr>
          <a:xfrm>
            <a:off x="2651760" y="6159855"/>
            <a:ext cx="70408" cy="70408"/>
          </a:xfrm>
          <a:prstGeom prst="diamond">
            <a:avLst/>
          </a:prstGeom>
          <a:solidFill>
            <a:srgbClr val="C4C4C4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1" name="TextBox 1080"/>
          <p:cNvSpPr txBox="1"/>
          <p:nvPr/>
        </p:nvSpPr>
        <p:spPr>
          <a:xfrm>
            <a:off x="2767888" y="6099047"/>
            <a:ext cx="822960" cy="192024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omic Sans MS"/>
              </a:rPr>
              <a:t>training-free</a:t>
            </a:r>
          </a:p>
        </p:txBody>
      </p:sp>
      <p:sp>
        <p:nvSpPr>
          <p:cNvPr id="1082" name="Oval 1081"/>
          <p:cNvSpPr/>
          <p:nvPr/>
        </p:nvSpPr>
        <p:spPr>
          <a:xfrm>
            <a:off x="3749040" y="6159855"/>
            <a:ext cx="70408" cy="70408"/>
          </a:xfrm>
          <a:prstGeom prst="ellipse">
            <a:avLst/>
          </a:prstGeom>
          <a:solidFill>
            <a:srgbClr val="C4C4C4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3" name="TextBox 1082"/>
          <p:cNvSpPr txBox="1"/>
          <p:nvPr/>
        </p:nvSpPr>
        <p:spPr>
          <a:xfrm>
            <a:off x="3865168" y="6099047"/>
            <a:ext cx="438912" cy="192024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omic Sans MS"/>
              </a:rPr>
              <a:t>trained</a:t>
            </a:r>
          </a:p>
        </p:txBody>
      </p:sp>
      <p:sp>
        <p:nvSpPr>
          <p:cNvPr id="1084" name="Oval 1083"/>
          <p:cNvSpPr/>
          <p:nvPr/>
        </p:nvSpPr>
        <p:spPr>
          <a:xfrm>
            <a:off x="4526280" y="6114909"/>
            <a:ext cx="160301" cy="160301"/>
          </a:xfrm>
          <a:prstGeom prst="ellipse">
            <a:avLst/>
          </a:prstGeom>
          <a:solidFill>
            <a:srgbClr val="C4C4C4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5" name="TextBox 1084"/>
          <p:cNvSpPr txBox="1"/>
          <p:nvPr/>
        </p:nvSpPr>
        <p:spPr>
          <a:xfrm>
            <a:off x="4732301" y="6099047"/>
            <a:ext cx="1005840" cy="192024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omic Sans MS"/>
              </a:rPr>
              <a:t>1 million images</a:t>
            </a:r>
          </a:p>
        </p:txBody>
      </p:sp>
      <p:sp>
        <p:nvSpPr>
          <p:cNvPr id="1086" name="Oval 1085"/>
          <p:cNvSpPr/>
          <p:nvPr/>
        </p:nvSpPr>
        <p:spPr>
          <a:xfrm>
            <a:off x="5943600" y="6015837"/>
            <a:ext cx="358444" cy="358444"/>
          </a:xfrm>
          <a:prstGeom prst="ellipse">
            <a:avLst/>
          </a:prstGeom>
          <a:solidFill>
            <a:srgbClr val="C4C4C4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7" name="TextBox 1086"/>
          <p:cNvSpPr txBox="1"/>
          <p:nvPr/>
        </p:nvSpPr>
        <p:spPr>
          <a:xfrm>
            <a:off x="6347764" y="6099047"/>
            <a:ext cx="1005840" cy="192024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omic Sans MS"/>
              </a:rPr>
              <a:t>5 million images</a:t>
            </a:r>
          </a:p>
        </p:txBody>
      </p:sp>
      <p:cxnSp>
        <p:nvCxnSpPr>
          <p:cNvPr id="1088" name="Connector 1087"/>
          <p:cNvCxnSpPr/>
          <p:nvPr/>
        </p:nvCxnSpPr>
        <p:spPr>
          <a:xfrm>
            <a:off x="530352" y="1536192"/>
            <a:ext cx="3332480" cy="0"/>
          </a:xfrm>
          <a:prstGeom prst="line">
            <a:avLst/>
          </a:prstGeom>
          <a:ln w="11430">
            <a:solidFill>
              <a:srgbClr val="B31E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>
            <a:off x="1653235" y="1697126"/>
            <a:ext cx="58521" cy="65837"/>
          </a:xfrm>
          <a:prstGeom prst="line">
            <a:avLst/>
          </a:prstGeom>
          <a:ln w="30480">
            <a:solidFill>
              <a:srgbClr val="1E7A46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 flipV="1">
            <a:off x="1711756" y="1627631"/>
            <a:ext cx="113386" cy="135332"/>
          </a:xfrm>
          <a:prstGeom prst="line">
            <a:avLst/>
          </a:prstGeom>
          <a:ln w="30480">
            <a:solidFill>
              <a:srgbClr val="1E7A46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>
            <a:off x="3429203" y="1634947"/>
            <a:ext cx="131673" cy="131673"/>
          </a:xfrm>
          <a:prstGeom prst="line">
            <a:avLst/>
          </a:prstGeom>
          <a:ln w="30480">
            <a:solidFill>
              <a:srgbClr val="B31E2E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92" name="Connector 1091"/>
          <p:cNvCxnSpPr/>
          <p:nvPr/>
        </p:nvCxnSpPr>
        <p:spPr>
          <a:xfrm flipV="1">
            <a:off x="3429203" y="1634947"/>
            <a:ext cx="131673" cy="131673"/>
          </a:xfrm>
          <a:prstGeom prst="line">
            <a:avLst/>
          </a:prstGeom>
          <a:ln w="30480">
            <a:solidFill>
              <a:srgbClr val="B31E2E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93" name="Connector 1092"/>
          <p:cNvCxnSpPr/>
          <p:nvPr/>
        </p:nvCxnSpPr>
        <p:spPr>
          <a:xfrm>
            <a:off x="4370740" y="1536192"/>
            <a:ext cx="3332480" cy="0"/>
          </a:xfrm>
          <a:prstGeom prst="line">
            <a:avLst/>
          </a:prstGeom>
          <a:ln w="11430">
            <a:solidFill>
              <a:srgbClr val="B31E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>
            <a:off x="5511911" y="1634947"/>
            <a:ext cx="131673" cy="131673"/>
          </a:xfrm>
          <a:prstGeom prst="line">
            <a:avLst/>
          </a:prstGeom>
          <a:ln w="30480">
            <a:solidFill>
              <a:srgbClr val="B31E2E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 flipV="1">
            <a:off x="5511911" y="1634947"/>
            <a:ext cx="131673" cy="131673"/>
          </a:xfrm>
          <a:prstGeom prst="line">
            <a:avLst/>
          </a:prstGeom>
          <a:ln w="30480">
            <a:solidFill>
              <a:srgbClr val="B31E2E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>
            <a:off x="7262276" y="1700784"/>
            <a:ext cx="146304" cy="0"/>
          </a:xfrm>
          <a:prstGeom prst="line">
            <a:avLst/>
          </a:prstGeom>
          <a:ln w="30480">
            <a:solidFill>
              <a:srgbClr val="8E8E8E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>
            <a:off x="8187020" y="1536192"/>
            <a:ext cx="3332480" cy="0"/>
          </a:xfrm>
          <a:prstGeom prst="line">
            <a:avLst/>
          </a:prstGeom>
          <a:ln w="11430">
            <a:solidFill>
              <a:srgbClr val="1E7A4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>
            <a:off x="9309903" y="1697126"/>
            <a:ext cx="58521" cy="65837"/>
          </a:xfrm>
          <a:prstGeom prst="line">
            <a:avLst/>
          </a:prstGeom>
          <a:ln w="30480">
            <a:solidFill>
              <a:srgbClr val="1E7A46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 flipV="1">
            <a:off x="9368424" y="1627631"/>
            <a:ext cx="113386" cy="135332"/>
          </a:xfrm>
          <a:prstGeom prst="line">
            <a:avLst/>
          </a:prstGeom>
          <a:ln w="30480">
            <a:solidFill>
              <a:srgbClr val="1E7A46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100" name="Connector 1099"/>
          <p:cNvCxnSpPr/>
          <p:nvPr/>
        </p:nvCxnSpPr>
        <p:spPr>
          <a:xfrm>
            <a:off x="11067583" y="1697126"/>
            <a:ext cx="58521" cy="65837"/>
          </a:xfrm>
          <a:prstGeom prst="line">
            <a:avLst/>
          </a:prstGeom>
          <a:ln w="30480">
            <a:solidFill>
              <a:srgbClr val="1E7A46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 flipV="1">
            <a:off x="11126104" y="1627631"/>
            <a:ext cx="113386" cy="135332"/>
          </a:xfrm>
          <a:prstGeom prst="line">
            <a:avLst/>
          </a:prstGeom>
          <a:ln w="30480">
            <a:solidFill>
              <a:srgbClr val="1E7A46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pic>
        <p:nvPicPr>
          <p:cNvPr id="1102" name="Picture 1101" descr="train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658368"/>
            <a:ext cx="777240" cy="475488"/>
          </a:xfrm>
          <a:prstGeom prst="rect">
            <a:avLst/>
          </a:prstGeom>
          <a:ln w="9525">
            <a:solidFill>
              <a:srgbClr val="B3B3B3"/>
            </a:solidFill>
          </a:ln>
          <a:effectLst/>
        </p:spPr>
      </p:pic>
      <p:pic>
        <p:nvPicPr>
          <p:cNvPr id="1103" name="Picture 1102" descr="train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612648"/>
            <a:ext cx="777240" cy="475488"/>
          </a:xfrm>
          <a:prstGeom prst="rect">
            <a:avLst/>
          </a:prstGeom>
          <a:ln w="9525">
            <a:solidFill>
              <a:srgbClr val="B3B3B3"/>
            </a:solidFill>
          </a:ln>
          <a:effectLst/>
        </p:spPr>
      </p:pic>
      <p:pic>
        <p:nvPicPr>
          <p:cNvPr id="1104" name="Picture 1103" descr="train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66928"/>
            <a:ext cx="777240" cy="475488"/>
          </a:xfrm>
          <a:prstGeom prst="rect">
            <a:avLst/>
          </a:prstGeom>
          <a:ln w="9525">
            <a:solidFill>
              <a:srgbClr val="B3B3B3"/>
            </a:solidFill>
          </a:ln>
          <a:effectLst/>
        </p:spPr>
      </p:pic>
      <p:sp>
        <p:nvSpPr>
          <p:cNvPr id="1105" name="Oval 1104"/>
          <p:cNvSpPr/>
          <p:nvPr/>
        </p:nvSpPr>
        <p:spPr>
          <a:xfrm>
            <a:off x="8377301" y="2862072"/>
            <a:ext cx="2651759" cy="2651759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6" name="Oval 1105"/>
          <p:cNvSpPr/>
          <p:nvPr/>
        </p:nvSpPr>
        <p:spPr>
          <a:xfrm>
            <a:off x="9438005" y="3922776"/>
            <a:ext cx="530352" cy="530352"/>
          </a:xfrm>
          <a:prstGeom prst="ellipse">
            <a:avLst/>
          </a:prstGeom>
          <a:noFill/>
          <a:ln w="8890">
            <a:solidFill>
              <a:srgbClr val="C9C9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7" name="Oval 1106"/>
          <p:cNvSpPr/>
          <p:nvPr/>
        </p:nvSpPr>
        <p:spPr>
          <a:xfrm>
            <a:off x="9172829" y="3657600"/>
            <a:ext cx="1060704" cy="1060704"/>
          </a:xfrm>
          <a:prstGeom prst="ellipse">
            <a:avLst/>
          </a:prstGeom>
          <a:noFill/>
          <a:ln w="8890">
            <a:solidFill>
              <a:srgbClr val="C9C9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8" name="Oval 1107"/>
          <p:cNvSpPr/>
          <p:nvPr/>
        </p:nvSpPr>
        <p:spPr>
          <a:xfrm>
            <a:off x="8907653" y="3392424"/>
            <a:ext cx="1591055" cy="1591055"/>
          </a:xfrm>
          <a:prstGeom prst="ellipse">
            <a:avLst/>
          </a:prstGeom>
          <a:noFill/>
          <a:ln w="8890">
            <a:solidFill>
              <a:srgbClr val="C9C9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9" name="Oval 1108"/>
          <p:cNvSpPr/>
          <p:nvPr/>
        </p:nvSpPr>
        <p:spPr>
          <a:xfrm>
            <a:off x="8642477" y="3127248"/>
            <a:ext cx="2121408" cy="2121408"/>
          </a:xfrm>
          <a:prstGeom prst="ellipse">
            <a:avLst/>
          </a:prstGeom>
          <a:noFill/>
          <a:ln w="8890">
            <a:solidFill>
              <a:srgbClr val="C9C9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0" name="Oval 1109"/>
          <p:cNvSpPr/>
          <p:nvPr/>
        </p:nvSpPr>
        <p:spPr>
          <a:xfrm>
            <a:off x="8377301" y="2862072"/>
            <a:ext cx="2651759" cy="2651759"/>
          </a:xfrm>
          <a:prstGeom prst="ellipse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Freeform 1"/>
          <p:cNvSpPr/>
          <p:nvPr/>
        </p:nvSpPr>
        <p:spPr>
          <a:xfrm>
            <a:off x="8419923" y="2913781"/>
            <a:ext cx="2558594" cy="2395820"/>
          </a:xfrm>
          <a:custGeom>
            <a:avLst/>
            <a:gdLst/>
            <a:ahLst/>
            <a:cxnLst/>
            <a:rect l="l" t="t" r="r" b="b"/>
            <a:pathLst>
              <a:path w="2558594" h="2395820">
                <a:moveTo>
                  <a:pt x="1283258" y="0"/>
                </a:moveTo>
                <a:lnTo>
                  <a:pt x="1732046" y="115714"/>
                </a:lnTo>
                <a:lnTo>
                  <a:pt x="2162205" y="310011"/>
                </a:lnTo>
                <a:lnTo>
                  <a:pt x="2343141" y="746411"/>
                </a:lnTo>
                <a:lnTo>
                  <a:pt x="2558594" y="1155993"/>
                </a:lnTo>
                <a:lnTo>
                  <a:pt x="2554697" y="1635926"/>
                </a:lnTo>
                <a:lnTo>
                  <a:pt x="2330752" y="2065201"/>
                </a:lnTo>
                <a:lnTo>
                  <a:pt x="1796975" y="2103853"/>
                </a:lnTo>
                <a:lnTo>
                  <a:pt x="1442348" y="2125228"/>
                </a:lnTo>
                <a:lnTo>
                  <a:pt x="1079827" y="2362430"/>
                </a:lnTo>
                <a:lnTo>
                  <a:pt x="588762" y="2395820"/>
                </a:lnTo>
                <a:lnTo>
                  <a:pt x="462191" y="1894211"/>
                </a:lnTo>
                <a:lnTo>
                  <a:pt x="116390" y="1606173"/>
                </a:lnTo>
                <a:lnTo>
                  <a:pt x="0" y="1155259"/>
                </a:lnTo>
                <a:lnTo>
                  <a:pt x="559261" y="913663"/>
                </a:lnTo>
                <a:lnTo>
                  <a:pt x="605289" y="530474"/>
                </a:lnTo>
                <a:lnTo>
                  <a:pt x="1103167" y="809304"/>
                </a:lnTo>
                <a:close/>
              </a:path>
            </a:pathLst>
          </a:custGeom>
          <a:solidFill>
            <a:srgbClr val="F0C6CD">
              <a:alpha val="18000"/>
            </a:srgbClr>
          </a:solidFill>
          <a:ln w="30480">
            <a:solidFill>
              <a:srgbClr val="C0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607728" y="2909803"/>
            <a:ext cx="2370718" cy="2354707"/>
          </a:xfrm>
          <a:custGeom>
            <a:avLst/>
            <a:gdLst/>
            <a:ahLst/>
            <a:cxnLst/>
            <a:rect l="l" t="t" r="r" b="b"/>
            <a:pathLst>
              <a:path w="2370718" h="2354707">
                <a:moveTo>
                  <a:pt x="1095453" y="0"/>
                </a:moveTo>
                <a:lnTo>
                  <a:pt x="1546157" y="114747"/>
                </a:lnTo>
                <a:lnTo>
                  <a:pt x="1957429" y="332606"/>
                </a:lnTo>
                <a:lnTo>
                  <a:pt x="2175512" y="740343"/>
                </a:lnTo>
                <a:lnTo>
                  <a:pt x="2340424" y="1162785"/>
                </a:lnTo>
                <a:lnTo>
                  <a:pt x="2370718" y="1640993"/>
                </a:lnTo>
                <a:lnTo>
                  <a:pt x="2142947" y="2069179"/>
                </a:lnTo>
                <a:lnTo>
                  <a:pt x="1531694" y="1982702"/>
                </a:lnTo>
                <a:lnTo>
                  <a:pt x="1253325" y="2122690"/>
                </a:lnTo>
                <a:lnTo>
                  <a:pt x="902010" y="2312972"/>
                </a:lnTo>
                <a:lnTo>
                  <a:pt x="428876" y="2354707"/>
                </a:lnTo>
                <a:lnTo>
                  <a:pt x="612970" y="1642502"/>
                </a:lnTo>
                <a:lnTo>
                  <a:pt x="0" y="1589832"/>
                </a:lnTo>
                <a:lnTo>
                  <a:pt x="16829" y="1178199"/>
                </a:lnTo>
                <a:lnTo>
                  <a:pt x="652747" y="1057707"/>
                </a:lnTo>
                <a:lnTo>
                  <a:pt x="600598" y="735319"/>
                </a:lnTo>
                <a:lnTo>
                  <a:pt x="900993" y="776192"/>
                </a:lnTo>
                <a:close/>
              </a:path>
            </a:pathLst>
          </a:custGeom>
          <a:solidFill>
            <a:srgbClr val="F0CFCB">
              <a:alpha val="10000"/>
            </a:srgbClr>
          </a:solidFill>
          <a:ln w="17780">
            <a:solidFill>
              <a:srgbClr val="C0736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569108" y="3033110"/>
            <a:ext cx="2360878" cy="2231400"/>
          </a:xfrm>
          <a:custGeom>
            <a:avLst/>
            <a:gdLst/>
            <a:ahLst/>
            <a:cxnLst/>
            <a:rect l="l" t="t" r="r" b="b"/>
            <a:pathLst>
              <a:path w="2360878" h="2231400">
                <a:moveTo>
                  <a:pt x="1134073" y="0"/>
                </a:moveTo>
                <a:lnTo>
                  <a:pt x="1554123" y="70566"/>
                </a:lnTo>
                <a:lnTo>
                  <a:pt x="1874568" y="342557"/>
                </a:lnTo>
                <a:lnTo>
                  <a:pt x="1868751" y="789015"/>
                </a:lnTo>
                <a:lnTo>
                  <a:pt x="1449606" y="1125603"/>
                </a:lnTo>
                <a:lnTo>
                  <a:pt x="2360878" y="1503898"/>
                </a:lnTo>
                <a:lnTo>
                  <a:pt x="2186857" y="1949868"/>
                </a:lnTo>
                <a:lnTo>
                  <a:pt x="1397911" y="1580956"/>
                </a:lnTo>
                <a:lnTo>
                  <a:pt x="1292432" y="2001989"/>
                </a:lnTo>
                <a:lnTo>
                  <a:pt x="950863" y="2134926"/>
                </a:lnTo>
                <a:lnTo>
                  <a:pt x="467496" y="2231400"/>
                </a:lnTo>
                <a:lnTo>
                  <a:pt x="428336" y="1687789"/>
                </a:lnTo>
                <a:lnTo>
                  <a:pt x="163596" y="1430966"/>
                </a:lnTo>
                <a:lnTo>
                  <a:pt x="0" y="1049754"/>
                </a:lnTo>
                <a:lnTo>
                  <a:pt x="360227" y="769512"/>
                </a:lnTo>
                <a:lnTo>
                  <a:pt x="583837" y="551262"/>
                </a:lnTo>
                <a:lnTo>
                  <a:pt x="968351" y="727066"/>
                </a:lnTo>
                <a:close/>
              </a:path>
            </a:pathLst>
          </a:custGeom>
          <a:solidFill>
            <a:srgbClr val="BCDCE5">
              <a:alpha val="10000"/>
            </a:srgbClr>
          </a:solidFill>
          <a:ln w="17780">
            <a:solidFill>
              <a:srgbClr val="2F7E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TextBox 1110"/>
          <p:cNvSpPr txBox="1"/>
          <p:nvPr/>
        </p:nvSpPr>
        <p:spPr>
          <a:xfrm>
            <a:off x="9398952" y="2649474"/>
            <a:ext cx="60845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3E5C8A"/>
                </a:solidFill>
                <a:latin typeface="Comic Sans MS"/>
              </a:rPr>
              <a:t>Pitts250k</a:t>
            </a:r>
          </a:p>
        </p:txBody>
      </p:sp>
      <p:sp>
        <p:nvSpPr>
          <p:cNvPr id="1112" name="TextBox 1111"/>
          <p:cNvSpPr txBox="1"/>
          <p:nvPr/>
        </p:nvSpPr>
        <p:spPr>
          <a:xfrm>
            <a:off x="10212698" y="2790439"/>
            <a:ext cx="53225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E5C8A"/>
                </a:solidFill>
                <a:latin typeface="Comic Sans MS"/>
              </a:rPr>
              <a:t>Pitts30k</a:t>
            </a:r>
          </a:p>
        </p:txBody>
      </p:sp>
      <p:sp>
        <p:nvSpPr>
          <p:cNvPr id="1113" name="TextBox 1112"/>
          <p:cNvSpPr txBox="1"/>
          <p:nvPr/>
        </p:nvSpPr>
        <p:spPr>
          <a:xfrm>
            <a:off x="10653403" y="3063312"/>
            <a:ext cx="73545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E5C8A"/>
                </a:solidFill>
                <a:latin typeface="Comic Sans MS"/>
              </a:rPr>
              <a:t>Tokyo 24/7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10965774" y="3476958"/>
            <a:ext cx="62750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E5C8A"/>
                </a:solidFill>
                <a:latin typeface="Comic Sans MS"/>
              </a:rPr>
              <a:t>MSLS-val</a:t>
            </a:r>
          </a:p>
        </p:txBody>
      </p:sp>
      <p:sp>
        <p:nvSpPr>
          <p:cNvPr id="1115" name="TextBox 1114"/>
          <p:cNvSpPr txBox="1"/>
          <p:nvPr/>
        </p:nvSpPr>
        <p:spPr>
          <a:xfrm>
            <a:off x="11107626" y="3975514"/>
            <a:ext cx="58305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E5C8A"/>
                </a:solidFill>
                <a:latin typeface="Comic Sans MS"/>
              </a:rPr>
              <a:t>Nordland</a:t>
            </a:r>
          </a:p>
        </p:txBody>
      </p:sp>
      <p:sp>
        <p:nvSpPr>
          <p:cNvPr id="1116" name="TextBox 1115"/>
          <p:cNvSpPr txBox="1"/>
          <p:nvPr/>
        </p:nvSpPr>
        <p:spPr>
          <a:xfrm>
            <a:off x="11059799" y="4491647"/>
            <a:ext cx="53860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E5C8A"/>
                </a:solidFill>
                <a:latin typeface="Comic Sans MS"/>
              </a:rPr>
              <a:t>St Lucia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10828753" y="4955649"/>
            <a:ext cx="471931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E5C8A"/>
                </a:solidFill>
                <a:latin typeface="Comic Sans MS"/>
              </a:rPr>
              <a:t>Oxford</a:t>
            </a:r>
          </a:p>
        </p:txBody>
      </p:sp>
      <p:sp>
        <p:nvSpPr>
          <p:cNvPr id="1118" name="TextBox 1117"/>
          <p:cNvSpPr txBox="1"/>
          <p:nvPr/>
        </p:nvSpPr>
        <p:spPr>
          <a:xfrm>
            <a:off x="10445693" y="5304854"/>
            <a:ext cx="76085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E5C8A"/>
                </a:solidFill>
                <a:latin typeface="Comic Sans MS"/>
              </a:rPr>
              <a:t>AmsterTime</a:t>
            </a:r>
          </a:p>
        </p:txBody>
      </p:sp>
      <p:sp>
        <p:nvSpPr>
          <p:cNvPr id="1119" name="TextBox 1118"/>
          <p:cNvSpPr txBox="1"/>
          <p:nvPr/>
        </p:nvSpPr>
        <p:spPr>
          <a:xfrm>
            <a:off x="9962352" y="5492102"/>
            <a:ext cx="60210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6A3E"/>
                </a:solidFill>
                <a:latin typeface="Comic Sans MS"/>
              </a:rPr>
              <a:t>17 Places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784752" y="5492102"/>
            <a:ext cx="65925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6A3E"/>
                </a:solidFill>
                <a:latin typeface="Comic Sans MS"/>
              </a:rPr>
              <a:t>Baidu Mall</a:t>
            </a:r>
          </a:p>
        </p:txBody>
      </p:sp>
      <p:sp>
        <p:nvSpPr>
          <p:cNvPr id="1121" name="TextBox 1120"/>
          <p:cNvSpPr txBox="1"/>
          <p:nvPr/>
        </p:nvSpPr>
        <p:spPr>
          <a:xfrm>
            <a:off x="8095036" y="5304854"/>
            <a:ext cx="865632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6A3E"/>
                </a:solidFill>
                <a:latin typeface="Comic Sans MS"/>
              </a:rPr>
              <a:t>Gardens Point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8134251" y="4955649"/>
            <a:ext cx="443356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6A3E"/>
                </a:solidFill>
                <a:latin typeface="Comic Sans MS"/>
              </a:rPr>
              <a:t>VP-Air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7677780" y="4491647"/>
            <a:ext cx="668782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6A3E"/>
                </a:solidFill>
                <a:latin typeface="Comic Sans MS"/>
              </a:rPr>
              <a:t>Nardo-Air</a:t>
            </a:r>
          </a:p>
        </p:txBody>
      </p:sp>
      <p:sp>
        <p:nvSpPr>
          <p:cNvPr id="1124" name="TextBox 1123"/>
          <p:cNvSpPr txBox="1"/>
          <p:nvPr/>
        </p:nvSpPr>
        <p:spPr>
          <a:xfrm>
            <a:off x="7493428" y="3975514"/>
            <a:ext cx="80530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6A3E"/>
                </a:solidFill>
                <a:latin typeface="Comic Sans MS"/>
              </a:rPr>
              <a:t>Nardo-Air R</a:t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7927380" y="3476958"/>
            <a:ext cx="51320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6A3E"/>
                </a:solidFill>
                <a:latin typeface="Comic Sans MS"/>
              </a:rPr>
              <a:t>Hawkins</a:t>
            </a:r>
          </a:p>
        </p:txBody>
      </p:sp>
      <p:sp>
        <p:nvSpPr>
          <p:cNvPr id="1126" name="TextBox 1125"/>
          <p:cNvSpPr txBox="1"/>
          <p:nvPr/>
        </p:nvSpPr>
        <p:spPr>
          <a:xfrm>
            <a:off x="8354051" y="3063312"/>
            <a:ext cx="39890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6A3E"/>
                </a:solidFill>
                <a:latin typeface="Comic Sans MS"/>
              </a:rPr>
              <a:t>Laurel</a:t>
            </a:r>
          </a:p>
        </p:txBody>
      </p:sp>
      <p:sp>
        <p:nvSpPr>
          <p:cNvPr id="1127" name="TextBox 1126"/>
          <p:cNvSpPr txBox="1"/>
          <p:nvPr/>
        </p:nvSpPr>
        <p:spPr>
          <a:xfrm>
            <a:off x="8382006" y="2790439"/>
            <a:ext cx="811657" cy="16459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6A3E"/>
                </a:solidFill>
                <a:latin typeface="Comic Sans MS"/>
              </a:rPr>
              <a:t>Mid-Atlantic</a:t>
            </a:r>
          </a:p>
        </p:txBody>
      </p:sp>
      <p:sp>
        <p:nvSpPr>
          <p:cNvPr id="1128" name="TextBox 1127"/>
          <p:cNvSpPr txBox="1"/>
          <p:nvPr/>
        </p:nvSpPr>
        <p:spPr>
          <a:xfrm>
            <a:off x="9300845" y="3950208"/>
            <a:ext cx="347472" cy="21031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20</a:t>
            </a:r>
          </a:p>
        </p:txBody>
      </p:sp>
      <p:sp>
        <p:nvSpPr>
          <p:cNvPr id="1129" name="TextBox 1128"/>
          <p:cNvSpPr txBox="1"/>
          <p:nvPr/>
        </p:nvSpPr>
        <p:spPr>
          <a:xfrm>
            <a:off x="9300845" y="3419856"/>
            <a:ext cx="347472" cy="21031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60</a:t>
            </a:r>
          </a:p>
        </p:txBody>
      </p:sp>
      <p:sp>
        <p:nvSpPr>
          <p:cNvPr id="1130" name="TextBox 1129"/>
          <p:cNvSpPr txBox="1"/>
          <p:nvPr/>
        </p:nvSpPr>
        <p:spPr>
          <a:xfrm>
            <a:off x="9300845" y="2889504"/>
            <a:ext cx="347472" cy="21031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Comic Sans MS"/>
              </a:rPr>
              <a:t>100</a:t>
            </a:r>
          </a:p>
        </p:txBody>
      </p:sp>
      <p:sp>
        <p:nvSpPr>
          <p:cNvPr id="1131" name="TextBox 1130"/>
          <p:cNvSpPr txBox="1"/>
          <p:nvPr/>
        </p:nvSpPr>
        <p:spPr>
          <a:xfrm>
            <a:off x="10471277" y="2487168"/>
            <a:ext cx="1152144" cy="16459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3E5C8A"/>
                </a:solidFill>
                <a:latin typeface="Comic Sans MS"/>
              </a:rPr>
              <a:t>standard benchmarks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7517764" y="5833872"/>
            <a:ext cx="1664208" cy="16459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946A3E"/>
                </a:solidFill>
                <a:latin typeface="Comic Sans MS"/>
              </a:rPr>
              <a:t>cross-environment benchmarks</a:t>
            </a:r>
          </a:p>
        </p:txBody>
      </p:sp>
      <p:cxnSp>
        <p:nvCxnSpPr>
          <p:cNvPr id="1133" name="Connector 1132"/>
          <p:cNvCxnSpPr/>
          <p:nvPr/>
        </p:nvCxnSpPr>
        <p:spPr>
          <a:xfrm>
            <a:off x="8001000" y="6204203"/>
            <a:ext cx="274320" cy="0"/>
          </a:xfrm>
          <a:prstGeom prst="line">
            <a:avLst/>
          </a:prstGeom>
          <a:ln w="28575">
            <a:solidFill>
              <a:srgbClr val="C02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sp>
        <p:nvSpPr>
          <p:cNvPr id="1134" name="TextBox 1133"/>
          <p:cNvSpPr txBox="1"/>
          <p:nvPr/>
        </p:nvSpPr>
        <p:spPr>
          <a:xfrm>
            <a:off x="8330183" y="6094475"/>
            <a:ext cx="466344" cy="219456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omic Sans MS"/>
              </a:rPr>
              <a:t>Ours</a:t>
            </a:r>
          </a:p>
        </p:txBody>
      </p:sp>
      <p:cxnSp>
        <p:nvCxnSpPr>
          <p:cNvPr id="1135" name="Connector 1134"/>
          <p:cNvCxnSpPr/>
          <p:nvPr/>
        </p:nvCxnSpPr>
        <p:spPr>
          <a:xfrm>
            <a:off x="9326880" y="6204203"/>
            <a:ext cx="274320" cy="0"/>
          </a:xfrm>
          <a:prstGeom prst="line">
            <a:avLst/>
          </a:prstGeom>
          <a:ln w="15875">
            <a:solidFill>
              <a:srgbClr val="C0736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sp>
        <p:nvSpPr>
          <p:cNvPr id="1136" name="TextBox 1135"/>
          <p:cNvSpPr txBox="1"/>
          <p:nvPr/>
        </p:nvSpPr>
        <p:spPr>
          <a:xfrm>
            <a:off x="9656063" y="6094475"/>
            <a:ext cx="722376" cy="219456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omic Sans MS"/>
              </a:rPr>
              <a:t>MegaLoc</a:t>
            </a:r>
          </a:p>
        </p:txBody>
      </p:sp>
      <p:cxnSp>
        <p:nvCxnSpPr>
          <p:cNvPr id="1137" name="Connector 1136"/>
          <p:cNvCxnSpPr/>
          <p:nvPr/>
        </p:nvCxnSpPr>
        <p:spPr>
          <a:xfrm>
            <a:off x="10652760" y="6204203"/>
            <a:ext cx="274320" cy="0"/>
          </a:xfrm>
          <a:prstGeom prst="line">
            <a:avLst/>
          </a:prstGeom>
          <a:ln w="15875">
            <a:solidFill>
              <a:srgbClr val="2F7E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/>
          <a:fontRef idx="minor">
            <a:schemeClr val="tx1"/>
          </a:fontRef>
        </p:style>
      </p:cxnSp>
      <p:sp>
        <p:nvSpPr>
          <p:cNvPr id="1138" name="TextBox 1137"/>
          <p:cNvSpPr txBox="1"/>
          <p:nvPr/>
        </p:nvSpPr>
        <p:spPr>
          <a:xfrm>
            <a:off x="10981944" y="6094475"/>
            <a:ext cx="621792" cy="219456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omic Sans MS"/>
              </a:rPr>
              <a:t>AnyLoc</a:t>
            </a:r>
          </a:p>
        </p:txBody>
      </p:sp>
      <p:sp>
        <p:nvSpPr>
          <p:cNvPr id="1139" name="TextBox 1138"/>
          <p:cNvSpPr txBox="1"/>
          <p:nvPr/>
        </p:nvSpPr>
        <p:spPr>
          <a:xfrm>
            <a:off x="1730184" y="118872"/>
            <a:ext cx="932815" cy="3108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31E2E"/>
                </a:solidFill>
                <a:latin typeface="Comic Sans MS"/>
              </a:rPr>
              <a:t>Trained</a:t>
            </a:r>
          </a:p>
        </p:txBody>
      </p:sp>
      <p:sp>
        <p:nvSpPr>
          <p:cNvPr id="1140" name="TextBox 1139"/>
          <p:cNvSpPr txBox="1"/>
          <p:nvPr/>
        </p:nvSpPr>
        <p:spPr>
          <a:xfrm>
            <a:off x="4568860" y="118872"/>
            <a:ext cx="2936240" cy="3108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31E2E"/>
                </a:solidFill>
                <a:latin typeface="Comic Sans MS"/>
              </a:rPr>
              <a:t>Training-free, prior work</a:t>
            </a:r>
          </a:p>
        </p:txBody>
      </p:sp>
      <p:sp>
        <p:nvSpPr>
          <p:cNvPr id="1141" name="TextBox 1140"/>
          <p:cNvSpPr txBox="1"/>
          <p:nvPr/>
        </p:nvSpPr>
        <p:spPr>
          <a:xfrm>
            <a:off x="9547190" y="118872"/>
            <a:ext cx="612140" cy="3108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7A46"/>
                </a:solidFill>
                <a:latin typeface="Comic Sans MS"/>
              </a:rPr>
              <a:t>Ours</a:t>
            </a:r>
          </a:p>
        </p:txBody>
      </p:sp>
      <p:sp>
        <p:nvSpPr>
          <p:cNvPr id="1142" name="TextBox 1141"/>
          <p:cNvSpPr txBox="1"/>
          <p:nvPr/>
        </p:nvSpPr>
        <p:spPr>
          <a:xfrm>
            <a:off x="411479" y="1655064"/>
            <a:ext cx="219456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2B32"/>
                </a:solidFill>
                <a:latin typeface="Comic Sans MS"/>
              </a:rPr>
              <a:t>A</a:t>
            </a:r>
          </a:p>
        </p:txBody>
      </p:sp>
      <p:sp>
        <p:nvSpPr>
          <p:cNvPr id="1143" name="TextBox 1142"/>
          <p:cNvSpPr txBox="1"/>
          <p:nvPr/>
        </p:nvSpPr>
        <p:spPr>
          <a:xfrm>
            <a:off x="4251868" y="1655064"/>
            <a:ext cx="219456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2B32"/>
                </a:solidFill>
                <a:latin typeface="Comic Sans MS"/>
              </a:rPr>
              <a:t>B</a:t>
            </a:r>
          </a:p>
        </p:txBody>
      </p:sp>
      <p:sp>
        <p:nvSpPr>
          <p:cNvPr id="1144" name="TextBox 1143"/>
          <p:cNvSpPr txBox="1"/>
          <p:nvPr/>
        </p:nvSpPr>
        <p:spPr>
          <a:xfrm>
            <a:off x="8068148" y="1655064"/>
            <a:ext cx="219456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2B32"/>
                </a:solidFill>
                <a:latin typeface="Comic Sans MS"/>
              </a:rPr>
              <a:t>C</a:t>
            </a:r>
          </a:p>
        </p:txBody>
      </p:sp>
      <p:sp>
        <p:nvSpPr>
          <p:cNvPr id="1145" name="TextBox 1144"/>
          <p:cNvSpPr txBox="1"/>
          <p:nvPr/>
        </p:nvSpPr>
        <p:spPr>
          <a:xfrm>
            <a:off x="411479" y="6135624"/>
            <a:ext cx="219456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2B32"/>
                </a:solidFill>
                <a:latin typeface="Comic Sans MS"/>
              </a:rPr>
              <a:t>D</a:t>
            </a:r>
          </a:p>
        </p:txBody>
      </p:sp>
      <p:sp>
        <p:nvSpPr>
          <p:cNvPr id="1146" name="TextBox 1145"/>
          <p:cNvSpPr txBox="1"/>
          <p:nvPr/>
        </p:nvSpPr>
        <p:spPr>
          <a:xfrm>
            <a:off x="7543545" y="6135624"/>
            <a:ext cx="219456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252B32"/>
                </a:solidFill>
                <a:latin typeface="Comic Sans MS"/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5256" y="637625"/>
            <a:ext cx="944849" cy="141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1">
                <a:solidFill>
                  <a:srgbClr val="4F6FB5"/>
                </a:solidFill>
                <a:latin typeface="Comic Sans MS" panose="030F0702030302020204"/>
              </a:rPr>
              <a:t>Query</a:t>
            </a:r>
            <a:endParaRPr sz="1150" b="1" i="1">
              <a:solidFill>
                <a:srgbClr val="C00000"/>
              </a:solidFill>
              <a:latin typeface="Comic Sans MS" panose="030F0702030302020204"/>
            </a:endParaRPr>
          </a:p>
        </p:txBody>
      </p:sp>
      <p:pic>
        <p:nvPicPr>
          <p:cNvPr id="3" name="Picture 2" descr="que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56" y="807698"/>
            <a:ext cx="869261" cy="869261"/>
          </a:xfrm>
          <a:prstGeom prst="rect">
            <a:avLst/>
          </a:prstGeom>
          <a:ln w="7620">
            <a:solidFill>
              <a:srgbClr val="B3B3B3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575010" y="807698"/>
            <a:ext cx="0" cy="869262"/>
          </a:xfrm>
          <a:prstGeom prst="line">
            <a:avLst/>
          </a:prstGeom>
          <a:ln w="13970">
            <a:solidFill>
              <a:srgbClr val="A3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5256" y="1097452"/>
            <a:ext cx="869261" cy="0"/>
          </a:xfrm>
          <a:prstGeom prst="line">
            <a:avLst/>
          </a:prstGeom>
          <a:ln w="13970">
            <a:solidFill>
              <a:srgbClr val="A3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64763" y="807698"/>
            <a:ext cx="0" cy="869262"/>
          </a:xfrm>
          <a:prstGeom prst="line">
            <a:avLst/>
          </a:prstGeom>
          <a:ln w="13970">
            <a:solidFill>
              <a:srgbClr val="A3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5256" y="1387206"/>
            <a:ext cx="869261" cy="0"/>
          </a:xfrm>
          <a:prstGeom prst="line">
            <a:avLst/>
          </a:prstGeom>
          <a:ln w="13970">
            <a:solidFill>
              <a:srgbClr val="A3B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5256" y="807698"/>
            <a:ext cx="869261" cy="869261"/>
          </a:xfrm>
          <a:prstGeom prst="roundRect">
            <a:avLst>
              <a:gd name="adj" fmla="val 0"/>
            </a:avLst>
          </a:prstGeom>
          <a:noFill/>
          <a:ln w="18161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56" y="2395045"/>
            <a:ext cx="944849" cy="141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1">
                <a:solidFill>
                  <a:srgbClr val="7A5FA8"/>
                </a:solidFill>
                <a:latin typeface="Comic Sans MS" panose="030F0702030302020204"/>
              </a:rPr>
              <a:t>Database</a:t>
            </a:r>
            <a:endParaRPr sz="1150" b="1" i="1">
              <a:solidFill>
                <a:srgbClr val="C00000"/>
              </a:solidFill>
              <a:latin typeface="Comic Sans MS" panose="030F0702030302020204"/>
            </a:endParaRPr>
          </a:p>
        </p:txBody>
      </p:sp>
      <p:pic>
        <p:nvPicPr>
          <p:cNvPr id="10" name="Picture 9" descr="db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56" y="2697397"/>
            <a:ext cx="812570" cy="812570"/>
          </a:xfrm>
          <a:prstGeom prst="rect">
            <a:avLst/>
          </a:prstGeom>
          <a:ln w="7620">
            <a:solidFill>
              <a:srgbClr val="B3B3B3"/>
            </a:solidFill>
          </a:ln>
        </p:spPr>
      </p:pic>
      <p:pic>
        <p:nvPicPr>
          <p:cNvPr id="11" name="Picture 10" descr="db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95" y="2631258"/>
            <a:ext cx="812570" cy="812570"/>
          </a:xfrm>
          <a:prstGeom prst="rect">
            <a:avLst/>
          </a:prstGeom>
          <a:ln w="7620">
            <a:solidFill>
              <a:srgbClr val="B3B3B3"/>
            </a:solidFill>
          </a:ln>
        </p:spPr>
      </p:pic>
      <p:pic>
        <p:nvPicPr>
          <p:cNvPr id="12" name="Picture 11" descr="db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35" y="2565118"/>
            <a:ext cx="812570" cy="812570"/>
          </a:xfrm>
          <a:prstGeom prst="rect">
            <a:avLst/>
          </a:prstGeom>
          <a:ln w="7620">
            <a:solidFill>
              <a:srgbClr val="B3B3B3"/>
            </a:solidFill>
          </a:ln>
        </p:spPr>
      </p:pic>
      <p:cxnSp>
        <p:nvCxnSpPr>
          <p:cNvPr id="13" name="Connector 12"/>
          <p:cNvCxnSpPr/>
          <p:nvPr/>
        </p:nvCxnSpPr>
        <p:spPr>
          <a:xfrm>
            <a:off x="688392" y="2565118"/>
            <a:ext cx="0" cy="812571"/>
          </a:xfrm>
          <a:prstGeom prst="line">
            <a:avLst/>
          </a:prstGeom>
          <a:ln w="13970">
            <a:solidFill>
              <a:srgbClr val="927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7535" y="2835975"/>
            <a:ext cx="812570" cy="0"/>
          </a:xfrm>
          <a:prstGeom prst="line">
            <a:avLst/>
          </a:prstGeom>
          <a:ln w="13970">
            <a:solidFill>
              <a:srgbClr val="927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9248" y="2565118"/>
            <a:ext cx="0" cy="812571"/>
          </a:xfrm>
          <a:prstGeom prst="line">
            <a:avLst/>
          </a:prstGeom>
          <a:ln w="13970">
            <a:solidFill>
              <a:srgbClr val="927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7535" y="3106832"/>
            <a:ext cx="812570" cy="0"/>
          </a:xfrm>
          <a:prstGeom prst="line">
            <a:avLst/>
          </a:prstGeom>
          <a:ln w="13970">
            <a:solidFill>
              <a:srgbClr val="927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7535" y="2565118"/>
            <a:ext cx="812570" cy="812570"/>
          </a:xfrm>
          <a:prstGeom prst="roundRect">
            <a:avLst>
              <a:gd name="adj" fmla="val 0"/>
            </a:avLst>
          </a:prstGeom>
          <a:noFill/>
          <a:ln w="18161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173414" y="2810779"/>
            <a:ext cx="292904" cy="226764"/>
          </a:xfrm>
          <a:prstGeom prst="line">
            <a:avLst/>
          </a:prstGeom>
          <a:ln w="20574">
            <a:solidFill>
              <a:srgbClr val="5C62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Trapezoid 18"/>
          <p:cNvSpPr/>
          <p:nvPr/>
        </p:nvSpPr>
        <p:spPr>
          <a:xfrm rot="5400000">
            <a:off x="852165" y="1724202"/>
            <a:ext cx="2135359" cy="831467"/>
          </a:xfrm>
          <a:prstGeom prst="trapezoid">
            <a:avLst>
              <a:gd name="adj" fmla="val 22000"/>
            </a:avLst>
          </a:prstGeom>
          <a:solidFill>
            <a:srgbClr val="BCDFE2"/>
          </a:solidFill>
          <a:ln w="23876">
            <a:solidFill>
              <a:srgbClr val="2F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9148" y="1847033"/>
            <a:ext cx="661394" cy="170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Comic Sans MS" panose="030F0702030302020204"/>
              </a:rPr>
              <a:t>Vision</a:t>
            </a:r>
            <a:endParaRPr sz="125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89148" y="2017106"/>
            <a:ext cx="661394" cy="170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Comic Sans MS" panose="030F0702030302020204"/>
              </a:rPr>
              <a:t>Encoder</a:t>
            </a:r>
            <a:endParaRPr sz="125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755253" y="2353283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E9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55253" y="2353283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4E9ED8"/>
                </a:solidFill>
                <a:latin typeface="Times New Roman" panose="02020603050405020304"/>
              </a:rPr>
              <a:t>❄</a:t>
            </a:r>
            <a:endParaRPr sz="1000" b="0" i="0">
              <a:solidFill>
                <a:srgbClr val="4E9ED8"/>
              </a:solidFill>
              <a:latin typeface="Times New Roman" panose="02020603050405020304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1173414" y="1242329"/>
            <a:ext cx="292904" cy="226764"/>
          </a:xfrm>
          <a:prstGeom prst="line">
            <a:avLst/>
          </a:prstGeom>
          <a:ln w="20574">
            <a:solidFill>
              <a:srgbClr val="5C62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28483" y="1015565"/>
            <a:ext cx="151175" cy="151175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36349" y="1015565"/>
            <a:ext cx="151175" cy="151175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044216" y="1015565"/>
            <a:ext cx="151175" cy="151175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59950" y="1015565"/>
            <a:ext cx="151175" cy="151175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23738" y="1034462"/>
            <a:ext cx="207866" cy="1133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A3BBDF"/>
                </a:solidFill>
                <a:latin typeface="Comic Sans MS" panose="030F0702030302020204"/>
              </a:rPr>
              <a:t>…</a:t>
            </a:r>
            <a:endParaRPr sz="1100" b="1" i="0">
              <a:solidFill>
                <a:srgbClr val="A3BBDF"/>
              </a:solidFill>
              <a:latin typeface="Comic Sans MS" panose="030F07020303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533998" y="1195086"/>
            <a:ext cx="340145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1A1A1A"/>
                </a:solidFill>
                <a:latin typeface="Comic Sans MS" panose="030F0702030302020204"/>
              </a:rPr>
              <a:t>f</a:t>
            </a:r>
            <a:r>
              <a:rPr sz="600" b="0" i="1" baseline="-25000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75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41864" y="1195086"/>
            <a:ext cx="340145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1A1A1A"/>
                </a:solidFill>
                <a:latin typeface="Comic Sans MS" panose="030F0702030302020204"/>
              </a:rPr>
              <a:t>f</a:t>
            </a:r>
            <a:r>
              <a:rPr sz="600" b="0" i="1" baseline="-25000">
                <a:solidFill>
                  <a:srgbClr val="1A1A1A"/>
                </a:solidFill>
                <a:latin typeface="Comic Sans MS" panose="030F0702030302020204"/>
              </a:rPr>
              <a:t>2</a:t>
            </a:r>
            <a:endParaRPr sz="75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49731" y="1195086"/>
            <a:ext cx="340145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1A1A1A"/>
                </a:solidFill>
                <a:latin typeface="Comic Sans MS" panose="030F0702030302020204"/>
              </a:rPr>
              <a:t>f</a:t>
            </a:r>
            <a:r>
              <a:rPr sz="600" b="0" i="1" baseline="-25000">
                <a:solidFill>
                  <a:srgbClr val="1A1A1A"/>
                </a:solidFill>
                <a:latin typeface="Comic Sans MS" panose="030F0702030302020204"/>
              </a:rPr>
              <a:t>3</a:t>
            </a:r>
            <a:endParaRPr sz="75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65465" y="1195086"/>
            <a:ext cx="340145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1A1A1A"/>
                </a:solidFill>
                <a:latin typeface="Comic Sans MS" panose="030F0702030302020204"/>
              </a:rPr>
              <a:t>f</a:t>
            </a:r>
            <a:r>
              <a:rPr sz="600" b="0" i="1" baseline="-25000">
                <a:solidFill>
                  <a:srgbClr val="1A1A1A"/>
                </a:solidFill>
                <a:latin typeface="Comic Sans MS" panose="030F0702030302020204"/>
              </a:rPr>
              <a:t>N</a:t>
            </a:r>
            <a:endParaRPr sz="75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96204" y="656522"/>
            <a:ext cx="1644038" cy="151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0" b="0" i="1">
                <a:solidFill>
                  <a:srgbClr val="1A1A1A"/>
                </a:solidFill>
                <a:latin typeface="Comic Sans MS" panose="030F0702030302020204"/>
              </a:rPr>
              <a:t>query patches  Q : N × C</a:t>
            </a:r>
            <a:endParaRPr sz="106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863" name="Connector 862"/>
          <p:cNvCxnSpPr/>
          <p:nvPr/>
        </p:nvCxnSpPr>
        <p:spPr>
          <a:xfrm>
            <a:off x="2359152" y="2144268"/>
            <a:ext cx="91440" cy="0"/>
          </a:xfrm>
          <a:prstGeom prst="line">
            <a:avLst/>
          </a:prstGeom>
          <a:ln w="20574">
            <a:solidFill>
              <a:srgbClr val="5C626A"/>
            </a:solidFill>
          </a:ln>
        </p:spPr>
      </p:cxnSp>
      <p:cxnSp>
        <p:nvCxnSpPr>
          <p:cNvPr id="864" name="Connector 863"/>
          <p:cNvCxnSpPr/>
          <p:nvPr/>
        </p:nvCxnSpPr>
        <p:spPr>
          <a:xfrm flipV="1">
            <a:off x="2450592" y="1091153"/>
            <a:ext cx="0" cy="1053115"/>
          </a:xfrm>
          <a:prstGeom prst="line">
            <a:avLst/>
          </a:prstGeom>
          <a:ln w="20574">
            <a:solidFill>
              <a:srgbClr val="5C626A"/>
            </a:solidFill>
          </a:ln>
        </p:spPr>
      </p:cxnSp>
      <p:cxnSp>
        <p:nvCxnSpPr>
          <p:cNvPr id="865" name="Connector 864"/>
          <p:cNvCxnSpPr/>
          <p:nvPr/>
        </p:nvCxnSpPr>
        <p:spPr>
          <a:xfrm>
            <a:off x="2450592" y="1091153"/>
            <a:ext cx="140097" cy="0"/>
          </a:xfrm>
          <a:prstGeom prst="line">
            <a:avLst/>
          </a:prstGeom>
          <a:ln w="20574">
            <a:solidFill>
              <a:srgbClr val="5C626A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2628483" y="3273151"/>
            <a:ext cx="151175" cy="151175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949731" y="3273151"/>
            <a:ext cx="151175" cy="151175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59950" y="3273151"/>
            <a:ext cx="151175" cy="151175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85944" y="3292048"/>
            <a:ext cx="207866" cy="1133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927CC0"/>
                </a:solidFill>
                <a:latin typeface="Comic Sans MS" panose="030F0702030302020204"/>
              </a:rPr>
              <a:t>…</a:t>
            </a:r>
            <a:endParaRPr sz="1100" b="1" i="0">
              <a:solidFill>
                <a:srgbClr val="927CC0"/>
              </a:solidFill>
              <a:latin typeface="Comic Sans MS" panose="030F070203030202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533998" y="3452672"/>
            <a:ext cx="340145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1A1A1A"/>
                </a:solidFill>
                <a:latin typeface="Comic Sans MS" panose="030F0702030302020204"/>
              </a:rPr>
              <a:t>f</a:t>
            </a:r>
            <a:r>
              <a:rPr sz="600" b="0" i="1" baseline="-25000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75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55246" y="3452672"/>
            <a:ext cx="340145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1A1A1A"/>
                </a:solidFill>
                <a:latin typeface="Comic Sans MS" panose="030F0702030302020204"/>
              </a:rPr>
              <a:t>f</a:t>
            </a:r>
            <a:r>
              <a:rPr sz="600" b="0" i="1" baseline="-25000">
                <a:solidFill>
                  <a:srgbClr val="1A1A1A"/>
                </a:solidFill>
                <a:latin typeface="Comic Sans MS" panose="030F0702030302020204"/>
              </a:rPr>
              <a:t>2</a:t>
            </a:r>
            <a:endParaRPr sz="75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65465" y="3452672"/>
            <a:ext cx="340145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1A1A1A"/>
                </a:solidFill>
                <a:latin typeface="Comic Sans MS" panose="030F0702030302020204"/>
              </a:rPr>
              <a:t>f</a:t>
            </a:r>
            <a:r>
              <a:rPr sz="600" b="0" i="1" baseline="-25000">
                <a:solidFill>
                  <a:srgbClr val="1A1A1A"/>
                </a:solidFill>
                <a:latin typeface="Comic Sans MS" panose="030F0702030302020204"/>
              </a:rPr>
              <a:t>N</a:t>
            </a:r>
            <a:endParaRPr sz="75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33227" y="3526325"/>
            <a:ext cx="2569990" cy="325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0" b="0" i="1">
                <a:solidFill>
                  <a:srgbClr val="1A1A1A"/>
                </a:solidFill>
                <a:latin typeface="Comic Sans MS" panose="030F0702030302020204"/>
              </a:rPr>
              <a:t>database patches  D</a:t>
            </a:r>
            <a:r>
              <a:rPr sz="850" b="0" i="1" baseline="-25000">
                <a:solidFill>
                  <a:srgbClr val="1A1A1A"/>
                </a:solidFill>
                <a:latin typeface="Comic Sans MS" panose="030F0702030302020204"/>
              </a:rPr>
              <a:t>ℓ</a:t>
            </a:r>
            <a:r>
              <a:rPr sz="1060" b="0" i="1">
                <a:solidFill>
                  <a:srgbClr val="1A1A1A"/>
                </a:solidFill>
                <a:latin typeface="Comic Sans MS" panose="030F0702030302020204"/>
              </a:rPr>
              <a:t> : N × C,  </a:t>
            </a:r>
            <a:endParaRPr sz="1060" b="0" i="1">
              <a:solidFill>
                <a:srgbClr val="1A1A1A"/>
              </a:solidFill>
              <a:latin typeface="Comic Sans MS" panose="030F0702030302020204"/>
            </a:endParaRPr>
          </a:p>
          <a:p>
            <a:pPr algn="ctr"/>
            <a:r>
              <a:rPr sz="1060" b="0" i="1">
                <a:solidFill>
                  <a:srgbClr val="1A1A1A"/>
                </a:solidFill>
                <a:latin typeface="Comic Sans MS" panose="030F0702030302020204"/>
              </a:rPr>
              <a:t> </a:t>
            </a:r>
            <a:r>
              <a:rPr lang="en-US" sz="1060" b="0" i="1">
                <a:solidFill>
                  <a:srgbClr val="1A1A1A"/>
                </a:solidFill>
                <a:latin typeface="Comic Sans MS" panose="030F0702030302020204"/>
              </a:rPr>
              <a:t>                             </a:t>
            </a:r>
            <a:r>
              <a:rPr sz="1060" b="0" i="1">
                <a:solidFill>
                  <a:srgbClr val="1A1A1A"/>
                </a:solidFill>
                <a:latin typeface="Comic Sans MS" panose="030F0702030302020204"/>
              </a:rPr>
              <a:t>ℓ = 1, …, M</a:t>
            </a:r>
            <a:endParaRPr sz="106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866" name="Connector 865"/>
          <p:cNvCxnSpPr/>
          <p:nvPr/>
        </p:nvCxnSpPr>
        <p:spPr>
          <a:xfrm>
            <a:off x="2359152" y="2144268"/>
            <a:ext cx="91440" cy="0"/>
          </a:xfrm>
          <a:prstGeom prst="line">
            <a:avLst/>
          </a:prstGeom>
          <a:ln w="20574">
            <a:solidFill>
              <a:srgbClr val="5C626A"/>
            </a:solidFill>
          </a:ln>
        </p:spPr>
      </p:cxnSp>
      <p:cxnSp>
        <p:nvCxnSpPr>
          <p:cNvPr id="867" name="Connector 866"/>
          <p:cNvCxnSpPr/>
          <p:nvPr/>
        </p:nvCxnSpPr>
        <p:spPr>
          <a:xfrm>
            <a:off x="2450592" y="2144268"/>
            <a:ext cx="0" cy="1204471"/>
          </a:xfrm>
          <a:prstGeom prst="line">
            <a:avLst/>
          </a:prstGeom>
          <a:ln w="20574">
            <a:solidFill>
              <a:srgbClr val="5C626A"/>
            </a:solidFill>
          </a:ln>
        </p:spPr>
      </p:cxnSp>
      <p:cxnSp>
        <p:nvCxnSpPr>
          <p:cNvPr id="868" name="Connector 867"/>
          <p:cNvCxnSpPr/>
          <p:nvPr/>
        </p:nvCxnSpPr>
        <p:spPr>
          <a:xfrm>
            <a:off x="2450592" y="3348990"/>
            <a:ext cx="140097" cy="0"/>
          </a:xfrm>
          <a:prstGeom prst="line">
            <a:avLst/>
          </a:prstGeom>
          <a:ln w="20574">
            <a:solidFill>
              <a:srgbClr val="5C626A"/>
            </a:solidFill>
            <a:tailEnd type="triangle" w="med" len="med"/>
          </a:ln>
        </p:spPr>
      </p:cxnSp>
      <p:sp>
        <p:nvSpPr>
          <p:cNvPr id="45" name="Rounded Rectangle 44"/>
          <p:cNvSpPr/>
          <p:nvPr/>
        </p:nvSpPr>
        <p:spPr>
          <a:xfrm>
            <a:off x="2999232" y="1344168"/>
            <a:ext cx="2822753" cy="1627632"/>
          </a:xfrm>
          <a:custGeom>
            <a:avLst/>
            <a:gdLst/>
            <a:ahLst/>
            <a:cxnLst/>
            <a:rect l="0" t="0" r="r" b="b"/>
            <a:pathLst>
              <a:path w="2822753" h="1379480">
                <a:moveTo>
                  <a:pt x="140679" y="1479"/>
                </a:moveTo>
                <a:lnTo>
                  <a:pt x="182655" y="1266"/>
                </a:lnTo>
                <a:lnTo>
                  <a:pt x="224497" y="959"/>
                </a:lnTo>
                <a:lnTo>
                  <a:pt x="266157" y="521"/>
                </a:lnTo>
                <a:lnTo>
                  <a:pt x="307603" y="-84"/>
                </a:lnTo>
                <a:lnTo>
                  <a:pt x="348827" y="-883"/>
                </a:lnTo>
                <a:lnTo>
                  <a:pt x="389843" y="-1888"/>
                </a:lnTo>
                <a:lnTo>
                  <a:pt x="430692" y="-3100"/>
                </a:lnTo>
                <a:lnTo>
                  <a:pt x="471436" y="-4499"/>
                </a:lnTo>
                <a:lnTo>
                  <a:pt x="512156" y="-6050"/>
                </a:lnTo>
                <a:lnTo>
                  <a:pt x="552944" y="-7702"/>
                </a:lnTo>
                <a:lnTo>
                  <a:pt x="593894" y="-9388"/>
                </a:lnTo>
                <a:lnTo>
                  <a:pt x="635097" y="-11033"/>
                </a:lnTo>
                <a:lnTo>
                  <a:pt x="676629" y="-12557"/>
                </a:lnTo>
                <a:lnTo>
                  <a:pt x="718548" y="-13878"/>
                </a:lnTo>
                <a:lnTo>
                  <a:pt x="760884" y="-14925"/>
                </a:lnTo>
                <a:lnTo>
                  <a:pt x="803637" y="-15637"/>
                </a:lnTo>
                <a:lnTo>
                  <a:pt x="846779" y="-15971"/>
                </a:lnTo>
                <a:lnTo>
                  <a:pt x="890256" y="-15908"/>
                </a:lnTo>
                <a:lnTo>
                  <a:pt x="933990" y="-15454"/>
                </a:lnTo>
                <a:lnTo>
                  <a:pt x="977890" y="-14640"/>
                </a:lnTo>
                <a:lnTo>
                  <a:pt x="1021858" y="-13521"/>
                </a:lnTo>
                <a:lnTo>
                  <a:pt x="1065802" y="-12172"/>
                </a:lnTo>
                <a:lnTo>
                  <a:pt x="1109641" y="-10682"/>
                </a:lnTo>
                <a:lnTo>
                  <a:pt x="1153313" y="-9145"/>
                </a:lnTo>
                <a:lnTo>
                  <a:pt x="1196783" y="-7652"/>
                </a:lnTo>
                <a:lnTo>
                  <a:pt x="1240039" y="-6283"/>
                </a:lnTo>
                <a:lnTo>
                  <a:pt x="1283092" y="-5096"/>
                </a:lnTo>
                <a:lnTo>
                  <a:pt x="1325973" y="-4127"/>
                </a:lnTo>
                <a:lnTo>
                  <a:pt x="1368720" y="-3380"/>
                </a:lnTo>
                <a:lnTo>
                  <a:pt x="1411376" y="-2837"/>
                </a:lnTo>
                <a:lnTo>
                  <a:pt x="1453975" y="-2454"/>
                </a:lnTo>
                <a:lnTo>
                  <a:pt x="1496539" y="-2178"/>
                </a:lnTo>
                <a:lnTo>
                  <a:pt x="1539078" y="-1946"/>
                </a:lnTo>
                <a:lnTo>
                  <a:pt x="1581586" y="-1705"/>
                </a:lnTo>
                <a:lnTo>
                  <a:pt x="1624048" y="-1410"/>
                </a:lnTo>
                <a:lnTo>
                  <a:pt x="1666445" y="-1037"/>
                </a:lnTo>
                <a:lnTo>
                  <a:pt x="1708760" y="-581"/>
                </a:lnTo>
                <a:lnTo>
                  <a:pt x="1750986" y="-58"/>
                </a:lnTo>
                <a:lnTo>
                  <a:pt x="1793127" y="500"/>
                </a:lnTo>
                <a:lnTo>
                  <a:pt x="1835203" y="1054"/>
                </a:lnTo>
                <a:lnTo>
                  <a:pt x="1877247" y="1554"/>
                </a:lnTo>
                <a:lnTo>
                  <a:pt x="1919301" y="1958"/>
                </a:lnTo>
                <a:lnTo>
                  <a:pt x="1961412" y="2228"/>
                </a:lnTo>
                <a:lnTo>
                  <a:pt x="2003626" y="2340"/>
                </a:lnTo>
                <a:lnTo>
                  <a:pt x="2045981" y="2285"/>
                </a:lnTo>
                <a:lnTo>
                  <a:pt x="2088500" y="2069"/>
                </a:lnTo>
                <a:lnTo>
                  <a:pt x="2131188" y="1717"/>
                </a:lnTo>
                <a:lnTo>
                  <a:pt x="2174032" y="1264"/>
                </a:lnTo>
                <a:lnTo>
                  <a:pt x="2216996" y="756"/>
                </a:lnTo>
                <a:lnTo>
                  <a:pt x="2260027" y="245"/>
                </a:lnTo>
                <a:lnTo>
                  <a:pt x="2303057" y="-217"/>
                </a:lnTo>
                <a:lnTo>
                  <a:pt x="2346013" y="-583"/>
                </a:lnTo>
                <a:lnTo>
                  <a:pt x="2388820" y="-811"/>
                </a:lnTo>
                <a:lnTo>
                  <a:pt x="2431412" y="-875"/>
                </a:lnTo>
                <a:lnTo>
                  <a:pt x="2473734" y="-758"/>
                </a:lnTo>
                <a:lnTo>
                  <a:pt x="2515754" y="-462"/>
                </a:lnTo>
                <a:lnTo>
                  <a:pt x="2557464" y="-1"/>
                </a:lnTo>
                <a:lnTo>
                  <a:pt x="2598881" y="596"/>
                </a:lnTo>
                <a:lnTo>
                  <a:pt x="2640049" y="1293"/>
                </a:lnTo>
                <a:lnTo>
                  <a:pt x="2681032" y="2043"/>
                </a:lnTo>
                <a:lnTo>
                  <a:pt x="2679507" y="2869"/>
                </a:lnTo>
                <a:lnTo>
                  <a:pt x="2693418" y="4518"/>
                </a:lnTo>
                <a:lnTo>
                  <a:pt x="2707228" y="7811"/>
                </a:lnTo>
                <a:lnTo>
                  <a:pt x="2720832" y="12670"/>
                </a:lnTo>
                <a:lnTo>
                  <a:pt x="2734116" y="19006"/>
                </a:lnTo>
                <a:lnTo>
                  <a:pt x="2746956" y="26724"/>
                </a:lnTo>
                <a:lnTo>
                  <a:pt x="2759215" y="35724"/>
                </a:lnTo>
                <a:lnTo>
                  <a:pt x="2770739" y="45902"/>
                </a:lnTo>
                <a:lnTo>
                  <a:pt x="2781363" y="57153"/>
                </a:lnTo>
                <a:lnTo>
                  <a:pt x="2790914" y="69364"/>
                </a:lnTo>
                <a:lnTo>
                  <a:pt x="2799212" y="82417"/>
                </a:lnTo>
                <a:lnTo>
                  <a:pt x="2806083" y="96186"/>
                </a:lnTo>
                <a:lnTo>
                  <a:pt x="2811366" y="110531"/>
                </a:lnTo>
                <a:lnTo>
                  <a:pt x="2814918" y="125304"/>
                </a:lnTo>
                <a:lnTo>
                  <a:pt x="2816628" y="140342"/>
                </a:lnTo>
                <a:lnTo>
                  <a:pt x="2817308" y="140076"/>
                </a:lnTo>
                <a:lnTo>
                  <a:pt x="2817725" y="167405"/>
                </a:lnTo>
                <a:lnTo>
                  <a:pt x="2817898" y="194835"/>
                </a:lnTo>
                <a:lnTo>
                  <a:pt x="2817833" y="222351"/>
                </a:lnTo>
                <a:lnTo>
                  <a:pt x="2817558" y="249931"/>
                </a:lnTo>
                <a:lnTo>
                  <a:pt x="2817123" y="277546"/>
                </a:lnTo>
                <a:lnTo>
                  <a:pt x="2816594" y="305170"/>
                </a:lnTo>
                <a:lnTo>
                  <a:pt x="2816048" y="332778"/>
                </a:lnTo>
                <a:lnTo>
                  <a:pt x="2815563" y="360351"/>
                </a:lnTo>
                <a:lnTo>
                  <a:pt x="2815209" y="387876"/>
                </a:lnTo>
                <a:lnTo>
                  <a:pt x="2815048" y="415349"/>
                </a:lnTo>
                <a:lnTo>
                  <a:pt x="2815122" y="442776"/>
                </a:lnTo>
                <a:lnTo>
                  <a:pt x="2815449" y="470165"/>
                </a:lnTo>
                <a:lnTo>
                  <a:pt x="2816027" y="497533"/>
                </a:lnTo>
                <a:lnTo>
                  <a:pt x="2816831" y="524896"/>
                </a:lnTo>
                <a:lnTo>
                  <a:pt x="2817818" y="552274"/>
                </a:lnTo>
                <a:lnTo>
                  <a:pt x="2818930" y="579680"/>
                </a:lnTo>
                <a:lnTo>
                  <a:pt x="2820103" y="607126"/>
                </a:lnTo>
                <a:lnTo>
                  <a:pt x="2821272" y="634618"/>
                </a:lnTo>
                <a:lnTo>
                  <a:pt x="2822383" y="662157"/>
                </a:lnTo>
                <a:lnTo>
                  <a:pt x="2823391" y="689740"/>
                </a:lnTo>
                <a:lnTo>
                  <a:pt x="2824272" y="717359"/>
                </a:lnTo>
                <a:lnTo>
                  <a:pt x="2825023" y="745007"/>
                </a:lnTo>
                <a:lnTo>
                  <a:pt x="2825660" y="772679"/>
                </a:lnTo>
                <a:lnTo>
                  <a:pt x="2826219" y="800369"/>
                </a:lnTo>
                <a:lnTo>
                  <a:pt x="2826753" y="828079"/>
                </a:lnTo>
                <a:lnTo>
                  <a:pt x="2827320" y="855813"/>
                </a:lnTo>
                <a:lnTo>
                  <a:pt x="2827982" y="883582"/>
                </a:lnTo>
                <a:lnTo>
                  <a:pt x="2828793" y="911401"/>
                </a:lnTo>
                <a:lnTo>
                  <a:pt x="2829795" y="939285"/>
                </a:lnTo>
                <a:lnTo>
                  <a:pt x="2831011" y="967250"/>
                </a:lnTo>
                <a:lnTo>
                  <a:pt x="2832437" y="995308"/>
                </a:lnTo>
                <a:lnTo>
                  <a:pt x="2834048" y="1023464"/>
                </a:lnTo>
                <a:lnTo>
                  <a:pt x="2835792" y="1051718"/>
                </a:lnTo>
                <a:lnTo>
                  <a:pt x="2837593" y="1080055"/>
                </a:lnTo>
                <a:lnTo>
                  <a:pt x="2839362" y="1108454"/>
                </a:lnTo>
                <a:lnTo>
                  <a:pt x="2840998" y="1136880"/>
                </a:lnTo>
                <a:lnTo>
                  <a:pt x="2842399" y="1165291"/>
                </a:lnTo>
                <a:lnTo>
                  <a:pt x="2843469" y="1193642"/>
                </a:lnTo>
                <a:lnTo>
                  <a:pt x="2844129" y="1221881"/>
                </a:lnTo>
                <a:lnTo>
                  <a:pt x="2844321" y="1249964"/>
                </a:lnTo>
                <a:lnTo>
                  <a:pt x="2844157" y="1249900"/>
                </a:lnTo>
                <a:lnTo>
                  <a:pt x="2842542" y="1265284"/>
                </a:lnTo>
                <a:lnTo>
                  <a:pt x="2838722" y="1280266"/>
                </a:lnTo>
                <a:lnTo>
                  <a:pt x="2832782" y="1294656"/>
                </a:lnTo>
                <a:lnTo>
                  <a:pt x="2824855" y="1308283"/>
                </a:lnTo>
                <a:lnTo>
                  <a:pt x="2815111" y="1320996"/>
                </a:lnTo>
                <a:lnTo>
                  <a:pt x="2803750" y="1332663"/>
                </a:lnTo>
                <a:lnTo>
                  <a:pt x="2790996" y="1343171"/>
                </a:lnTo>
                <a:lnTo>
                  <a:pt x="2777078" y="1352423"/>
                </a:lnTo>
                <a:lnTo>
                  <a:pt x="2762233" y="1360339"/>
                </a:lnTo>
                <a:lnTo>
                  <a:pt x="2746688" y="1366848"/>
                </a:lnTo>
                <a:lnTo>
                  <a:pt x="2730661" y="1371891"/>
                </a:lnTo>
                <a:lnTo>
                  <a:pt x="2714351" y="1375416"/>
                </a:lnTo>
                <a:lnTo>
                  <a:pt x="2697943" y="1377379"/>
                </a:lnTo>
                <a:lnTo>
                  <a:pt x="2681602" y="1377745"/>
                </a:lnTo>
                <a:lnTo>
                  <a:pt x="2680914" y="1377372"/>
                </a:lnTo>
                <a:lnTo>
                  <a:pt x="2637973" y="1377023"/>
                </a:lnTo>
                <a:lnTo>
                  <a:pt x="2595143" y="1376714"/>
                </a:lnTo>
                <a:lnTo>
                  <a:pt x="2552362" y="1376410"/>
                </a:lnTo>
                <a:lnTo>
                  <a:pt x="2509578" y="1376082"/>
                </a:lnTo>
                <a:lnTo>
                  <a:pt x="2466752" y="1375700"/>
                </a:lnTo>
                <a:lnTo>
                  <a:pt x="2423864" y="1375245"/>
                </a:lnTo>
                <a:lnTo>
                  <a:pt x="2380911" y="1374704"/>
                </a:lnTo>
                <a:lnTo>
                  <a:pt x="2337911" y="1374078"/>
                </a:lnTo>
                <a:lnTo>
                  <a:pt x="2294895" y="1373382"/>
                </a:lnTo>
                <a:lnTo>
                  <a:pt x="2251909" y="1372639"/>
                </a:lnTo>
                <a:lnTo>
                  <a:pt x="2209001" y="1371885"/>
                </a:lnTo>
                <a:lnTo>
                  <a:pt x="2166220" y="1371163"/>
                </a:lnTo>
                <a:lnTo>
                  <a:pt x="2123609" y="1370517"/>
                </a:lnTo>
                <a:lnTo>
                  <a:pt x="2081195" y="1369991"/>
                </a:lnTo>
                <a:lnTo>
                  <a:pt x="2038992" y="1369623"/>
                </a:lnTo>
                <a:lnTo>
                  <a:pt x="1996991" y="1369438"/>
                </a:lnTo>
                <a:lnTo>
                  <a:pt x="1955170" y="1369448"/>
                </a:lnTo>
                <a:lnTo>
                  <a:pt x="1913486" y="1369647"/>
                </a:lnTo>
                <a:lnTo>
                  <a:pt x="1871888" y="1370009"/>
                </a:lnTo>
                <a:lnTo>
                  <a:pt x="1830321" y="1370492"/>
                </a:lnTo>
                <a:lnTo>
                  <a:pt x="1788730" y="1371040"/>
                </a:lnTo>
                <a:lnTo>
                  <a:pt x="1747071" y="1371587"/>
                </a:lnTo>
                <a:lnTo>
                  <a:pt x="1705316" y="1372067"/>
                </a:lnTo>
                <a:lnTo>
                  <a:pt x="1663454" y="1372417"/>
                </a:lnTo>
                <a:lnTo>
                  <a:pt x="1621495" y="1372593"/>
                </a:lnTo>
                <a:lnTo>
                  <a:pt x="1579465" y="1372567"/>
                </a:lnTo>
                <a:lnTo>
                  <a:pt x="1537402" y="1372344"/>
                </a:lnTo>
                <a:lnTo>
                  <a:pt x="1495345" y="1371955"/>
                </a:lnTo>
                <a:lnTo>
                  <a:pt x="1453330" y="1371458"/>
                </a:lnTo>
                <a:lnTo>
                  <a:pt x="1411376" y="1370934"/>
                </a:lnTo>
                <a:lnTo>
                  <a:pt x="1369482" y="1370477"/>
                </a:lnTo>
                <a:lnTo>
                  <a:pt x="1327625" y="1370180"/>
                </a:lnTo>
                <a:lnTo>
                  <a:pt x="1285760" y="1370127"/>
                </a:lnTo>
                <a:lnTo>
                  <a:pt x="1243825" y="1370380"/>
                </a:lnTo>
                <a:lnTo>
                  <a:pt x="1201755" y="1370974"/>
                </a:lnTo>
                <a:lnTo>
                  <a:pt x="1159485" y="1371910"/>
                </a:lnTo>
                <a:lnTo>
                  <a:pt x="1116967" y="1373157"/>
                </a:lnTo>
                <a:lnTo>
                  <a:pt x="1074171" y="1374654"/>
                </a:lnTo>
                <a:lnTo>
                  <a:pt x="1031097" y="1376320"/>
                </a:lnTo>
                <a:lnTo>
                  <a:pt x="987773" y="1378061"/>
                </a:lnTo>
                <a:lnTo>
                  <a:pt x="944250" y="1379778"/>
                </a:lnTo>
                <a:lnTo>
                  <a:pt x="900604" y="1381376"/>
                </a:lnTo>
                <a:lnTo>
                  <a:pt x="856920" y="1382775"/>
                </a:lnTo>
                <a:lnTo>
                  <a:pt x="813291" y="1383911"/>
                </a:lnTo>
                <a:lnTo>
                  <a:pt x="769802" y="1384744"/>
                </a:lnTo>
                <a:lnTo>
                  <a:pt x="726526" y="1385256"/>
                </a:lnTo>
                <a:lnTo>
                  <a:pt x="683515" y="1385455"/>
                </a:lnTo>
                <a:lnTo>
                  <a:pt x="640797" y="1385367"/>
                </a:lnTo>
                <a:lnTo>
                  <a:pt x="598373" y="1385037"/>
                </a:lnTo>
                <a:lnTo>
                  <a:pt x="556218" y="1384522"/>
                </a:lnTo>
                <a:lnTo>
                  <a:pt x="514284" y="1383884"/>
                </a:lnTo>
                <a:lnTo>
                  <a:pt x="472506" y="1383189"/>
                </a:lnTo>
                <a:lnTo>
                  <a:pt x="430809" y="1382497"/>
                </a:lnTo>
                <a:lnTo>
                  <a:pt x="389116" y="1381861"/>
                </a:lnTo>
                <a:lnTo>
                  <a:pt x="347353" y="1381321"/>
                </a:lnTo>
                <a:lnTo>
                  <a:pt x="305459" y="1380904"/>
                </a:lnTo>
                <a:lnTo>
                  <a:pt x="263390" y="1380623"/>
                </a:lnTo>
                <a:lnTo>
                  <a:pt x="221122" y="1380478"/>
                </a:lnTo>
                <a:lnTo>
                  <a:pt x="178652" y="1380456"/>
                </a:lnTo>
                <a:lnTo>
                  <a:pt x="135998" y="1380535"/>
                </a:lnTo>
                <a:lnTo>
                  <a:pt x="135660" y="1380719"/>
                </a:lnTo>
                <a:lnTo>
                  <a:pt x="119771" y="1380072"/>
                </a:lnTo>
                <a:lnTo>
                  <a:pt x="104030" y="1377716"/>
                </a:lnTo>
                <a:lnTo>
                  <a:pt x="88680" y="1373655"/>
                </a:lnTo>
                <a:lnTo>
                  <a:pt x="73952" y="1367919"/>
                </a:lnTo>
                <a:lnTo>
                  <a:pt x="60059" y="1360567"/>
                </a:lnTo>
                <a:lnTo>
                  <a:pt x="47190" y="1351688"/>
                </a:lnTo>
                <a:lnTo>
                  <a:pt x="35502" y="1341397"/>
                </a:lnTo>
                <a:lnTo>
                  <a:pt x="25124" y="1329836"/>
                </a:lnTo>
                <a:lnTo>
                  <a:pt x="16150" y="1317170"/>
                </a:lnTo>
                <a:lnTo>
                  <a:pt x="8649" y="1303578"/>
                </a:lnTo>
                <a:lnTo>
                  <a:pt x="2663" y="1289254"/>
                </a:lnTo>
                <a:lnTo>
                  <a:pt x="-1786" y="1274398"/>
                </a:lnTo>
                <a:lnTo>
                  <a:pt x="-4691" y="1259212"/>
                </a:lnTo>
                <a:lnTo>
                  <a:pt x="-6052" y="1243898"/>
                </a:lnTo>
                <a:lnTo>
                  <a:pt x="-6717" y="1244158"/>
                </a:lnTo>
                <a:lnTo>
                  <a:pt x="-7615" y="1216770"/>
                </a:lnTo>
                <a:lnTo>
                  <a:pt x="-8679" y="1189406"/>
                </a:lnTo>
                <a:lnTo>
                  <a:pt x="-9856" y="1162038"/>
                </a:lnTo>
                <a:lnTo>
                  <a:pt x="-11075" y="1134637"/>
                </a:lnTo>
                <a:lnTo>
                  <a:pt x="-12249" y="1107175"/>
                </a:lnTo>
                <a:lnTo>
                  <a:pt x="-13282" y="1079629"/>
                </a:lnTo>
                <a:lnTo>
                  <a:pt x="-14077" y="1051982"/>
                </a:lnTo>
                <a:lnTo>
                  <a:pt x="-14543" y="1024226"/>
                </a:lnTo>
                <a:lnTo>
                  <a:pt x="-14607" y="996366"/>
                </a:lnTo>
                <a:lnTo>
                  <a:pt x="-14218" y="968415"/>
                </a:lnTo>
                <a:lnTo>
                  <a:pt x="-13352" y="940395"/>
                </a:lnTo>
                <a:lnTo>
                  <a:pt x="-12017" y="912336"/>
                </a:lnTo>
                <a:lnTo>
                  <a:pt x="-10252" y="884270"/>
                </a:lnTo>
                <a:lnTo>
                  <a:pt x="-8126" y="856230"/>
                </a:lnTo>
                <a:lnTo>
                  <a:pt x="-5731" y="828248"/>
                </a:lnTo>
                <a:lnTo>
                  <a:pt x="-3177" y="800346"/>
                </a:lnTo>
                <a:lnTo>
                  <a:pt x="-580" y="772542"/>
                </a:lnTo>
                <a:lnTo>
                  <a:pt x="1940" y="744843"/>
                </a:lnTo>
                <a:lnTo>
                  <a:pt x="4278" y="717245"/>
                </a:lnTo>
                <a:lnTo>
                  <a:pt x="6346" y="689740"/>
                </a:lnTo>
                <a:lnTo>
                  <a:pt x="8078" y="662308"/>
                </a:lnTo>
                <a:lnTo>
                  <a:pt x="9440" y="634929"/>
                </a:lnTo>
                <a:lnTo>
                  <a:pt x="10425" y="607582"/>
                </a:lnTo>
                <a:lnTo>
                  <a:pt x="11058" y="580246"/>
                </a:lnTo>
                <a:lnTo>
                  <a:pt x="11388" y="552905"/>
                </a:lnTo>
                <a:lnTo>
                  <a:pt x="11483" y="525549"/>
                </a:lnTo>
                <a:lnTo>
                  <a:pt x="11423" y="498175"/>
                </a:lnTo>
                <a:lnTo>
                  <a:pt x="11290" y="470788"/>
                </a:lnTo>
                <a:lnTo>
                  <a:pt x="11163" y="443397"/>
                </a:lnTo>
                <a:lnTo>
                  <a:pt x="11107" y="416015"/>
                </a:lnTo>
                <a:lnTo>
                  <a:pt x="11168" y="388655"/>
                </a:lnTo>
                <a:lnTo>
                  <a:pt x="11370" y="361332"/>
                </a:lnTo>
                <a:lnTo>
                  <a:pt x="11715" y="334052"/>
                </a:lnTo>
                <a:lnTo>
                  <a:pt x="12178" y="306818"/>
                </a:lnTo>
                <a:lnTo>
                  <a:pt x="12719" y="279625"/>
                </a:lnTo>
                <a:lnTo>
                  <a:pt x="13280" y="252460"/>
                </a:lnTo>
                <a:lnTo>
                  <a:pt x="13798" y="225302"/>
                </a:lnTo>
                <a:lnTo>
                  <a:pt x="14208" y="198126"/>
                </a:lnTo>
                <a:lnTo>
                  <a:pt x="14451" y="170905"/>
                </a:lnTo>
                <a:lnTo>
                  <a:pt x="14482" y="143610"/>
                </a:lnTo>
                <a:lnTo>
                  <a:pt x="14370" y="143566"/>
                </a:lnTo>
                <a:lnTo>
                  <a:pt x="14820" y="128114"/>
                </a:lnTo>
                <a:lnTo>
                  <a:pt x="16753" y="112752"/>
                </a:lnTo>
                <a:lnTo>
                  <a:pt x="20166" y="97674"/>
                </a:lnTo>
                <a:lnTo>
                  <a:pt x="25053" y="83080"/>
                </a:lnTo>
                <a:lnTo>
                  <a:pt x="31399" y="69167"/>
                </a:lnTo>
                <a:lnTo>
                  <a:pt x="39173" y="56130"/>
                </a:lnTo>
                <a:lnTo>
                  <a:pt x="48327" y="44156"/>
                </a:lnTo>
                <a:lnTo>
                  <a:pt x="58786" y="33418"/>
                </a:lnTo>
                <a:lnTo>
                  <a:pt x="70447" y="24069"/>
                </a:lnTo>
                <a:lnTo>
                  <a:pt x="83177" y="16238"/>
                </a:lnTo>
                <a:lnTo>
                  <a:pt x="96811" y="10029"/>
                </a:lnTo>
                <a:lnTo>
                  <a:pt x="111153" y="5511"/>
                </a:lnTo>
                <a:lnTo>
                  <a:pt x="125981" y="2726"/>
                </a:lnTo>
                <a:lnTo>
                  <a:pt x="141054" y="1682"/>
                </a:lnTo>
                <a:close/>
              </a:path>
            </a:pathLst>
          </a:custGeom>
          <a:pattFill prst="ltUpDiag">
            <a:fgClr>
              <a:srgbClr val="F5E8CC"/>
            </a:fgClr>
            <a:bgClr>
              <a:srgbClr val="FFFFFF"/>
            </a:bgClr>
          </a:pattFill>
          <a:ln w="14224">
            <a:solidFill>
              <a:srgbClr val="DDB04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99232" y="1408176"/>
            <a:ext cx="282275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Comic Sans MS" panose="030F0702030302020204"/>
              </a:rPr>
              <a:t>Patch Weighting via Self-Similarity (PS-1)</a:t>
            </a:r>
            <a:endParaRPr sz="105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072384" y="1856232"/>
            <a:ext cx="932688" cy="9354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InnerFrame 817"/>
          <p:cNvSpPr/>
          <p:nvPr/>
        </p:nvSpPr>
        <p:spPr>
          <a:xfrm>
            <a:off x="4151376" y="1856232"/>
            <a:ext cx="1092708" cy="9354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97546" y="1903724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92031" y="1903724"/>
            <a:ext cx="75587" cy="75587"/>
          </a:xfrm>
          <a:prstGeom prst="rect">
            <a:avLst/>
          </a:prstGeom>
          <a:solidFill>
            <a:srgbClr val="BCC1C9"/>
          </a:solidFill>
          <a:ln w="5080">
            <a:solidFill>
              <a:srgbClr val="BCC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CC1C9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6516" y="1903724"/>
            <a:ext cx="75587" cy="75587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81001" y="1903724"/>
            <a:ext cx="75587" cy="75587"/>
          </a:xfrm>
          <a:prstGeom prst="rect">
            <a:avLst/>
          </a:prstGeom>
          <a:solidFill>
            <a:srgbClr val="79818C"/>
          </a:solidFill>
          <a:ln w="5080">
            <a:solidFill>
              <a:srgbClr val="79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7981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5486" y="1903724"/>
            <a:ext cx="75587" cy="75587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69971" y="1903724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64455" y="1903724"/>
            <a:ext cx="75587" cy="75587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58940" y="1903724"/>
            <a:ext cx="75587" cy="75587"/>
          </a:xfrm>
          <a:prstGeom prst="rect">
            <a:avLst/>
          </a:prstGeom>
          <a:solidFill>
            <a:srgbClr val="DBDFE5"/>
          </a:solidFill>
          <a:ln w="5080">
            <a:solidFill>
              <a:srgbClr val="DB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BDFE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53425" y="1903724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97546" y="1998209"/>
            <a:ext cx="75587" cy="75587"/>
          </a:xfrm>
          <a:prstGeom prst="rect">
            <a:avLst/>
          </a:prstGeom>
          <a:solidFill>
            <a:srgbClr val="BCC1C9"/>
          </a:solidFill>
          <a:ln w="5080">
            <a:solidFill>
              <a:srgbClr val="BCC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CC1C9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2031" y="1998209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86516" y="1998209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81001" y="1998209"/>
            <a:ext cx="75587" cy="75587"/>
          </a:xfrm>
          <a:prstGeom prst="rect">
            <a:avLst/>
          </a:prstGeom>
          <a:solidFill>
            <a:srgbClr val="BCC1C9"/>
          </a:solidFill>
          <a:ln w="5080">
            <a:solidFill>
              <a:srgbClr val="BCC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CC1C9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5486" y="1998209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69971" y="1998209"/>
            <a:ext cx="75587" cy="75587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64455" y="1998209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58940" y="1998209"/>
            <a:ext cx="75587" cy="75587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3425" y="1998209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97546" y="2092694"/>
            <a:ext cx="75587" cy="75587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92031" y="2092694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86516" y="2092694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81001" y="2092694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75486" y="2092694"/>
            <a:ext cx="75587" cy="75587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69971" y="2092694"/>
            <a:ext cx="75587" cy="75587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64455" y="2092694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858940" y="2092694"/>
            <a:ext cx="75587" cy="75587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953425" y="2092694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97546" y="2187178"/>
            <a:ext cx="75587" cy="75587"/>
          </a:xfrm>
          <a:prstGeom prst="rect">
            <a:avLst/>
          </a:prstGeom>
          <a:solidFill>
            <a:srgbClr val="79818C"/>
          </a:solidFill>
          <a:ln w="5080">
            <a:solidFill>
              <a:srgbClr val="79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7981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92031" y="2187178"/>
            <a:ext cx="75587" cy="75587"/>
          </a:xfrm>
          <a:prstGeom prst="rect">
            <a:avLst/>
          </a:prstGeom>
          <a:solidFill>
            <a:srgbClr val="BCC1C9"/>
          </a:solidFill>
          <a:ln w="5080">
            <a:solidFill>
              <a:srgbClr val="BCC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CC1C9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386516" y="2187178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481001" y="2187178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575486" y="2187178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69971" y="2187178"/>
            <a:ext cx="75587" cy="75587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764455" y="2187178"/>
            <a:ext cx="75587" cy="75587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858940" y="2187178"/>
            <a:ext cx="75587" cy="75587"/>
          </a:xfrm>
          <a:prstGeom prst="rect">
            <a:avLst/>
          </a:prstGeom>
          <a:solidFill>
            <a:srgbClr val="DBDFE5"/>
          </a:solidFill>
          <a:ln w="5080">
            <a:solidFill>
              <a:srgbClr val="DB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BDFE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953425" y="2187178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197546" y="2281663"/>
            <a:ext cx="75587" cy="75587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292031" y="2281663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386516" y="2281663"/>
            <a:ext cx="75587" cy="75587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481001" y="2281663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575486" y="2281663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69971" y="2281663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764455" y="2281663"/>
            <a:ext cx="75587" cy="75587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858940" y="2281663"/>
            <a:ext cx="75587" cy="75587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953425" y="2281663"/>
            <a:ext cx="75587" cy="75587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97546" y="2376148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92031" y="2376148"/>
            <a:ext cx="75587" cy="75587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386516" y="2376148"/>
            <a:ext cx="75587" cy="75587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481001" y="2376148"/>
            <a:ext cx="75587" cy="75587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75486" y="2376148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69971" y="2376148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764455" y="2376148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858940" y="2376148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953425" y="2376148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197546" y="2470633"/>
            <a:ext cx="75587" cy="75587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292031" y="2470633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386516" y="2470633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481001" y="2470633"/>
            <a:ext cx="75587" cy="75587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575486" y="2470633"/>
            <a:ext cx="75587" cy="75587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69971" y="2470633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764455" y="2470633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858940" y="2470633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953425" y="2470633"/>
            <a:ext cx="75587" cy="75587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197546" y="2565118"/>
            <a:ext cx="75587" cy="75587"/>
          </a:xfrm>
          <a:prstGeom prst="rect">
            <a:avLst/>
          </a:prstGeom>
          <a:solidFill>
            <a:srgbClr val="DBDFE5"/>
          </a:solidFill>
          <a:ln w="5080">
            <a:solidFill>
              <a:srgbClr val="DB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BDFE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292031" y="2565118"/>
            <a:ext cx="75587" cy="75587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386516" y="2565118"/>
            <a:ext cx="75587" cy="75587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481001" y="2565118"/>
            <a:ext cx="75587" cy="75587"/>
          </a:xfrm>
          <a:prstGeom prst="rect">
            <a:avLst/>
          </a:prstGeom>
          <a:solidFill>
            <a:srgbClr val="DBDFE5"/>
          </a:solidFill>
          <a:ln w="5080">
            <a:solidFill>
              <a:srgbClr val="DB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BDFE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575486" y="2565118"/>
            <a:ext cx="75587" cy="75587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69971" y="2565118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764455" y="2565118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858940" y="2565118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953425" y="2565118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197546" y="2659603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292031" y="2659603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386516" y="2659603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481001" y="2659603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575486" y="2659603"/>
            <a:ext cx="75587" cy="75587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669971" y="2659603"/>
            <a:ext cx="75587" cy="75587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764455" y="2659603"/>
            <a:ext cx="75587" cy="75587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858940" y="2659603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53425" y="2659603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 flipV="1">
            <a:off x="4291645" y="1903781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4386194" y="1903781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4575292" y="1903781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4669841" y="1903781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4858939" y="1903781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4953488" y="1903781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4197096" y="1998330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4386194" y="1998330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480743" y="1998330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4575292" y="1998330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4764390" y="1998330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4858939" y="1998330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4953488" y="1998330"/>
            <a:ext cx="75588" cy="75587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197096" y="2092879"/>
            <a:ext cx="75588" cy="75587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291645" y="2092879"/>
            <a:ext cx="75588" cy="75587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480743" y="2092879"/>
            <a:ext cx="75588" cy="75587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4575292" y="2092879"/>
            <a:ext cx="75588" cy="75587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4669841" y="2092879"/>
            <a:ext cx="75588" cy="75587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4764390" y="2092879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858939" y="2092879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953488" y="2092879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91645" y="2187428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4386194" y="2187428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75292" y="2187428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669841" y="2187428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858939" y="2187428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953488" y="2187428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197096" y="2281977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291645" y="2281977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386194" y="2281977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480743" y="2281977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669841" y="2281977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64390" y="2281977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858939" y="2281977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953488" y="2281977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197096" y="2376526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386194" y="2376526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480743" y="2376526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575292" y="2376526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764390" y="2376526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858939" y="2376526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53488" y="2376526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291645" y="2471075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386194" y="2471075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4575292" y="2471075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4669841" y="2471075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4858939" y="2471075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4953488" y="2471075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4197096" y="2565624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4291645" y="2565624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4386194" y="2565624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4480743" y="2565624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4575292" y="2565624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4669841" y="2565624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4764390" y="2565624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4953488" y="2565624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4197096" y="2660172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4291645" y="2660172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4386194" y="2660172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4480743" y="2660172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4575292" y="2660172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4669841" y="2660172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4764390" y="2660172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4858939" y="2660172"/>
            <a:ext cx="75588" cy="75588"/>
          </a:xfrm>
          <a:prstGeom prst="line">
            <a:avLst/>
          </a:prstGeom>
          <a:ln w="762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072384" y="1698597"/>
            <a:ext cx="1005840" cy="103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1">
                <a:solidFill>
                  <a:srgbClr val="1A1A1A"/>
                </a:solidFill>
                <a:latin typeface="Comic Sans MS" panose="030F0702030302020204"/>
              </a:rPr>
              <a:t>S(F,F) = F F</a:t>
            </a:r>
            <a:r>
              <a:rPr sz="950" b="1" i="1">
                <a:solidFill>
                  <a:srgbClr val="1A1A1A"/>
                </a:solidFill>
                <a:latin typeface="Comic Sans MS" panose="030F0702030302020204"/>
              </a:rPr>
              <a:t>ᵀ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00" name="Rounded Rectangle 199"/>
          <p:cNvSpPr/>
          <p:nvPr/>
        </p:nvSpPr>
        <p:spPr>
          <a:xfrm>
            <a:off x="5377995" y="1856481"/>
            <a:ext cx="396836" cy="935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377995" y="1698597"/>
            <a:ext cx="396836" cy="103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1">
                <a:solidFill>
                  <a:srgbClr val="1A1A1A"/>
                </a:solidFill>
                <a:latin typeface="Comic Sans MS" panose="030F0702030302020204"/>
              </a:rPr>
              <a:t>w</a:t>
            </a:r>
            <a:r>
              <a:rPr sz="760" b="1" i="1" baseline="-25000">
                <a:solidFill>
                  <a:srgbClr val="1A1A1A"/>
                </a:solidFill>
                <a:latin typeface="Comic Sans MS" panose="030F0702030302020204"/>
              </a:rPr>
              <a:t>i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202" name="Connector 201"/>
          <p:cNvCxnSpPr/>
          <p:nvPr/>
        </p:nvCxnSpPr>
        <p:spPr>
          <a:xfrm>
            <a:off x="5266944" y="2281663"/>
            <a:ext cx="100584" cy="0"/>
          </a:xfrm>
          <a:prstGeom prst="line">
            <a:avLst/>
          </a:prstGeom>
          <a:ln w="15875">
            <a:solidFill>
              <a:srgbClr val="DDB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3" name="Rounded Rectangle 202"/>
          <p:cNvSpPr/>
          <p:nvPr/>
        </p:nvSpPr>
        <p:spPr>
          <a:xfrm>
            <a:off x="5415789" y="1903724"/>
            <a:ext cx="85036" cy="85036"/>
          </a:xfrm>
          <a:prstGeom prst="roundRect">
            <a:avLst>
              <a:gd name="adj" fmla="val 26000"/>
            </a:avLst>
          </a:prstGeom>
          <a:solidFill>
            <a:srgbClr val="E2D1B2"/>
          </a:solidFill>
          <a:ln w="8890">
            <a:solidFill>
              <a:srgbClr val="E2D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E2D1B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5415789" y="1998209"/>
            <a:ext cx="85036" cy="85036"/>
          </a:xfrm>
          <a:prstGeom prst="roundRect">
            <a:avLst>
              <a:gd name="adj" fmla="val 26000"/>
            </a:avLst>
          </a:prstGeom>
          <a:solidFill>
            <a:srgbClr val="CBAC75"/>
          </a:solidFill>
          <a:ln w="8890">
            <a:solidFill>
              <a:srgbClr val="CBA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BAC7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5415789" y="2092694"/>
            <a:ext cx="85036" cy="85036"/>
          </a:xfrm>
          <a:prstGeom prst="roundRect">
            <a:avLst>
              <a:gd name="adj" fmla="val 26000"/>
            </a:avLst>
          </a:prstGeom>
          <a:solidFill>
            <a:srgbClr val="A9761A"/>
          </a:solidFill>
          <a:ln w="8890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9761A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5415789" y="2187178"/>
            <a:ext cx="85036" cy="85036"/>
          </a:xfrm>
          <a:prstGeom prst="roundRect">
            <a:avLst>
              <a:gd name="adj" fmla="val 26000"/>
            </a:avLst>
          </a:prstGeom>
          <a:solidFill>
            <a:srgbClr val="E2D1B2"/>
          </a:solidFill>
          <a:ln w="8890">
            <a:solidFill>
              <a:srgbClr val="E2D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E2D1B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5415789" y="2281663"/>
            <a:ext cx="85036" cy="85036"/>
          </a:xfrm>
          <a:prstGeom prst="roundRect">
            <a:avLst>
              <a:gd name="adj" fmla="val 26000"/>
            </a:avLst>
          </a:prstGeom>
          <a:solidFill>
            <a:srgbClr val="A9761A"/>
          </a:solidFill>
          <a:ln w="8890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9761A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5415789" y="2376148"/>
            <a:ext cx="85036" cy="85036"/>
          </a:xfrm>
          <a:prstGeom prst="roundRect">
            <a:avLst>
              <a:gd name="adj" fmla="val 26000"/>
            </a:avLst>
          </a:prstGeom>
          <a:solidFill>
            <a:srgbClr val="CBAC75"/>
          </a:solidFill>
          <a:ln w="8890">
            <a:solidFill>
              <a:srgbClr val="CBA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BAC7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5415789" y="2470633"/>
            <a:ext cx="85036" cy="85036"/>
          </a:xfrm>
          <a:prstGeom prst="roundRect">
            <a:avLst>
              <a:gd name="adj" fmla="val 26000"/>
            </a:avLst>
          </a:prstGeom>
          <a:solidFill>
            <a:srgbClr val="E2D1B2"/>
          </a:solidFill>
          <a:ln w="8890">
            <a:solidFill>
              <a:srgbClr val="E2D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E2D1B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5415789" y="2565118"/>
            <a:ext cx="85036" cy="85036"/>
          </a:xfrm>
          <a:prstGeom prst="roundRect">
            <a:avLst>
              <a:gd name="adj" fmla="val 26000"/>
            </a:avLst>
          </a:prstGeom>
          <a:solidFill>
            <a:srgbClr val="A9761A"/>
          </a:solidFill>
          <a:ln w="8890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9761A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5415789" y="2659603"/>
            <a:ext cx="85036" cy="85036"/>
          </a:xfrm>
          <a:prstGeom prst="roundRect">
            <a:avLst>
              <a:gd name="adj" fmla="val 26000"/>
            </a:avLst>
          </a:prstGeom>
          <a:solidFill>
            <a:srgbClr val="A9761A"/>
          </a:solidFill>
          <a:ln w="8890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9761A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076256" y="1903724"/>
            <a:ext cx="122830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3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5529171" y="1903724"/>
            <a:ext cx="207866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1/3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5076256" y="1998209"/>
            <a:ext cx="122830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2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5529171" y="1998209"/>
            <a:ext cx="207866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1/2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5076256" y="2092694"/>
            <a:ext cx="122830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5529171" y="2092694"/>
            <a:ext cx="207866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5076256" y="2187178"/>
            <a:ext cx="122830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3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5529171" y="2187178"/>
            <a:ext cx="207866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1/3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5076256" y="2281663"/>
            <a:ext cx="122830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5529171" y="2281663"/>
            <a:ext cx="207866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5076256" y="2376148"/>
            <a:ext cx="122830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2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5529171" y="2376148"/>
            <a:ext cx="207866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1/2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5076256" y="2470633"/>
            <a:ext cx="122830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3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5529171" y="2470633"/>
            <a:ext cx="207866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1/3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5076256" y="2565118"/>
            <a:ext cx="122830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5529171" y="2565118"/>
            <a:ext cx="207866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5076256" y="2659603"/>
            <a:ext cx="122830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5529171" y="2659603"/>
            <a:ext cx="207866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230" name="Connector 229"/>
          <p:cNvCxnSpPr/>
          <p:nvPr/>
        </p:nvCxnSpPr>
        <p:spPr>
          <a:xfrm>
            <a:off x="2734056" y="1223904"/>
            <a:ext cx="0" cy="793674"/>
          </a:xfrm>
          <a:prstGeom prst="line">
            <a:avLst/>
          </a:prstGeom>
          <a:ln w="1905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2734056" y="2017578"/>
            <a:ext cx="246888" cy="0"/>
          </a:xfrm>
          <a:prstGeom prst="line">
            <a:avLst/>
          </a:prstGeom>
          <a:ln w="19050">
            <a:solidFill>
              <a:srgbClr val="DDB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2734056" y="2262766"/>
            <a:ext cx="0" cy="953694"/>
          </a:xfrm>
          <a:prstGeom prst="line">
            <a:avLst/>
          </a:prstGeom>
          <a:ln w="1905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2734056" y="2262766"/>
            <a:ext cx="246888" cy="0"/>
          </a:xfrm>
          <a:prstGeom prst="line">
            <a:avLst/>
          </a:prstGeom>
          <a:ln w="19050">
            <a:solidFill>
              <a:srgbClr val="DDB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4083551" y="1091153"/>
            <a:ext cx="1710177" cy="0"/>
          </a:xfrm>
          <a:prstGeom prst="line">
            <a:avLst/>
          </a:prstGeom>
          <a:ln w="20574">
            <a:solidFill>
              <a:srgbClr val="5C62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4083551" y="3348990"/>
            <a:ext cx="1710177" cy="0"/>
          </a:xfrm>
          <a:prstGeom prst="line">
            <a:avLst/>
          </a:prstGeom>
          <a:ln w="20574">
            <a:solidFill>
              <a:srgbClr val="5C62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5840971" y="1979312"/>
            <a:ext cx="113382" cy="0"/>
          </a:xfrm>
          <a:prstGeom prst="line">
            <a:avLst/>
          </a:prstGeom>
          <a:ln w="1905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5954353" y="1253642"/>
            <a:ext cx="0" cy="725396"/>
          </a:xfrm>
          <a:prstGeom prst="line">
            <a:avLst/>
          </a:prstGeom>
          <a:ln w="1905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5840971" y="2262766"/>
            <a:ext cx="113382" cy="0"/>
          </a:xfrm>
          <a:prstGeom prst="line">
            <a:avLst/>
          </a:prstGeom>
          <a:ln w="1905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5954353" y="2262766"/>
            <a:ext cx="0" cy="925953"/>
          </a:xfrm>
          <a:prstGeom prst="line">
            <a:avLst/>
          </a:prstGeom>
          <a:ln w="1905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4" name="Rounded Rectangle 243"/>
          <p:cNvSpPr/>
          <p:nvPr/>
        </p:nvSpPr>
        <p:spPr>
          <a:xfrm>
            <a:off x="6294499" y="1015565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Weight 695"/>
          <p:cNvSpPr/>
          <p:nvPr/>
        </p:nvSpPr>
        <p:spPr>
          <a:xfrm>
            <a:off x="6294499" y="1175918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A9761A"/>
          </a:solidFill>
          <a:ln w="889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6502366" y="1015565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Weight 696"/>
          <p:cNvSpPr/>
          <p:nvPr/>
        </p:nvSpPr>
        <p:spPr>
          <a:xfrm>
            <a:off x="6502366" y="1175918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E2D1B2"/>
          </a:solidFill>
          <a:ln w="889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6710232" y="1015565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Weight 697"/>
          <p:cNvSpPr/>
          <p:nvPr/>
        </p:nvSpPr>
        <p:spPr>
          <a:xfrm>
            <a:off x="6710232" y="1175918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D4BA8C"/>
          </a:solidFill>
          <a:ln w="889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ounded Rectangle 246"/>
          <p:cNvSpPr/>
          <p:nvPr/>
        </p:nvSpPr>
        <p:spPr>
          <a:xfrm>
            <a:off x="7125966" y="1015565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Weight 698"/>
          <p:cNvSpPr/>
          <p:nvPr/>
        </p:nvSpPr>
        <p:spPr>
          <a:xfrm>
            <a:off x="7125966" y="1175918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E2D1B2"/>
          </a:solidFill>
          <a:ln w="889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889754" y="1034462"/>
            <a:ext cx="207866" cy="1133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A3BBDF"/>
                </a:solidFill>
                <a:latin typeface="Comic Sans MS" panose="030F0702030302020204"/>
              </a:rPr>
              <a:t>…</a:t>
            </a:r>
            <a:endParaRPr sz="1100" b="1" i="0">
              <a:solidFill>
                <a:srgbClr val="A3BBDF"/>
              </a:solidFill>
              <a:latin typeface="Comic Sans MS" panose="030F0702030302020204"/>
            </a:endParaRPr>
          </a:p>
        </p:txBody>
      </p:sp>
      <p:sp>
        <p:nvSpPr>
          <p:cNvPr id="249" name="TextBox 248"/>
          <p:cNvSpPr txBox="1"/>
          <p:nvPr/>
        </p:nvSpPr>
        <p:spPr>
          <a:xfrm>
            <a:off x="5859868" y="656522"/>
            <a:ext cx="1644038" cy="151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0" b="0" i="1">
                <a:solidFill>
                  <a:srgbClr val="1A1A1A"/>
                </a:solidFill>
                <a:latin typeface="Comic Sans MS" panose="030F0702030302020204"/>
              </a:rPr>
              <a:t>query patches &amp; w</a:t>
            </a:r>
            <a:endParaRPr sz="106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250" name="Connector 249"/>
          <p:cNvCxnSpPr/>
          <p:nvPr/>
        </p:nvCxnSpPr>
        <p:spPr>
          <a:xfrm>
            <a:off x="5954353" y="1253642"/>
            <a:ext cx="340146" cy="0"/>
          </a:xfrm>
          <a:prstGeom prst="line">
            <a:avLst/>
          </a:prstGeom>
          <a:ln w="20574">
            <a:solidFill>
              <a:srgbClr val="DDB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1" name="Rounded Rectangle 250"/>
          <p:cNvSpPr/>
          <p:nvPr/>
        </p:nvSpPr>
        <p:spPr>
          <a:xfrm>
            <a:off x="6294499" y="3273151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Weight 699"/>
          <p:cNvSpPr/>
          <p:nvPr/>
        </p:nvSpPr>
        <p:spPr>
          <a:xfrm>
            <a:off x="6294499" y="3113532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A9761A"/>
          </a:solidFill>
          <a:ln w="889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6502366" y="3273151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Weight 700"/>
          <p:cNvSpPr/>
          <p:nvPr/>
        </p:nvSpPr>
        <p:spPr>
          <a:xfrm>
            <a:off x="6502366" y="3113532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E2D1B2"/>
          </a:solidFill>
          <a:ln w="889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6710232" y="3273151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Weight 701"/>
          <p:cNvSpPr/>
          <p:nvPr/>
        </p:nvSpPr>
        <p:spPr>
          <a:xfrm>
            <a:off x="6710232" y="3113532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A9761A"/>
          </a:solidFill>
          <a:ln w="889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7125966" y="3273151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Weight 702"/>
          <p:cNvSpPr/>
          <p:nvPr/>
        </p:nvSpPr>
        <p:spPr>
          <a:xfrm>
            <a:off x="7125966" y="3113532"/>
            <a:ext cx="151175" cy="150876"/>
          </a:xfrm>
          <a:prstGeom prst="roundRect">
            <a:avLst>
              <a:gd name="adj" fmla="val 26000"/>
            </a:avLst>
          </a:prstGeom>
          <a:solidFill>
            <a:srgbClr val="E2D1B2"/>
          </a:solidFill>
          <a:ln w="889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889754" y="3292048"/>
            <a:ext cx="207866" cy="1133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927CC0"/>
                </a:solidFill>
                <a:latin typeface="Comic Sans MS" panose="030F0702030302020204"/>
              </a:rPr>
              <a:t>…</a:t>
            </a:r>
            <a:endParaRPr sz="1100" b="1" i="0">
              <a:solidFill>
                <a:srgbClr val="927CC0"/>
              </a:solidFill>
              <a:latin typeface="Comic Sans MS" panose="030F0702030302020204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5803177" y="3474720"/>
            <a:ext cx="1795214" cy="151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0" b="0" i="1">
                <a:solidFill>
                  <a:srgbClr val="1A1A1A"/>
                </a:solidFill>
                <a:latin typeface="Comic Sans MS" panose="030F0702030302020204"/>
              </a:rPr>
              <a:t>database patches &amp; w</a:t>
            </a:r>
            <a:endParaRPr sz="106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257" name="Connector 256"/>
          <p:cNvCxnSpPr/>
          <p:nvPr/>
        </p:nvCxnSpPr>
        <p:spPr>
          <a:xfrm>
            <a:off x="5954353" y="3188719"/>
            <a:ext cx="340146" cy="0"/>
          </a:xfrm>
          <a:prstGeom prst="line">
            <a:avLst/>
          </a:prstGeom>
          <a:ln w="20574">
            <a:solidFill>
              <a:srgbClr val="DDB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7806258" y="268833"/>
            <a:ext cx="3212488" cy="151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1" i="0">
                <a:solidFill>
                  <a:srgbClr val="7AB488"/>
                </a:solidFill>
                <a:latin typeface="Comic Sans MS" panose="030F0702030302020204"/>
              </a:rPr>
              <a:t>Coarse Ranking</a:t>
            </a:r>
            <a:endParaRPr sz="1310" b="1" i="0">
              <a:solidFill>
                <a:srgbClr val="7AB488"/>
              </a:solidFill>
              <a:latin typeface="Comic Sans MS" panose="030F0702030302020204"/>
            </a:endParaRPr>
          </a:p>
        </p:txBody>
      </p:sp>
      <p:sp>
        <p:nvSpPr>
          <p:cNvPr id="259" name="Rounded Rectangle 258"/>
          <p:cNvSpPr/>
          <p:nvPr/>
        </p:nvSpPr>
        <p:spPr>
          <a:xfrm>
            <a:off x="7730338" y="429768"/>
            <a:ext cx="4081882" cy="1600200"/>
          </a:xfrm>
          <a:custGeom>
            <a:avLst/>
            <a:gdLst/>
            <a:ahLst/>
            <a:cxnLst/>
            <a:rect l="0" t="0" r="r" b="b"/>
            <a:pathLst>
              <a:path w="4081882" h="1453896">
                <a:moveTo>
                  <a:pt x="64116" y="2185"/>
                </a:moveTo>
                <a:lnTo>
                  <a:pt x="131091" y="2595"/>
                </a:lnTo>
                <a:lnTo>
                  <a:pt x="197905" y="2971"/>
                </a:lnTo>
                <a:lnTo>
                  <a:pt x="264473" y="3275"/>
                </a:lnTo>
                <a:lnTo>
                  <a:pt x="330724" y="3468"/>
                </a:lnTo>
                <a:lnTo>
                  <a:pt x="396607" y="3514"/>
                </a:lnTo>
                <a:lnTo>
                  <a:pt x="462097" y="3384"/>
                </a:lnTo>
                <a:lnTo>
                  <a:pt x="527200" y="3058"/>
                </a:lnTo>
                <a:lnTo>
                  <a:pt x="591947" y="2524"/>
                </a:lnTo>
                <a:lnTo>
                  <a:pt x="656401" y="1786"/>
                </a:lnTo>
                <a:lnTo>
                  <a:pt x="720645" y="858"/>
                </a:lnTo>
                <a:lnTo>
                  <a:pt x="784778" y="-230"/>
                </a:lnTo>
                <a:lnTo>
                  <a:pt x="848909" y="-1441"/>
                </a:lnTo>
                <a:lnTo>
                  <a:pt x="913147" y="-2726"/>
                </a:lnTo>
                <a:lnTo>
                  <a:pt x="977589" y="-4032"/>
                </a:lnTo>
                <a:lnTo>
                  <a:pt x="1042317" y="-5301"/>
                </a:lnTo>
                <a:lnTo>
                  <a:pt x="1107390" y="-6481"/>
                </a:lnTo>
                <a:lnTo>
                  <a:pt x="1172838" y="-7526"/>
                </a:lnTo>
                <a:lnTo>
                  <a:pt x="1238663" y="-8399"/>
                </a:lnTo>
                <a:lnTo>
                  <a:pt x="1304839" y="-9079"/>
                </a:lnTo>
                <a:lnTo>
                  <a:pt x="1371319" y="-9561"/>
                </a:lnTo>
                <a:lnTo>
                  <a:pt x="1438038" y="-9858"/>
                </a:lnTo>
                <a:lnTo>
                  <a:pt x="1504923" y="-10001"/>
                </a:lnTo>
                <a:lnTo>
                  <a:pt x="1571904" y="-10034"/>
                </a:lnTo>
                <a:lnTo>
                  <a:pt x="1638922" y="-10010"/>
                </a:lnTo>
                <a:lnTo>
                  <a:pt x="1705935" y="-9989"/>
                </a:lnTo>
                <a:lnTo>
                  <a:pt x="1772925" y="-10021"/>
                </a:lnTo>
                <a:lnTo>
                  <a:pt x="1839895" y="-10144"/>
                </a:lnTo>
                <a:lnTo>
                  <a:pt x="1906868" y="-10375"/>
                </a:lnTo>
                <a:lnTo>
                  <a:pt x="1973875" y="-10702"/>
                </a:lnTo>
                <a:lnTo>
                  <a:pt x="2040941" y="-11087"/>
                </a:lnTo>
                <a:lnTo>
                  <a:pt x="2108076" y="-11470"/>
                </a:lnTo>
                <a:lnTo>
                  <a:pt x="2175269" y="-11782"/>
                </a:lnTo>
                <a:lnTo>
                  <a:pt x="2242479" y="-11952"/>
                </a:lnTo>
                <a:lnTo>
                  <a:pt x="2309649" y="-11926"/>
                </a:lnTo>
                <a:lnTo>
                  <a:pt x="2376709" y="-11668"/>
                </a:lnTo>
                <a:lnTo>
                  <a:pt x="2443591" y="-11169"/>
                </a:lnTo>
                <a:lnTo>
                  <a:pt x="2510237" y="-10443"/>
                </a:lnTo>
                <a:lnTo>
                  <a:pt x="2576611" y="-9524"/>
                </a:lnTo>
                <a:lnTo>
                  <a:pt x="2642701" y="-8463"/>
                </a:lnTo>
                <a:lnTo>
                  <a:pt x="2708520" y="-7315"/>
                </a:lnTo>
                <a:lnTo>
                  <a:pt x="2774104" y="-6141"/>
                </a:lnTo>
                <a:lnTo>
                  <a:pt x="2839507" y="-4997"/>
                </a:lnTo>
                <a:lnTo>
                  <a:pt x="2904792" y="-3929"/>
                </a:lnTo>
                <a:lnTo>
                  <a:pt x="2970027" y="-2974"/>
                </a:lnTo>
                <a:lnTo>
                  <a:pt x="3035273" y="-2155"/>
                </a:lnTo>
                <a:lnTo>
                  <a:pt x="3100580" y="-1480"/>
                </a:lnTo>
                <a:lnTo>
                  <a:pt x="3165981" y="-946"/>
                </a:lnTo>
                <a:lnTo>
                  <a:pt x="3231488" y="-534"/>
                </a:lnTo>
                <a:lnTo>
                  <a:pt x="3297088" y="-221"/>
                </a:lnTo>
                <a:lnTo>
                  <a:pt x="3362751" y="25"/>
                </a:lnTo>
                <a:lnTo>
                  <a:pt x="3428427" y="242"/>
                </a:lnTo>
                <a:lnTo>
                  <a:pt x="3494058" y="462"/>
                </a:lnTo>
                <a:lnTo>
                  <a:pt x="3559577" y="716"/>
                </a:lnTo>
                <a:lnTo>
                  <a:pt x="3624925" y="1028"/>
                </a:lnTo>
                <a:lnTo>
                  <a:pt x="3690049" y="1413"/>
                </a:lnTo>
                <a:lnTo>
                  <a:pt x="3754918" y="1876"/>
                </a:lnTo>
                <a:lnTo>
                  <a:pt x="3819521" y="2414"/>
                </a:lnTo>
                <a:lnTo>
                  <a:pt x="3883872" y="3012"/>
                </a:lnTo>
                <a:lnTo>
                  <a:pt x="3948014" y="3648"/>
                </a:lnTo>
                <a:lnTo>
                  <a:pt x="4012014" y="4293"/>
                </a:lnTo>
                <a:lnTo>
                  <a:pt x="4009919" y="5062"/>
                </a:lnTo>
                <a:lnTo>
                  <a:pt x="4014386" y="6155"/>
                </a:lnTo>
                <a:lnTo>
                  <a:pt x="4018931" y="7905"/>
                </a:lnTo>
                <a:lnTo>
                  <a:pt x="4023576" y="10261"/>
                </a:lnTo>
                <a:lnTo>
                  <a:pt x="4028335" y="13166"/>
                </a:lnTo>
                <a:lnTo>
                  <a:pt x="4033207" y="16565"/>
                </a:lnTo>
                <a:lnTo>
                  <a:pt x="4038171" y="20404"/>
                </a:lnTo>
                <a:lnTo>
                  <a:pt x="4043184" y="24632"/>
                </a:lnTo>
                <a:lnTo>
                  <a:pt x="4048177" y="29201"/>
                </a:lnTo>
                <a:lnTo>
                  <a:pt x="4053060" y="34070"/>
                </a:lnTo>
                <a:lnTo>
                  <a:pt x="4057721" y="39197"/>
                </a:lnTo>
                <a:lnTo>
                  <a:pt x="4062039" y="44545"/>
                </a:lnTo>
                <a:lnTo>
                  <a:pt x="4065884" y="50074"/>
                </a:lnTo>
                <a:lnTo>
                  <a:pt x="4069128" y="55743"/>
                </a:lnTo>
                <a:lnTo>
                  <a:pt x="4071655" y="61505"/>
                </a:lnTo>
                <a:lnTo>
                  <a:pt x="4073742" y="60822"/>
                </a:lnTo>
                <a:lnTo>
                  <a:pt x="4075635" y="93539"/>
                </a:lnTo>
                <a:lnTo>
                  <a:pt x="4077328" y="126377"/>
                </a:lnTo>
                <a:lnTo>
                  <a:pt x="4078785" y="159336"/>
                </a:lnTo>
                <a:lnTo>
                  <a:pt x="4079998" y="192407"/>
                </a:lnTo>
                <a:lnTo>
                  <a:pt x="4080981" y="225574"/>
                </a:lnTo>
                <a:lnTo>
                  <a:pt x="4081768" y="258818"/>
                </a:lnTo>
                <a:lnTo>
                  <a:pt x="4082410" y="292119"/>
                </a:lnTo>
                <a:lnTo>
                  <a:pt x="4082963" y="325459"/>
                </a:lnTo>
                <a:lnTo>
                  <a:pt x="4083487" y="358822"/>
                </a:lnTo>
                <a:lnTo>
                  <a:pt x="4084033" y="392199"/>
                </a:lnTo>
                <a:lnTo>
                  <a:pt x="4084640" y="425584"/>
                </a:lnTo>
                <a:lnTo>
                  <a:pt x="4085333" y="458978"/>
                </a:lnTo>
                <a:lnTo>
                  <a:pt x="4086112" y="492385"/>
                </a:lnTo>
                <a:lnTo>
                  <a:pt x="4086962" y="525810"/>
                </a:lnTo>
                <a:lnTo>
                  <a:pt x="4087846" y="559261"/>
                </a:lnTo>
                <a:lnTo>
                  <a:pt x="4088715" y="592741"/>
                </a:lnTo>
                <a:lnTo>
                  <a:pt x="4089510" y="626254"/>
                </a:lnTo>
                <a:lnTo>
                  <a:pt x="4090171" y="659797"/>
                </a:lnTo>
                <a:lnTo>
                  <a:pt x="4090644" y="693364"/>
                </a:lnTo>
                <a:lnTo>
                  <a:pt x="4090886" y="726948"/>
                </a:lnTo>
                <a:lnTo>
                  <a:pt x="4090873" y="760534"/>
                </a:lnTo>
                <a:lnTo>
                  <a:pt x="4090601" y="794113"/>
                </a:lnTo>
                <a:lnTo>
                  <a:pt x="4090092" y="827670"/>
                </a:lnTo>
                <a:lnTo>
                  <a:pt x="4089387" y="861198"/>
                </a:lnTo>
                <a:lnTo>
                  <a:pt x="4088550" y="894692"/>
                </a:lnTo>
                <a:lnTo>
                  <a:pt x="4087659" y="928153"/>
                </a:lnTo>
                <a:lnTo>
                  <a:pt x="4086797" y="961589"/>
                </a:lnTo>
                <a:lnTo>
                  <a:pt x="4086050" y="995011"/>
                </a:lnTo>
                <a:lnTo>
                  <a:pt x="4085496" y="1028437"/>
                </a:lnTo>
                <a:lnTo>
                  <a:pt x="4085194" y="1061887"/>
                </a:lnTo>
                <a:lnTo>
                  <a:pt x="4085185" y="1095379"/>
                </a:lnTo>
                <a:lnTo>
                  <a:pt x="4085483" y="1128931"/>
                </a:lnTo>
                <a:lnTo>
                  <a:pt x="4086073" y="1162556"/>
                </a:lnTo>
                <a:lnTo>
                  <a:pt x="4086915" y="1196257"/>
                </a:lnTo>
                <a:lnTo>
                  <a:pt x="4087943" y="1230032"/>
                </a:lnTo>
                <a:lnTo>
                  <a:pt x="4089073" y="1263867"/>
                </a:lnTo>
                <a:lnTo>
                  <a:pt x="4090210" y="1297741"/>
                </a:lnTo>
                <a:lnTo>
                  <a:pt x="4091257" y="1331626"/>
                </a:lnTo>
                <a:lnTo>
                  <a:pt x="4092120" y="1365488"/>
                </a:lnTo>
                <a:lnTo>
                  <a:pt x="4092720" y="1399292"/>
                </a:lnTo>
                <a:lnTo>
                  <a:pt x="4093054" y="1399402"/>
                </a:lnTo>
                <a:lnTo>
                  <a:pt x="4092657" y="1405939"/>
                </a:lnTo>
                <a:lnTo>
                  <a:pt x="4091170" y="1412273"/>
                </a:lnTo>
                <a:lnTo>
                  <a:pt x="4088624" y="1418326"/>
                </a:lnTo>
                <a:lnTo>
                  <a:pt x="4085087" y="1424030"/>
                </a:lnTo>
                <a:lnTo>
                  <a:pt x="4080659" y="1429329"/>
                </a:lnTo>
                <a:lnTo>
                  <a:pt x="4075464" y="1434179"/>
                </a:lnTo>
                <a:lnTo>
                  <a:pt x="4069643" y="1438544"/>
                </a:lnTo>
                <a:lnTo>
                  <a:pt x="4063347" y="1442397"/>
                </a:lnTo>
                <a:lnTo>
                  <a:pt x="4056725" y="1445716"/>
                </a:lnTo>
                <a:lnTo>
                  <a:pt x="4049918" y="1448481"/>
                </a:lnTo>
                <a:lnTo>
                  <a:pt x="4043053" y="1450675"/>
                </a:lnTo>
                <a:lnTo>
                  <a:pt x="4036235" y="1452280"/>
                </a:lnTo>
                <a:lnTo>
                  <a:pt x="4029549" y="1453278"/>
                </a:lnTo>
                <a:lnTo>
                  <a:pt x="4023055" y="1453649"/>
                </a:lnTo>
                <a:lnTo>
                  <a:pt x="4023302" y="1453740"/>
                </a:lnTo>
                <a:lnTo>
                  <a:pt x="3957625" y="1453892"/>
                </a:lnTo>
                <a:lnTo>
                  <a:pt x="3892040" y="1454092"/>
                </a:lnTo>
                <a:lnTo>
                  <a:pt x="3826469" y="1454311"/>
                </a:lnTo>
                <a:lnTo>
                  <a:pt x="3760836" y="1454522"/>
                </a:lnTo>
                <a:lnTo>
                  <a:pt x="3695078" y="1454694"/>
                </a:lnTo>
                <a:lnTo>
                  <a:pt x="3629146" y="1454801"/>
                </a:lnTo>
                <a:lnTo>
                  <a:pt x="3563013" y="1454822"/>
                </a:lnTo>
                <a:lnTo>
                  <a:pt x="3496675" y="1454741"/>
                </a:lnTo>
                <a:lnTo>
                  <a:pt x="3430147" y="1454553"/>
                </a:lnTo>
                <a:lnTo>
                  <a:pt x="3363464" y="1454262"/>
                </a:lnTo>
                <a:lnTo>
                  <a:pt x="3296675" y="1453878"/>
                </a:lnTo>
                <a:lnTo>
                  <a:pt x="3229838" y="1453422"/>
                </a:lnTo>
                <a:lnTo>
                  <a:pt x="3163010" y="1452919"/>
                </a:lnTo>
                <a:lnTo>
                  <a:pt x="3096246" y="1452396"/>
                </a:lnTo>
                <a:lnTo>
                  <a:pt x="3029586" y="1451881"/>
                </a:lnTo>
                <a:lnTo>
                  <a:pt x="2963058" y="1451395"/>
                </a:lnTo>
                <a:lnTo>
                  <a:pt x="2896671" y="1450954"/>
                </a:lnTo>
                <a:lnTo>
                  <a:pt x="2830416" y="1450560"/>
                </a:lnTo>
                <a:lnTo>
                  <a:pt x="2764270" y="1450204"/>
                </a:lnTo>
                <a:lnTo>
                  <a:pt x="2698201" y="1449861"/>
                </a:lnTo>
                <a:lnTo>
                  <a:pt x="2632174" y="1449493"/>
                </a:lnTo>
                <a:lnTo>
                  <a:pt x="2566159" y="1449050"/>
                </a:lnTo>
                <a:lnTo>
                  <a:pt x="2500142" y="1448477"/>
                </a:lnTo>
                <a:lnTo>
                  <a:pt x="2434129" y="1447719"/>
                </a:lnTo>
                <a:lnTo>
                  <a:pt x="2368150" y="1446735"/>
                </a:lnTo>
                <a:lnTo>
                  <a:pt x="2302260" y="1445505"/>
                </a:lnTo>
                <a:lnTo>
                  <a:pt x="2236531" y="1444040"/>
                </a:lnTo>
                <a:lnTo>
                  <a:pt x="2171034" y="1442392"/>
                </a:lnTo>
                <a:lnTo>
                  <a:pt x="2105829" y="1440652"/>
                </a:lnTo>
                <a:lnTo>
                  <a:pt x="2040941" y="1438944"/>
                </a:lnTo>
                <a:lnTo>
                  <a:pt x="1976347" y="1437408"/>
                </a:lnTo>
                <a:lnTo>
                  <a:pt x="1911976" y="1436182"/>
                </a:lnTo>
                <a:lnTo>
                  <a:pt x="1847712" y="1435381"/>
                </a:lnTo>
                <a:lnTo>
                  <a:pt x="1783411" y="1435081"/>
                </a:lnTo>
                <a:lnTo>
                  <a:pt x="1718922" y="1435316"/>
                </a:lnTo>
                <a:lnTo>
                  <a:pt x="1654106" y="1436072"/>
                </a:lnTo>
                <a:lnTo>
                  <a:pt x="1588853" y="1437299"/>
                </a:lnTo>
                <a:lnTo>
                  <a:pt x="1523092" y="1438917"/>
                </a:lnTo>
                <a:lnTo>
                  <a:pt x="1456798" y="1440827"/>
                </a:lnTo>
                <a:lnTo>
                  <a:pt x="1389988" y="1442923"/>
                </a:lnTo>
                <a:lnTo>
                  <a:pt x="1322717" y="1445099"/>
                </a:lnTo>
                <a:lnTo>
                  <a:pt x="1255071" y="1447255"/>
                </a:lnTo>
                <a:lnTo>
                  <a:pt x="1187157" y="1449306"/>
                </a:lnTo>
                <a:lnTo>
                  <a:pt x="1119091" y="1451184"/>
                </a:lnTo>
                <a:lnTo>
                  <a:pt x="1050988" y="1452839"/>
                </a:lnTo>
                <a:lnTo>
                  <a:pt x="982953" y="1454241"/>
                </a:lnTo>
                <a:lnTo>
                  <a:pt x="915070" y="1455378"/>
                </a:lnTo>
                <a:lnTo>
                  <a:pt x="847401" y="1456259"/>
                </a:lnTo>
                <a:lnTo>
                  <a:pt x="779982" y="1456902"/>
                </a:lnTo>
                <a:lnTo>
                  <a:pt x="712817" y="1457342"/>
                </a:lnTo>
                <a:lnTo>
                  <a:pt x="645888" y="1457615"/>
                </a:lnTo>
                <a:lnTo>
                  <a:pt x="579156" y="1457766"/>
                </a:lnTo>
                <a:lnTo>
                  <a:pt x="512566" y="1457835"/>
                </a:lnTo>
                <a:lnTo>
                  <a:pt x="446058" y="1457861"/>
                </a:lnTo>
                <a:lnTo>
                  <a:pt x="379570" y="1457877"/>
                </a:lnTo>
                <a:lnTo>
                  <a:pt x="313050" y="1457904"/>
                </a:lnTo>
                <a:lnTo>
                  <a:pt x="246460" y="1457958"/>
                </a:lnTo>
                <a:lnTo>
                  <a:pt x="179779" y="1458044"/>
                </a:lnTo>
                <a:lnTo>
                  <a:pt x="113006" y="1458159"/>
                </a:lnTo>
                <a:lnTo>
                  <a:pt x="46161" y="1458293"/>
                </a:lnTo>
                <a:lnTo>
                  <a:pt x="45424" y="1458563"/>
                </a:lnTo>
                <a:lnTo>
                  <a:pt x="38188" y="1458444"/>
                </a:lnTo>
                <a:lnTo>
                  <a:pt x="31109" y="1457565"/>
                </a:lnTo>
                <a:lnTo>
                  <a:pt x="24327" y="1455917"/>
                </a:lnTo>
                <a:lnTo>
                  <a:pt x="17971" y="1453506"/>
                </a:lnTo>
                <a:lnTo>
                  <a:pt x="12161" y="1450349"/>
                </a:lnTo>
                <a:lnTo>
                  <a:pt x="6991" y="1446481"/>
                </a:lnTo>
                <a:lnTo>
                  <a:pt x="2532" y="1441949"/>
                </a:lnTo>
                <a:lnTo>
                  <a:pt x="-1170" y="1436817"/>
                </a:lnTo>
                <a:lnTo>
                  <a:pt x="-4098" y="1431162"/>
                </a:lnTo>
                <a:lnTo>
                  <a:pt x="-6259" y="1425071"/>
                </a:lnTo>
                <a:lnTo>
                  <a:pt x="-7677" y="1418642"/>
                </a:lnTo>
                <a:lnTo>
                  <a:pt x="-8394" y="1411975"/>
                </a:lnTo>
                <a:lnTo>
                  <a:pt x="-8457" y="1405172"/>
                </a:lnTo>
                <a:lnTo>
                  <a:pt x="-7914" y="1398334"/>
                </a:lnTo>
                <a:lnTo>
                  <a:pt x="-7168" y="1398090"/>
                </a:lnTo>
                <a:lnTo>
                  <a:pt x="-6652" y="1364372"/>
                </a:lnTo>
                <a:lnTo>
                  <a:pt x="-6335" y="1330730"/>
                </a:lnTo>
                <a:lnTo>
                  <a:pt x="-6201" y="1297149"/>
                </a:lnTo>
                <a:lnTo>
                  <a:pt x="-6209" y="1263610"/>
                </a:lnTo>
                <a:lnTo>
                  <a:pt x="-6298" y="1230090"/>
                </a:lnTo>
                <a:lnTo>
                  <a:pt x="-6394" y="1196569"/>
                </a:lnTo>
                <a:lnTo>
                  <a:pt x="-6413" y="1163029"/>
                </a:lnTo>
                <a:lnTo>
                  <a:pt x="-6271" y="1129456"/>
                </a:lnTo>
                <a:lnTo>
                  <a:pt x="-5893" y="1095846"/>
                </a:lnTo>
                <a:lnTo>
                  <a:pt x="-5220" y="1062199"/>
                </a:lnTo>
                <a:lnTo>
                  <a:pt x="-4215" y="1028526"/>
                </a:lnTo>
                <a:lnTo>
                  <a:pt x="-2870" y="994841"/>
                </a:lnTo>
                <a:lnTo>
                  <a:pt x="-1204" y="961163"/>
                </a:lnTo>
                <a:lnTo>
                  <a:pt x="732" y="927513"/>
                </a:lnTo>
                <a:lnTo>
                  <a:pt x="2866" y="893911"/>
                </a:lnTo>
                <a:lnTo>
                  <a:pt x="5101" y="860372"/>
                </a:lnTo>
                <a:lnTo>
                  <a:pt x="7329" y="826906"/>
                </a:lnTo>
                <a:lnTo>
                  <a:pt x="9435" y="793518"/>
                </a:lnTo>
                <a:lnTo>
                  <a:pt x="11313" y="760202"/>
                </a:lnTo>
                <a:lnTo>
                  <a:pt x="12869" y="726948"/>
                </a:lnTo>
                <a:lnTo>
                  <a:pt x="14028" y="693738"/>
                </a:lnTo>
                <a:lnTo>
                  <a:pt x="14745" y="660551"/>
                </a:lnTo>
                <a:lnTo>
                  <a:pt x="15003" y="627366"/>
                </a:lnTo>
                <a:lnTo>
                  <a:pt x="14818" y="594160"/>
                </a:lnTo>
                <a:lnTo>
                  <a:pt x="14234" y="560915"/>
                </a:lnTo>
                <a:lnTo>
                  <a:pt x="13319" y="527619"/>
                </a:lnTo>
                <a:lnTo>
                  <a:pt x="12161" y="494265"/>
                </a:lnTo>
                <a:lnTo>
                  <a:pt x="10855" y="460853"/>
                </a:lnTo>
                <a:lnTo>
                  <a:pt x="9500" y="427392"/>
                </a:lnTo>
                <a:lnTo>
                  <a:pt x="8189" y="393893"/>
                </a:lnTo>
                <a:lnTo>
                  <a:pt x="6999" y="360373"/>
                </a:lnTo>
                <a:lnTo>
                  <a:pt x="5988" y="326849"/>
                </a:lnTo>
                <a:lnTo>
                  <a:pt x="5191" y="293338"/>
                </a:lnTo>
                <a:lnTo>
                  <a:pt x="4618" y="259852"/>
                </a:lnTo>
                <a:lnTo>
                  <a:pt x="4256" y="226399"/>
                </a:lnTo>
                <a:lnTo>
                  <a:pt x="4073" y="192981"/>
                </a:lnTo>
                <a:lnTo>
                  <a:pt x="4021" y="159594"/>
                </a:lnTo>
                <a:lnTo>
                  <a:pt x="4044" y="126227"/>
                </a:lnTo>
                <a:lnTo>
                  <a:pt x="4085" y="92866"/>
                </a:lnTo>
                <a:lnTo>
                  <a:pt x="4094" y="59496"/>
                </a:lnTo>
                <a:lnTo>
                  <a:pt x="4050" y="59482"/>
                </a:lnTo>
                <a:lnTo>
                  <a:pt x="4273" y="52936"/>
                </a:lnTo>
                <a:lnTo>
                  <a:pt x="5119" y="46438"/>
                </a:lnTo>
                <a:lnTo>
                  <a:pt x="6589" y="40070"/>
                </a:lnTo>
                <a:lnTo>
                  <a:pt x="8689" y="33921"/>
                </a:lnTo>
                <a:lnTo>
                  <a:pt x="11432" y="28081"/>
                </a:lnTo>
                <a:lnTo>
                  <a:pt x="14831" y="22641"/>
                </a:lnTo>
                <a:lnTo>
                  <a:pt x="18895" y="17686"/>
                </a:lnTo>
                <a:lnTo>
                  <a:pt x="23621" y="13298"/>
                </a:lnTo>
                <a:lnTo>
                  <a:pt x="28990" y="9546"/>
                </a:lnTo>
                <a:lnTo>
                  <a:pt x="34960" y="6491"/>
                </a:lnTo>
                <a:lnTo>
                  <a:pt x="41466" y="4173"/>
                </a:lnTo>
                <a:lnTo>
                  <a:pt x="48414" y="2621"/>
                </a:lnTo>
                <a:lnTo>
                  <a:pt x="55687" y="1842"/>
                </a:lnTo>
                <a:lnTo>
                  <a:pt x="63143" y="1828"/>
                </a:lnTo>
                <a:close/>
              </a:path>
            </a:pathLst>
          </a:custGeom>
          <a:pattFill prst="ltUpDiag">
            <a:fgClr>
              <a:srgbClr val="D9EADD"/>
            </a:fgClr>
            <a:bgClr>
              <a:srgbClr val="FFFFFF"/>
            </a:bgClr>
          </a:pattFill>
          <a:ln w="14224">
            <a:solidFill>
              <a:srgbClr val="7AB4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InnerFrame 857"/>
          <p:cNvSpPr/>
          <p:nvPr/>
        </p:nvSpPr>
        <p:spPr>
          <a:xfrm>
            <a:off x="8736787" y="854598"/>
            <a:ext cx="439643" cy="439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B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InnerFrame 859"/>
          <p:cNvSpPr/>
          <p:nvPr/>
        </p:nvSpPr>
        <p:spPr>
          <a:xfrm>
            <a:off x="8736787" y="1467246"/>
            <a:ext cx="439643" cy="439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B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InnerFrame 858"/>
          <p:cNvSpPr/>
          <p:nvPr/>
        </p:nvSpPr>
        <p:spPr>
          <a:xfrm>
            <a:off x="8296656" y="1467246"/>
            <a:ext cx="120700" cy="439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B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InnerFrame 856"/>
          <p:cNvSpPr/>
          <p:nvPr/>
        </p:nvSpPr>
        <p:spPr>
          <a:xfrm>
            <a:off x="8296656" y="854598"/>
            <a:ext cx="120700" cy="439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B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InnerFrame 818"/>
          <p:cNvSpPr/>
          <p:nvPr/>
        </p:nvSpPr>
        <p:spPr>
          <a:xfrm>
            <a:off x="7801660" y="854598"/>
            <a:ext cx="175564" cy="439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B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InnerFrame 819"/>
          <p:cNvSpPr/>
          <p:nvPr/>
        </p:nvSpPr>
        <p:spPr>
          <a:xfrm>
            <a:off x="7801660" y="1467246"/>
            <a:ext cx="175564" cy="439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B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7881620" y="463296"/>
            <a:ext cx="3017520" cy="1695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90" b="1" i="0">
                <a:solidFill>
                  <a:srgbClr val="1A1A1A"/>
                </a:solidFill>
                <a:latin typeface="Comic Sans MS" panose="030F0702030302020204"/>
              </a:rPr>
              <a:t>Second-Moment Pooling (PS-2)</a:t>
            </a:r>
            <a:endParaRPr sz="119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307" name="Connector 306"/>
          <p:cNvCxnSpPr/>
          <p:nvPr/>
        </p:nvCxnSpPr>
        <p:spPr>
          <a:xfrm>
            <a:off x="9496044" y="1411467"/>
            <a:ext cx="109728" cy="0"/>
          </a:xfrm>
          <a:prstGeom prst="line">
            <a:avLst/>
          </a:prstGeom>
          <a:ln w="14224">
            <a:solidFill>
              <a:srgbClr val="7AB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4" name="Rounded Rectangle 693"/>
          <p:cNvSpPr/>
          <p:nvPr/>
        </p:nvSpPr>
        <p:spPr>
          <a:xfrm>
            <a:off x="9605772" y="1320027"/>
            <a:ext cx="402336" cy="182880"/>
          </a:xfrm>
          <a:prstGeom prst="roundRect">
            <a:avLst/>
          </a:prstGeom>
          <a:solidFill>
            <a:srgbClr val="EDF7EE"/>
          </a:solidFill>
          <a:ln w="7620">
            <a:solidFill>
              <a:srgbClr val="4C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9569196" y="1329171"/>
            <a:ext cx="47548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875" b="1">
                <a:solidFill>
                  <a:srgbClr val="1E5B2E"/>
                </a:solidFill>
                <a:latin typeface="Comic Sans MS" panose="030F0702030302020204"/>
              </a:rPr>
              <a:t>WPCA</a:t>
            </a:r>
            <a:endParaRPr sz="875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09" name="Rounded Rectangle 308"/>
          <p:cNvSpPr/>
          <p:nvPr/>
        </p:nvSpPr>
        <p:spPr>
          <a:xfrm>
            <a:off x="10442448" y="1089142"/>
            <a:ext cx="566928" cy="132278"/>
          </a:xfrm>
          <a:prstGeom prst="roundRect">
            <a:avLst>
              <a:gd name="adj" fmla="val 30000"/>
            </a:avLst>
          </a:prstGeom>
          <a:solidFill>
            <a:srgbClr val="CFE6D2"/>
          </a:solidFill>
          <a:ln w="17526">
            <a:solidFill>
              <a:srgbClr val="7AB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0" name="Connector 309"/>
          <p:cNvCxnSpPr/>
          <p:nvPr/>
        </p:nvCxnSpPr>
        <p:spPr>
          <a:xfrm>
            <a:off x="10523438" y="1099200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0604427" y="1099200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0685417" y="1099200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0766407" y="1099200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0847397" y="1099200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0928386" y="1099200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6" name="TextBox 315"/>
          <p:cNvSpPr txBox="1"/>
          <p:nvPr/>
        </p:nvSpPr>
        <p:spPr>
          <a:xfrm>
            <a:off x="10179812" y="957087"/>
            <a:ext cx="1097280" cy="103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query descriptor  g</a:t>
            </a:r>
            <a:r>
              <a:rPr sz="700" b="1" i="1" baseline="-25000">
                <a:solidFill>
                  <a:srgbClr val="1A1A1A"/>
                </a:solidFill>
                <a:latin typeface="Comic Sans MS" panose="030F0702030302020204"/>
              </a:rPr>
              <a:t>Q</a:t>
            </a:r>
            <a:endParaRPr sz="81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317" name="Connector 316"/>
          <p:cNvCxnSpPr/>
          <p:nvPr/>
        </p:nvCxnSpPr>
        <p:spPr>
          <a:xfrm>
            <a:off x="10201529" y="1155436"/>
            <a:ext cx="240665" cy="0"/>
          </a:xfrm>
          <a:prstGeom prst="line">
            <a:avLst/>
          </a:prstGeom>
          <a:ln w="20574">
            <a:solidFill>
              <a:srgbClr val="7AB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8" name="Rounded Rectangle 317"/>
          <p:cNvSpPr/>
          <p:nvPr/>
        </p:nvSpPr>
        <p:spPr>
          <a:xfrm>
            <a:off x="10442448" y="1651498"/>
            <a:ext cx="566928" cy="132588"/>
          </a:xfrm>
          <a:prstGeom prst="roundRect">
            <a:avLst>
              <a:gd name="adj" fmla="val 30000"/>
            </a:avLst>
          </a:prstGeom>
          <a:solidFill>
            <a:srgbClr val="CFE6D2"/>
          </a:solidFill>
          <a:ln w="14224">
            <a:solidFill>
              <a:srgbClr val="7AB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10102291" y="1803288"/>
            <a:ext cx="1463040" cy="103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database descriptors  g</a:t>
            </a:r>
            <a:r>
              <a:rPr sz="700" b="1" i="1" baseline="-25000">
                <a:solidFill>
                  <a:srgbClr val="1A1A1A"/>
                </a:solidFill>
                <a:latin typeface="Comic Sans MS" panose="030F0702030302020204"/>
              </a:rPr>
              <a:t>D</a:t>
            </a:r>
            <a:r>
              <a:rPr sz="700" b="1" i="1" baseline="-25000">
                <a:solidFill>
                  <a:srgbClr val="1A1A1A"/>
                </a:solidFill>
                <a:latin typeface="Comic Sans MS" panose="030F0702030302020204"/>
              </a:rPr>
              <a:t>ℓ</a:t>
            </a:r>
            <a:endParaRPr sz="81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322" name="Connector 321"/>
          <p:cNvCxnSpPr/>
          <p:nvPr/>
        </p:nvCxnSpPr>
        <p:spPr>
          <a:xfrm>
            <a:off x="10198354" y="1717792"/>
            <a:ext cx="243840" cy="0"/>
          </a:xfrm>
          <a:prstGeom prst="line">
            <a:avLst/>
          </a:prstGeom>
          <a:ln w="20574">
            <a:solidFill>
              <a:srgbClr val="7AB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11009376" y="1155436"/>
            <a:ext cx="239395" cy="0"/>
          </a:xfrm>
          <a:prstGeom prst="line">
            <a:avLst/>
          </a:prstGeom>
          <a:ln w="205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11245342" y="1155436"/>
            <a:ext cx="0" cy="281178"/>
          </a:xfrm>
          <a:prstGeom prst="line">
            <a:avLst/>
          </a:prstGeom>
          <a:ln w="205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1009376" y="1717792"/>
            <a:ext cx="226695" cy="0"/>
          </a:xfrm>
          <a:prstGeom prst="line">
            <a:avLst/>
          </a:prstGeom>
          <a:ln w="205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1245342" y="1436614"/>
            <a:ext cx="0" cy="281178"/>
          </a:xfrm>
          <a:prstGeom prst="line">
            <a:avLst/>
          </a:prstGeom>
          <a:ln w="205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1252327" y="1436614"/>
            <a:ext cx="269240" cy="0"/>
          </a:xfrm>
          <a:prstGeom prst="line">
            <a:avLst/>
          </a:prstGeom>
          <a:ln w="20574">
            <a:solidFill>
              <a:srgbClr val="7AB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30" name="Picture 329" descr="db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1440" y="1304483"/>
            <a:ext cx="264557" cy="264557"/>
          </a:xfrm>
          <a:prstGeom prst="rect">
            <a:avLst/>
          </a:prstGeom>
          <a:ln w="7620">
            <a:solidFill>
              <a:srgbClr val="8E897C"/>
            </a:solidFill>
          </a:ln>
        </p:spPr>
      </p:pic>
      <p:sp>
        <p:nvSpPr>
          <p:cNvPr id="331" name="TextBox 330"/>
          <p:cNvSpPr txBox="1"/>
          <p:nvPr/>
        </p:nvSpPr>
        <p:spPr>
          <a:xfrm>
            <a:off x="11245291" y="1587033"/>
            <a:ext cx="566909" cy="1133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top-K</a:t>
            </a:r>
            <a:endParaRPr sz="875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32" name="Can 331"/>
          <p:cNvSpPr/>
          <p:nvPr/>
        </p:nvSpPr>
        <p:spPr>
          <a:xfrm>
            <a:off x="6559057" y="1828136"/>
            <a:ext cx="585806" cy="585806"/>
          </a:xfrm>
          <a:prstGeom prst="can">
            <a:avLst/>
          </a:prstGeom>
          <a:solidFill>
            <a:srgbClr val="DADDE2"/>
          </a:solidFill>
          <a:ln w="16510">
            <a:solidFill>
              <a:srgbClr val="9399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6445675" y="1998209"/>
            <a:ext cx="812570" cy="245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0" b="1" i="0">
                <a:solidFill>
                  <a:srgbClr val="1A1A1A"/>
                </a:solidFill>
                <a:latin typeface="Comic Sans MS" panose="030F0702030302020204"/>
              </a:rPr>
              <a:t>Storage</a:t>
            </a:r>
            <a:endParaRPr sz="106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345" name="Connector 344"/>
          <p:cNvCxnSpPr/>
          <p:nvPr/>
        </p:nvCxnSpPr>
        <p:spPr>
          <a:xfrm>
            <a:off x="6851960" y="1344168"/>
            <a:ext cx="0" cy="465430"/>
          </a:xfrm>
          <a:prstGeom prst="line">
            <a:avLst/>
          </a:prstGeom>
          <a:ln w="19050">
            <a:solidFill>
              <a:srgbClr val="5C62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6851960" y="2432839"/>
            <a:ext cx="0" cy="676121"/>
          </a:xfrm>
          <a:prstGeom prst="line">
            <a:avLst/>
          </a:prstGeom>
          <a:ln w="19050">
            <a:solidFill>
              <a:srgbClr val="5C62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0" name="TextBox 359"/>
          <p:cNvSpPr txBox="1"/>
          <p:nvPr/>
        </p:nvSpPr>
        <p:spPr>
          <a:xfrm>
            <a:off x="7806258" y="2489530"/>
            <a:ext cx="3212488" cy="151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1" i="0">
                <a:solidFill>
                  <a:srgbClr val="C47752"/>
                </a:solidFill>
                <a:latin typeface="Comic Sans MS" panose="030F0702030302020204"/>
              </a:rPr>
              <a:t>Reranking</a:t>
            </a:r>
            <a:endParaRPr sz="1310" b="1" i="0">
              <a:solidFill>
                <a:srgbClr val="C47752"/>
              </a:solidFill>
              <a:latin typeface="Comic Sans MS" panose="030F0702030302020204"/>
            </a:endParaRPr>
          </a:p>
        </p:txBody>
      </p:sp>
      <p:sp>
        <p:nvSpPr>
          <p:cNvPr id="361" name="Rounded Rectangle 360"/>
          <p:cNvSpPr/>
          <p:nvPr/>
        </p:nvSpPr>
        <p:spPr>
          <a:xfrm>
            <a:off x="7730670" y="2659603"/>
            <a:ext cx="4081749" cy="1850078"/>
          </a:xfrm>
          <a:custGeom>
            <a:avLst/>
            <a:gdLst/>
            <a:ahLst/>
            <a:cxnLst/>
            <a:rect l="0" t="0" r="r" b="b"/>
            <a:pathLst>
              <a:path w="4081749" h="1795214">
                <a:moveTo>
                  <a:pt x="81868" y="4586"/>
                </a:moveTo>
                <a:lnTo>
                  <a:pt x="146027" y="4047"/>
                </a:lnTo>
                <a:lnTo>
                  <a:pt x="210146" y="3451"/>
                </a:lnTo>
                <a:lnTo>
                  <a:pt x="274320" y="2839"/>
                </a:lnTo>
                <a:lnTo>
                  <a:pt x="338634" y="2253"/>
                </a:lnTo>
                <a:lnTo>
                  <a:pt x="403157" y="1735"/>
                </a:lnTo>
                <a:lnTo>
                  <a:pt x="467939" y="1320"/>
                </a:lnTo>
                <a:lnTo>
                  <a:pt x="533000" y="1036"/>
                </a:lnTo>
                <a:lnTo>
                  <a:pt x="598335" y="897"/>
                </a:lnTo>
                <a:lnTo>
                  <a:pt x="663914" y="902"/>
                </a:lnTo>
                <a:lnTo>
                  <a:pt x="729681" y="1037"/>
                </a:lnTo>
                <a:lnTo>
                  <a:pt x="795567" y="1272"/>
                </a:lnTo>
                <a:lnTo>
                  <a:pt x="861492" y="1563"/>
                </a:lnTo>
                <a:lnTo>
                  <a:pt x="927375" y="1854"/>
                </a:lnTo>
                <a:lnTo>
                  <a:pt x="993144" y="2084"/>
                </a:lnTo>
                <a:lnTo>
                  <a:pt x="1058741" y="2187"/>
                </a:lnTo>
                <a:lnTo>
                  <a:pt x="1124130" y="2104"/>
                </a:lnTo>
                <a:lnTo>
                  <a:pt x="1189304" y="1780"/>
                </a:lnTo>
                <a:lnTo>
                  <a:pt x="1254280" y="1176"/>
                </a:lnTo>
                <a:lnTo>
                  <a:pt x="1319103" y="273"/>
                </a:lnTo>
                <a:lnTo>
                  <a:pt x="1383839" y="-929"/>
                </a:lnTo>
                <a:lnTo>
                  <a:pt x="1448571" y="-2405"/>
                </a:lnTo>
                <a:lnTo>
                  <a:pt x="1513387" y="-4107"/>
                </a:lnTo>
                <a:lnTo>
                  <a:pt x="1578371" y="-5965"/>
                </a:lnTo>
                <a:lnTo>
                  <a:pt x="1643597" y="-7894"/>
                </a:lnTo>
                <a:lnTo>
                  <a:pt x="1709114" y="-9797"/>
                </a:lnTo>
                <a:lnTo>
                  <a:pt x="1774945" y="-11580"/>
                </a:lnTo>
                <a:lnTo>
                  <a:pt x="1841081" y="-13157"/>
                </a:lnTo>
                <a:lnTo>
                  <a:pt x="1907488" y="-14460"/>
                </a:lnTo>
                <a:lnTo>
                  <a:pt x="1974109" y="-15448"/>
                </a:lnTo>
                <a:lnTo>
                  <a:pt x="2040874" y="-16110"/>
                </a:lnTo>
                <a:lnTo>
                  <a:pt x="2107713" y="-16463"/>
                </a:lnTo>
                <a:lnTo>
                  <a:pt x="2174566" y="-16551"/>
                </a:lnTo>
                <a:lnTo>
                  <a:pt x="2241385" y="-16432"/>
                </a:lnTo>
                <a:lnTo>
                  <a:pt x="2308145" y="-16168"/>
                </a:lnTo>
                <a:lnTo>
                  <a:pt x="2374835" y="-15817"/>
                </a:lnTo>
                <a:lnTo>
                  <a:pt x="2441455" y="-15426"/>
                </a:lnTo>
                <a:lnTo>
                  <a:pt x="2508011" y="-15019"/>
                </a:lnTo>
                <a:lnTo>
                  <a:pt x="2574502" y="-14605"/>
                </a:lnTo>
                <a:lnTo>
                  <a:pt x="2640921" y="-14172"/>
                </a:lnTo>
                <a:lnTo>
                  <a:pt x="2707244" y="-13695"/>
                </a:lnTo>
                <a:lnTo>
                  <a:pt x="2773436" y="-13141"/>
                </a:lnTo>
                <a:lnTo>
                  <a:pt x="2839449" y="-12476"/>
                </a:lnTo>
                <a:lnTo>
                  <a:pt x="2905230" y="-11669"/>
                </a:lnTo>
                <a:lnTo>
                  <a:pt x="2970724" y="-10698"/>
                </a:lnTo>
                <a:lnTo>
                  <a:pt x="3035886" y="-9553"/>
                </a:lnTo>
                <a:lnTo>
                  <a:pt x="3100683" y="-8239"/>
                </a:lnTo>
                <a:lnTo>
                  <a:pt x="3165102" y="-6776"/>
                </a:lnTo>
                <a:lnTo>
                  <a:pt x="3229155" y="-5197"/>
                </a:lnTo>
                <a:lnTo>
                  <a:pt x="3292880" y="-3548"/>
                </a:lnTo>
                <a:lnTo>
                  <a:pt x="3356338" y="-1882"/>
                </a:lnTo>
                <a:lnTo>
                  <a:pt x="3419613" y="-255"/>
                </a:lnTo>
                <a:lnTo>
                  <a:pt x="3482806" y="1274"/>
                </a:lnTo>
                <a:lnTo>
                  <a:pt x="3546025" y="2655"/>
                </a:lnTo>
                <a:lnTo>
                  <a:pt x="3609381" y="3844"/>
                </a:lnTo>
                <a:lnTo>
                  <a:pt x="3672975" y="4807"/>
                </a:lnTo>
                <a:lnTo>
                  <a:pt x="3736894" y="5525"/>
                </a:lnTo>
                <a:lnTo>
                  <a:pt x="3801201" y="5993"/>
                </a:lnTo>
                <a:lnTo>
                  <a:pt x="3865934" y="6219"/>
                </a:lnTo>
                <a:lnTo>
                  <a:pt x="3931099" y="6227"/>
                </a:lnTo>
                <a:lnTo>
                  <a:pt x="3996673" y="6047"/>
                </a:lnTo>
                <a:lnTo>
                  <a:pt x="3997042" y="5880"/>
                </a:lnTo>
                <a:lnTo>
                  <a:pt x="4005714" y="6017"/>
                </a:lnTo>
                <a:lnTo>
                  <a:pt x="4014468" y="6967"/>
                </a:lnTo>
                <a:lnTo>
                  <a:pt x="4023111" y="8758"/>
                </a:lnTo>
                <a:lnTo>
                  <a:pt x="4031452" y="11404"/>
                </a:lnTo>
                <a:lnTo>
                  <a:pt x="4039316" y="14906"/>
                </a:lnTo>
                <a:lnTo>
                  <a:pt x="4046547" y="19242"/>
                </a:lnTo>
                <a:lnTo>
                  <a:pt x="4053016" y="24373"/>
                </a:lnTo>
                <a:lnTo>
                  <a:pt x="4058628" y="30240"/>
                </a:lnTo>
                <a:lnTo>
                  <a:pt x="4063317" y="36764"/>
                </a:lnTo>
                <a:lnTo>
                  <a:pt x="4067052" y="43847"/>
                </a:lnTo>
                <a:lnTo>
                  <a:pt x="4069829" y="51382"/>
                </a:lnTo>
                <a:lnTo>
                  <a:pt x="4071669" y="59247"/>
                </a:lnTo>
                <a:lnTo>
                  <a:pt x="4072612" y="67317"/>
                </a:lnTo>
                <a:lnTo>
                  <a:pt x="4072710" y="75465"/>
                </a:lnTo>
                <a:lnTo>
                  <a:pt x="4072481" y="75557"/>
                </a:lnTo>
                <a:lnTo>
                  <a:pt x="4072348" y="116711"/>
                </a:lnTo>
                <a:lnTo>
                  <a:pt x="4072411" y="157788"/>
                </a:lnTo>
                <a:lnTo>
                  <a:pt x="4072683" y="198795"/>
                </a:lnTo>
                <a:lnTo>
                  <a:pt x="4073157" y="239749"/>
                </a:lnTo>
                <a:lnTo>
                  <a:pt x="4073805" y="280668"/>
                </a:lnTo>
                <a:lnTo>
                  <a:pt x="4074583" y="321577"/>
                </a:lnTo>
                <a:lnTo>
                  <a:pt x="4075434" y="362498"/>
                </a:lnTo>
                <a:lnTo>
                  <a:pt x="4076292" y="403452"/>
                </a:lnTo>
                <a:lnTo>
                  <a:pt x="4077096" y="444452"/>
                </a:lnTo>
                <a:lnTo>
                  <a:pt x="4077791" y="485508"/>
                </a:lnTo>
                <a:lnTo>
                  <a:pt x="4078336" y="526618"/>
                </a:lnTo>
                <a:lnTo>
                  <a:pt x="4078709" y="567779"/>
                </a:lnTo>
                <a:lnTo>
                  <a:pt x="4078909" y="608979"/>
                </a:lnTo>
                <a:lnTo>
                  <a:pt x="4078958" y="650205"/>
                </a:lnTo>
                <a:lnTo>
                  <a:pt x="4078898" y="691445"/>
                </a:lnTo>
                <a:lnTo>
                  <a:pt x="4078786" y="732686"/>
                </a:lnTo>
                <a:lnTo>
                  <a:pt x="4078689" y="773922"/>
                </a:lnTo>
                <a:lnTo>
                  <a:pt x="4078679" y="815151"/>
                </a:lnTo>
                <a:lnTo>
                  <a:pt x="4078820" y="856376"/>
                </a:lnTo>
                <a:lnTo>
                  <a:pt x="4079166" y="897607"/>
                </a:lnTo>
                <a:lnTo>
                  <a:pt x="4079751" y="938856"/>
                </a:lnTo>
                <a:lnTo>
                  <a:pt x="4080587" y="980139"/>
                </a:lnTo>
                <a:lnTo>
                  <a:pt x="4081658" y="1021471"/>
                </a:lnTo>
                <a:lnTo>
                  <a:pt x="4082924" y="1062861"/>
                </a:lnTo>
                <a:lnTo>
                  <a:pt x="4084323" y="1104317"/>
                </a:lnTo>
                <a:lnTo>
                  <a:pt x="4085774" y="1145835"/>
                </a:lnTo>
                <a:lnTo>
                  <a:pt x="4087186" y="1187406"/>
                </a:lnTo>
                <a:lnTo>
                  <a:pt x="4088464" y="1229013"/>
                </a:lnTo>
                <a:lnTo>
                  <a:pt x="4089521" y="1270631"/>
                </a:lnTo>
                <a:lnTo>
                  <a:pt x="4090285" y="1312233"/>
                </a:lnTo>
                <a:lnTo>
                  <a:pt x="4090702" y="1353788"/>
                </a:lnTo>
                <a:lnTo>
                  <a:pt x="4090747" y="1395271"/>
                </a:lnTo>
                <a:lnTo>
                  <a:pt x="4090425" y="1436658"/>
                </a:lnTo>
                <a:lnTo>
                  <a:pt x="4089768" y="1477937"/>
                </a:lnTo>
                <a:lnTo>
                  <a:pt x="4088835" y="1519106"/>
                </a:lnTo>
                <a:lnTo>
                  <a:pt x="4087709" y="1560175"/>
                </a:lnTo>
                <a:lnTo>
                  <a:pt x="4086487" y="1601165"/>
                </a:lnTo>
                <a:lnTo>
                  <a:pt x="4085272" y="1642109"/>
                </a:lnTo>
                <a:lnTo>
                  <a:pt x="4084165" y="1683045"/>
                </a:lnTo>
                <a:lnTo>
                  <a:pt x="4083259" y="1724017"/>
                </a:lnTo>
                <a:lnTo>
                  <a:pt x="4082633" y="1723763"/>
                </a:lnTo>
                <a:lnTo>
                  <a:pt x="4081874" y="1731681"/>
                </a:lnTo>
                <a:lnTo>
                  <a:pt x="4080568" y="1739640"/>
                </a:lnTo>
                <a:lnTo>
                  <a:pt x="4078734" y="1747546"/>
                </a:lnTo>
                <a:lnTo>
                  <a:pt x="4076375" y="1755294"/>
                </a:lnTo>
                <a:lnTo>
                  <a:pt x="4073478" y="1762774"/>
                </a:lnTo>
                <a:lnTo>
                  <a:pt x="4070024" y="1769872"/>
                </a:lnTo>
                <a:lnTo>
                  <a:pt x="4065989" y="1776470"/>
                </a:lnTo>
                <a:lnTo>
                  <a:pt x="4061353" y="1782455"/>
                </a:lnTo>
                <a:lnTo>
                  <a:pt x="4056103" y="1787722"/>
                </a:lnTo>
                <a:lnTo>
                  <a:pt x="4050246" y="1792175"/>
                </a:lnTo>
                <a:lnTo>
                  <a:pt x="4043807" y="1795735"/>
                </a:lnTo>
                <a:lnTo>
                  <a:pt x="4036835" y="1798339"/>
                </a:lnTo>
                <a:lnTo>
                  <a:pt x="4029407" y="1799947"/>
                </a:lnTo>
                <a:lnTo>
                  <a:pt x="4021621" y="1800538"/>
                </a:lnTo>
                <a:lnTo>
                  <a:pt x="4021645" y="1800549"/>
                </a:lnTo>
                <a:lnTo>
                  <a:pt x="3955760" y="1800615"/>
                </a:lnTo>
                <a:lnTo>
                  <a:pt x="3889715" y="1800609"/>
                </a:lnTo>
                <a:lnTo>
                  <a:pt x="3823565" y="1800548"/>
                </a:lnTo>
                <a:lnTo>
                  <a:pt x="3757360" y="1800453"/>
                </a:lnTo>
                <a:lnTo>
                  <a:pt x="3691144" y="1800345"/>
                </a:lnTo>
                <a:lnTo>
                  <a:pt x="3624948" y="1800240"/>
                </a:lnTo>
                <a:lnTo>
                  <a:pt x="3558785" y="1800145"/>
                </a:lnTo>
                <a:lnTo>
                  <a:pt x="3492653" y="1800060"/>
                </a:lnTo>
                <a:lnTo>
                  <a:pt x="3426532" y="1799975"/>
                </a:lnTo>
                <a:lnTo>
                  <a:pt x="3360390" y="1799867"/>
                </a:lnTo>
                <a:lnTo>
                  <a:pt x="3294188" y="1799704"/>
                </a:lnTo>
                <a:lnTo>
                  <a:pt x="3227885" y="1799446"/>
                </a:lnTo>
                <a:lnTo>
                  <a:pt x="3161443" y="1799047"/>
                </a:lnTo>
                <a:lnTo>
                  <a:pt x="3094840" y="1798459"/>
                </a:lnTo>
                <a:lnTo>
                  <a:pt x="3028068" y="1797639"/>
                </a:lnTo>
                <a:lnTo>
                  <a:pt x="2961143" y="1796553"/>
                </a:lnTo>
                <a:lnTo>
                  <a:pt x="2894105" y="1795181"/>
                </a:lnTo>
                <a:lnTo>
                  <a:pt x="2827015" y="1793520"/>
                </a:lnTo>
                <a:lnTo>
                  <a:pt x="2759953" y="1791593"/>
                </a:lnTo>
                <a:lnTo>
                  <a:pt x="2693011" y="1789444"/>
                </a:lnTo>
                <a:lnTo>
                  <a:pt x="2626285" y="1787146"/>
                </a:lnTo>
                <a:lnTo>
                  <a:pt x="2559862" y="1784792"/>
                </a:lnTo>
                <a:lnTo>
                  <a:pt x="2493812" y="1782494"/>
                </a:lnTo>
                <a:lnTo>
                  <a:pt x="2428177" y="1780374"/>
                </a:lnTo>
                <a:lnTo>
                  <a:pt x="2362960" y="1778552"/>
                </a:lnTo>
                <a:lnTo>
                  <a:pt x="2298129" y="1777137"/>
                </a:lnTo>
                <a:lnTo>
                  <a:pt x="2233612" y="1776212"/>
                </a:lnTo>
                <a:lnTo>
                  <a:pt x="2169309" y="1775823"/>
                </a:lnTo>
                <a:lnTo>
                  <a:pt x="2105103" y="1775974"/>
                </a:lnTo>
                <a:lnTo>
                  <a:pt x="2040874" y="1776620"/>
                </a:lnTo>
                <a:lnTo>
                  <a:pt x="1976521" y="1777678"/>
                </a:lnTo>
                <a:lnTo>
                  <a:pt x="1911970" y="1779030"/>
                </a:lnTo>
                <a:lnTo>
                  <a:pt x="1847185" y="1780545"/>
                </a:lnTo>
                <a:lnTo>
                  <a:pt x="1782170" y="1782092"/>
                </a:lnTo>
                <a:lnTo>
                  <a:pt x="1716959" y="1783554"/>
                </a:lnTo>
                <a:lnTo>
                  <a:pt x="1651610" y="1784844"/>
                </a:lnTo>
                <a:lnTo>
                  <a:pt x="1586190" y="1785905"/>
                </a:lnTo>
                <a:lnTo>
                  <a:pt x="1520760" y="1786717"/>
                </a:lnTo>
                <a:lnTo>
                  <a:pt x="1455366" y="1787293"/>
                </a:lnTo>
                <a:lnTo>
                  <a:pt x="1390035" y="1787669"/>
                </a:lnTo>
                <a:lnTo>
                  <a:pt x="1324765" y="1787901"/>
                </a:lnTo>
                <a:lnTo>
                  <a:pt x="1259532" y="1788051"/>
                </a:lnTo>
                <a:lnTo>
                  <a:pt x="1194292" y="1788186"/>
                </a:lnTo>
                <a:lnTo>
                  <a:pt x="1128989" y="1788364"/>
                </a:lnTo>
                <a:lnTo>
                  <a:pt x="1063559" y="1788632"/>
                </a:lnTo>
                <a:lnTo>
                  <a:pt x="997946" y="1789025"/>
                </a:lnTo>
                <a:lnTo>
                  <a:pt x="932101" y="1789557"/>
                </a:lnTo>
                <a:lnTo>
                  <a:pt x="865994" y="1790229"/>
                </a:lnTo>
                <a:lnTo>
                  <a:pt x="799617" y="1791026"/>
                </a:lnTo>
                <a:lnTo>
                  <a:pt x="732980" y="1791919"/>
                </a:lnTo>
                <a:lnTo>
                  <a:pt x="666120" y="1792874"/>
                </a:lnTo>
                <a:lnTo>
                  <a:pt x="599086" y="1793850"/>
                </a:lnTo>
                <a:lnTo>
                  <a:pt x="531943" y="1794805"/>
                </a:lnTo>
                <a:lnTo>
                  <a:pt x="464763" y="1795702"/>
                </a:lnTo>
                <a:lnTo>
                  <a:pt x="397614" y="1796511"/>
                </a:lnTo>
                <a:lnTo>
                  <a:pt x="330559" y="1797207"/>
                </a:lnTo>
                <a:lnTo>
                  <a:pt x="263648" y="1797780"/>
                </a:lnTo>
                <a:lnTo>
                  <a:pt x="196911" y="1798226"/>
                </a:lnTo>
                <a:lnTo>
                  <a:pt x="130359" y="1798554"/>
                </a:lnTo>
                <a:lnTo>
                  <a:pt x="63985" y="1798779"/>
                </a:lnTo>
                <a:lnTo>
                  <a:pt x="63442" y="1799027"/>
                </a:lnTo>
                <a:lnTo>
                  <a:pt x="54963" y="1798757"/>
                </a:lnTo>
                <a:lnTo>
                  <a:pt x="46641" y="1797559"/>
                </a:lnTo>
                <a:lnTo>
                  <a:pt x="38525" y="1795473"/>
                </a:lnTo>
                <a:lnTo>
                  <a:pt x="30667" y="1792547"/>
                </a:lnTo>
                <a:lnTo>
                  <a:pt x="23123" y="1788836"/>
                </a:lnTo>
                <a:lnTo>
                  <a:pt x="15963" y="1784397"/>
                </a:lnTo>
                <a:lnTo>
                  <a:pt x="9269" y="1779286"/>
                </a:lnTo>
                <a:lnTo>
                  <a:pt x="3139" y="1773562"/>
                </a:lnTo>
                <a:lnTo>
                  <a:pt x="-2321" y="1767283"/>
                </a:lnTo>
                <a:lnTo>
                  <a:pt x="-6996" y="1760506"/>
                </a:lnTo>
                <a:lnTo>
                  <a:pt x="-10768" y="1753294"/>
                </a:lnTo>
                <a:lnTo>
                  <a:pt x="-13522" y="1745710"/>
                </a:lnTo>
                <a:lnTo>
                  <a:pt x="-15157" y="1737824"/>
                </a:lnTo>
                <a:lnTo>
                  <a:pt x="-15592" y="1729715"/>
                </a:lnTo>
                <a:lnTo>
                  <a:pt x="-15204" y="1729558"/>
                </a:lnTo>
                <a:lnTo>
                  <a:pt x="-14541" y="1687705"/>
                </a:lnTo>
                <a:lnTo>
                  <a:pt x="-13483" y="1645736"/>
                </a:lnTo>
                <a:lnTo>
                  <a:pt x="-12050" y="1603680"/>
                </a:lnTo>
                <a:lnTo>
                  <a:pt x="-10292" y="1561577"/>
                </a:lnTo>
                <a:lnTo>
                  <a:pt x="-8280" y="1519469"/>
                </a:lnTo>
                <a:lnTo>
                  <a:pt x="-6112" y="1477397"/>
                </a:lnTo>
                <a:lnTo>
                  <a:pt x="-3895" y="1435400"/>
                </a:lnTo>
                <a:lnTo>
                  <a:pt x="-1745" y="1393510"/>
                </a:lnTo>
                <a:lnTo>
                  <a:pt x="225" y="1351746"/>
                </a:lnTo>
                <a:lnTo>
                  <a:pt x="1919" y="1310118"/>
                </a:lnTo>
                <a:lnTo>
                  <a:pt x="3255" y="1268623"/>
                </a:lnTo>
                <a:lnTo>
                  <a:pt x="4180" y="1227249"/>
                </a:lnTo>
                <a:lnTo>
                  <a:pt x="4672" y="1185974"/>
                </a:lnTo>
                <a:lnTo>
                  <a:pt x="4739" y="1144771"/>
                </a:lnTo>
                <a:lnTo>
                  <a:pt x="4420" y="1103609"/>
                </a:lnTo>
                <a:lnTo>
                  <a:pt x="3783" y="1062460"/>
                </a:lnTo>
                <a:lnTo>
                  <a:pt x="2913" y="1021300"/>
                </a:lnTo>
                <a:lnTo>
                  <a:pt x="1908" y="980109"/>
                </a:lnTo>
                <a:lnTo>
                  <a:pt x="872" y="938879"/>
                </a:lnTo>
                <a:lnTo>
                  <a:pt x="-99" y="897607"/>
                </a:lnTo>
                <a:lnTo>
                  <a:pt x="-922" y="856298"/>
                </a:lnTo>
                <a:lnTo>
                  <a:pt x="-1533" y="814965"/>
                </a:lnTo>
                <a:lnTo>
                  <a:pt x="-1893" y="773622"/>
                </a:lnTo>
                <a:lnTo>
                  <a:pt x="-1988" y="732286"/>
                </a:lnTo>
                <a:lnTo>
                  <a:pt x="-1830" y="690972"/>
                </a:lnTo>
                <a:lnTo>
                  <a:pt x="-1455" y="649690"/>
                </a:lnTo>
                <a:lnTo>
                  <a:pt x="-915" y="608447"/>
                </a:lnTo>
                <a:lnTo>
                  <a:pt x="-271" y="567243"/>
                </a:lnTo>
                <a:lnTo>
                  <a:pt x="409" y="526072"/>
                </a:lnTo>
                <a:lnTo>
                  <a:pt x="1067" y="484923"/>
                </a:lnTo>
                <a:lnTo>
                  <a:pt x="1651" y="443785"/>
                </a:lnTo>
                <a:lnTo>
                  <a:pt x="2127" y="402644"/>
                </a:lnTo>
                <a:lnTo>
                  <a:pt x="2481" y="361490"/>
                </a:lnTo>
                <a:lnTo>
                  <a:pt x="2719" y="320317"/>
                </a:lnTo>
                <a:lnTo>
                  <a:pt x="2864" y="279127"/>
                </a:lnTo>
                <a:lnTo>
                  <a:pt x="2957" y="237925"/>
                </a:lnTo>
                <a:lnTo>
                  <a:pt x="3048" y="196726"/>
                </a:lnTo>
                <a:lnTo>
                  <a:pt x="3191" y="155550"/>
                </a:lnTo>
                <a:lnTo>
                  <a:pt x="3438" y="114419"/>
                </a:lnTo>
                <a:lnTo>
                  <a:pt x="3829" y="73357"/>
                </a:lnTo>
                <a:lnTo>
                  <a:pt x="4423" y="73598"/>
                </a:lnTo>
                <a:lnTo>
                  <a:pt x="5654" y="65894"/>
                </a:lnTo>
                <a:lnTo>
                  <a:pt x="7962" y="58373"/>
                </a:lnTo>
                <a:lnTo>
                  <a:pt x="11300" y="51123"/>
                </a:lnTo>
                <a:lnTo>
                  <a:pt x="15588" y="44223"/>
                </a:lnTo>
                <a:lnTo>
                  <a:pt x="20722" y="37739"/>
                </a:lnTo>
                <a:lnTo>
                  <a:pt x="26576" y="31726"/>
                </a:lnTo>
                <a:lnTo>
                  <a:pt x="33009" y="26230"/>
                </a:lnTo>
                <a:lnTo>
                  <a:pt x="39876" y="21289"/>
                </a:lnTo>
                <a:lnTo>
                  <a:pt x="47035" y="16939"/>
                </a:lnTo>
                <a:lnTo>
                  <a:pt x="54352" y="13210"/>
                </a:lnTo>
                <a:lnTo>
                  <a:pt x="61709" y="10136"/>
                </a:lnTo>
                <a:lnTo>
                  <a:pt x="69008" y="7747"/>
                </a:lnTo>
                <a:lnTo>
                  <a:pt x="76173" y="6080"/>
                </a:lnTo>
                <a:lnTo>
                  <a:pt x="83149" y="5170"/>
                </a:lnTo>
                <a:close/>
              </a:path>
            </a:pathLst>
          </a:custGeom>
          <a:pattFill prst="ltUpDiag">
            <a:fgClr>
              <a:srgbClr val="EED8CE"/>
            </a:fgClr>
            <a:bgClr>
              <a:srgbClr val="FFFFFF"/>
            </a:bgClr>
          </a:pattFill>
          <a:ln w="14224">
            <a:solidFill>
              <a:srgbClr val="C4775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7919640" y="2669449"/>
            <a:ext cx="2286000" cy="182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90" b="1" i="0">
                <a:solidFill>
                  <a:srgbClr val="1A1A1A"/>
                </a:solidFill>
                <a:latin typeface="Comic Sans MS" panose="030F0702030302020204"/>
              </a:rPr>
              <a:t>MaxSim Matching (PS-3)</a:t>
            </a:r>
            <a:endParaRPr sz="119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77" name="Rounded Rectangle 476"/>
          <p:cNvSpPr/>
          <p:nvPr/>
        </p:nvSpPr>
        <p:spPr>
          <a:xfrm>
            <a:off x="9392259" y="3258647"/>
            <a:ext cx="281452" cy="9476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4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9265470" y="2999232"/>
            <a:ext cx="520827" cy="25603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75" b="1" i="0">
                <a:solidFill>
                  <a:srgbClr val="1A1A1A"/>
                </a:solidFill>
                <a:latin typeface="Comic Sans MS" panose="030F0702030302020204"/>
              </a:rPr>
              <a:t>row max</a:t>
            </a:r>
            <a:endParaRPr sz="650" b="1" i="0">
              <a:solidFill>
                <a:srgbClr val="1A1A1A"/>
              </a:solidFill>
              <a:latin typeface="Comic Sans MS" panose="030F0702030302020204"/>
            </a:endParaRPr>
          </a:p>
          <a:p>
            <a:pPr algn="ctr"/>
            <a:r>
              <a:rPr sz="875" b="1" i="0">
                <a:solidFill>
                  <a:srgbClr val="1A1A1A"/>
                </a:solidFill>
                <a:latin typeface="Comic Sans MS" panose="030F0702030302020204"/>
              </a:rPr>
              <a:t>m</a:t>
            </a:r>
            <a:r>
              <a:rPr sz="700" b="1" i="0" baseline="-25000">
                <a:solidFill>
                  <a:srgbClr val="1A1A1A"/>
                </a:solidFill>
                <a:latin typeface="Comic Sans MS" panose="030F0702030302020204"/>
              </a:rPr>
              <a:t>i</a:t>
            </a:r>
            <a:endParaRPr sz="65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79" name="Rounded Rectangle 478"/>
          <p:cNvSpPr/>
          <p:nvPr/>
        </p:nvSpPr>
        <p:spPr>
          <a:xfrm>
            <a:off x="9864638" y="3258647"/>
            <a:ext cx="191749" cy="9476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4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9806463" y="2999232"/>
            <a:ext cx="308102" cy="25603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75" b="1" i="0">
                <a:solidFill>
                  <a:srgbClr val="1A1A1A"/>
                </a:solidFill>
                <a:latin typeface="Comic Sans MS" panose="030F0702030302020204"/>
              </a:rPr>
              <a:t>gate</a:t>
            </a:r>
            <a:endParaRPr sz="650" b="1" i="0">
              <a:solidFill>
                <a:srgbClr val="1A1A1A"/>
              </a:solidFill>
              <a:latin typeface="Comic Sans MS" panose="030F0702030302020204"/>
            </a:endParaRPr>
          </a:p>
          <a:p>
            <a:pPr algn="ctr"/>
            <a:r>
              <a:rPr sz="875" b="1" i="0">
                <a:solidFill>
                  <a:srgbClr val="1A1A1A"/>
                </a:solidFill>
                <a:latin typeface="Comic Sans MS" panose="030F0702030302020204"/>
              </a:rPr>
              <a:t>θ</a:t>
            </a:r>
            <a:endParaRPr sz="65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81" name="Rounded Rectangle 480"/>
          <p:cNvSpPr/>
          <p:nvPr/>
        </p:nvSpPr>
        <p:spPr>
          <a:xfrm>
            <a:off x="10201960" y="3258647"/>
            <a:ext cx="474299" cy="9476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4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10179634" y="2999232"/>
            <a:ext cx="549402" cy="25603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875" b="1" i="0">
                <a:solidFill>
                  <a:srgbClr val="1A1A1A"/>
                </a:solidFill>
                <a:latin typeface="Comic Sans MS" panose="030F0702030302020204"/>
              </a:rPr>
              <a:t>weighted</a:t>
            </a:r>
            <a:endParaRPr sz="650" b="1" i="0">
              <a:solidFill>
                <a:srgbClr val="1A1A1A"/>
              </a:solidFill>
              <a:latin typeface="Comic Sans MS" panose="030F0702030302020204"/>
            </a:endParaRPr>
          </a:p>
          <a:p>
            <a:pPr algn="ctr"/>
            <a:r>
              <a:rPr sz="875" b="1" i="0">
                <a:solidFill>
                  <a:srgbClr val="1A1A1A"/>
                </a:solidFill>
                <a:latin typeface="Comic Sans MS" panose="030F0702030302020204"/>
              </a:rPr>
              <a:t>sum  s</a:t>
            </a:r>
            <a:endParaRPr sz="65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483" name="Connector 482"/>
          <p:cNvCxnSpPr/>
          <p:nvPr/>
        </p:nvCxnSpPr>
        <p:spPr>
          <a:xfrm>
            <a:off x="9223532" y="3732580"/>
            <a:ext cx="113382" cy="0"/>
          </a:xfrm>
          <a:prstGeom prst="line">
            <a:avLst/>
          </a:prstGeom>
          <a:ln w="15875">
            <a:solidFill>
              <a:srgbClr val="C477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9673711" y="3732580"/>
            <a:ext cx="190926" cy="0"/>
          </a:xfrm>
          <a:prstGeom prst="line">
            <a:avLst/>
          </a:prstGeom>
          <a:ln w="15875">
            <a:solidFill>
              <a:srgbClr val="C477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10056388" y="3732580"/>
            <a:ext cx="145572" cy="0"/>
          </a:xfrm>
          <a:prstGeom prst="line">
            <a:avLst/>
          </a:prstGeom>
          <a:ln w="15875">
            <a:solidFill>
              <a:srgbClr val="C477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6" name="Rectangle 485"/>
          <p:cNvSpPr/>
          <p:nvPr/>
        </p:nvSpPr>
        <p:spPr>
          <a:xfrm>
            <a:off x="9450296" y="3316735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ounded Rectangle 486"/>
          <p:cNvSpPr/>
          <p:nvPr/>
        </p:nvSpPr>
        <p:spPr>
          <a:xfrm>
            <a:off x="9436123" y="3302562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TextBox 487"/>
          <p:cNvSpPr txBox="1"/>
          <p:nvPr/>
        </p:nvSpPr>
        <p:spPr>
          <a:xfrm>
            <a:off x="9535333" y="3307286"/>
            <a:ext cx="94484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1">
                <a:solidFill>
                  <a:srgbClr val="1A1A1A"/>
                </a:solidFill>
                <a:latin typeface="Comic Sans MS" panose="030F0702030302020204"/>
              </a:rPr>
              <a:t>1</a:t>
            </a:r>
            <a:endParaRPr sz="65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89" name="Rectangle 488"/>
          <p:cNvSpPr/>
          <p:nvPr/>
        </p:nvSpPr>
        <p:spPr>
          <a:xfrm>
            <a:off x="9450296" y="3411220"/>
            <a:ext cx="75587" cy="75587"/>
          </a:xfrm>
          <a:prstGeom prst="rect">
            <a:avLst/>
          </a:prstGeom>
          <a:solidFill>
            <a:srgbClr val="525B68"/>
          </a:solidFill>
          <a:ln w="5080">
            <a:solidFill>
              <a:srgbClr val="52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ounded Rectangle 489"/>
          <p:cNvSpPr/>
          <p:nvPr/>
        </p:nvSpPr>
        <p:spPr>
          <a:xfrm>
            <a:off x="9436123" y="3397047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9535333" y="3401771"/>
            <a:ext cx="94484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1">
                <a:solidFill>
                  <a:srgbClr val="1A1A1A"/>
                </a:solidFill>
                <a:latin typeface="Comic Sans MS" panose="030F0702030302020204"/>
              </a:rPr>
              <a:t>2</a:t>
            </a:r>
            <a:endParaRPr sz="65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92" name="Rectangle 491"/>
          <p:cNvSpPr/>
          <p:nvPr/>
        </p:nvSpPr>
        <p:spPr>
          <a:xfrm>
            <a:off x="9450296" y="3505705"/>
            <a:ext cx="75587" cy="75587"/>
          </a:xfrm>
          <a:prstGeom prst="rect">
            <a:avLst/>
          </a:prstGeom>
          <a:solidFill>
            <a:srgbClr val="989FA8"/>
          </a:solidFill>
          <a:ln w="5080">
            <a:solidFill>
              <a:srgbClr val="989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ounded Rectangle 492"/>
          <p:cNvSpPr/>
          <p:nvPr/>
        </p:nvSpPr>
        <p:spPr>
          <a:xfrm>
            <a:off x="9436123" y="3491532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9535333" y="3496256"/>
            <a:ext cx="94484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1">
                <a:solidFill>
                  <a:srgbClr val="1A1A1A"/>
                </a:solidFill>
                <a:latin typeface="Comic Sans MS" panose="030F0702030302020204"/>
              </a:rPr>
              <a:t>3</a:t>
            </a:r>
            <a:endParaRPr sz="65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95" name="Rectangle 494"/>
          <p:cNvSpPr/>
          <p:nvPr/>
        </p:nvSpPr>
        <p:spPr>
          <a:xfrm>
            <a:off x="9450296" y="3600190"/>
            <a:ext cx="75587" cy="75587"/>
          </a:xfrm>
          <a:prstGeom prst="rect">
            <a:avLst/>
          </a:prstGeom>
          <a:solidFill>
            <a:srgbClr val="454F5C"/>
          </a:solidFill>
          <a:ln w="5080">
            <a:solidFill>
              <a:srgbClr val="45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ounded Rectangle 495"/>
          <p:cNvSpPr/>
          <p:nvPr/>
        </p:nvSpPr>
        <p:spPr>
          <a:xfrm>
            <a:off x="9436123" y="3586017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TextBox 496"/>
          <p:cNvSpPr txBox="1"/>
          <p:nvPr/>
        </p:nvSpPr>
        <p:spPr>
          <a:xfrm>
            <a:off x="9535333" y="3590741"/>
            <a:ext cx="94484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1">
                <a:solidFill>
                  <a:srgbClr val="1A1A1A"/>
                </a:solidFill>
                <a:latin typeface="Comic Sans MS" panose="030F0702030302020204"/>
              </a:rPr>
              <a:t>4</a:t>
            </a:r>
            <a:endParaRPr sz="65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98" name="Rectangle 497"/>
          <p:cNvSpPr/>
          <p:nvPr/>
        </p:nvSpPr>
        <p:spPr>
          <a:xfrm>
            <a:off x="9450296" y="3694674"/>
            <a:ext cx="75587" cy="75587"/>
          </a:xfrm>
          <a:prstGeom prst="rect">
            <a:avLst/>
          </a:prstGeom>
          <a:solidFill>
            <a:srgbClr val="ACB1BA"/>
          </a:solidFill>
          <a:ln w="5080">
            <a:solidFill>
              <a:srgbClr val="ACB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ounded Rectangle 498"/>
          <p:cNvSpPr/>
          <p:nvPr/>
        </p:nvSpPr>
        <p:spPr>
          <a:xfrm>
            <a:off x="9436123" y="3680502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9535333" y="3685225"/>
            <a:ext cx="94484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1">
                <a:solidFill>
                  <a:srgbClr val="1A1A1A"/>
                </a:solidFill>
                <a:latin typeface="Comic Sans MS" panose="030F0702030302020204"/>
              </a:rPr>
              <a:t>5</a:t>
            </a:r>
            <a:endParaRPr sz="65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01" name="Rectangle 500"/>
          <p:cNvSpPr/>
          <p:nvPr/>
        </p:nvSpPr>
        <p:spPr>
          <a:xfrm>
            <a:off x="9450296" y="3789160"/>
            <a:ext cx="75587" cy="75587"/>
          </a:xfrm>
          <a:prstGeom prst="rect">
            <a:avLst/>
          </a:prstGeom>
          <a:solidFill>
            <a:srgbClr val="5F6774"/>
          </a:solidFill>
          <a:ln w="5080">
            <a:solidFill>
              <a:srgbClr val="5F6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ounded Rectangle 501"/>
          <p:cNvSpPr/>
          <p:nvPr/>
        </p:nvSpPr>
        <p:spPr>
          <a:xfrm>
            <a:off x="9436123" y="3774986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9535333" y="3779711"/>
            <a:ext cx="94484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1">
                <a:solidFill>
                  <a:srgbClr val="1A1A1A"/>
                </a:solidFill>
                <a:latin typeface="Comic Sans MS" panose="030F0702030302020204"/>
              </a:rPr>
              <a:t>6</a:t>
            </a:r>
            <a:endParaRPr sz="65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04" name="Rectangle 503"/>
          <p:cNvSpPr/>
          <p:nvPr/>
        </p:nvSpPr>
        <p:spPr>
          <a:xfrm>
            <a:off x="9450296" y="3883644"/>
            <a:ext cx="75587" cy="75587"/>
          </a:xfrm>
          <a:prstGeom prst="rect">
            <a:avLst/>
          </a:prstGeom>
          <a:solidFill>
            <a:srgbClr val="78808B"/>
          </a:solidFill>
          <a:ln w="5080">
            <a:solidFill>
              <a:srgbClr val="788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ounded Rectangle 504"/>
          <p:cNvSpPr/>
          <p:nvPr/>
        </p:nvSpPr>
        <p:spPr>
          <a:xfrm>
            <a:off x="9436123" y="3869472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9535333" y="3874195"/>
            <a:ext cx="94484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1">
                <a:solidFill>
                  <a:srgbClr val="1A1A1A"/>
                </a:solidFill>
                <a:latin typeface="Comic Sans MS" panose="030F0702030302020204"/>
              </a:rPr>
              <a:t>7</a:t>
            </a:r>
            <a:endParaRPr sz="65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07" name="Rectangle 506"/>
          <p:cNvSpPr/>
          <p:nvPr/>
        </p:nvSpPr>
        <p:spPr>
          <a:xfrm>
            <a:off x="9450296" y="3978129"/>
            <a:ext cx="75587" cy="75587"/>
          </a:xfrm>
          <a:prstGeom prst="rect">
            <a:avLst/>
          </a:prstGeom>
          <a:solidFill>
            <a:srgbClr val="4C5562"/>
          </a:solidFill>
          <a:ln w="5080">
            <a:solidFill>
              <a:srgbClr val="4C5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ounded Rectangle 507"/>
          <p:cNvSpPr/>
          <p:nvPr/>
        </p:nvSpPr>
        <p:spPr>
          <a:xfrm>
            <a:off x="9436123" y="3963956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TextBox 508"/>
          <p:cNvSpPr txBox="1"/>
          <p:nvPr/>
        </p:nvSpPr>
        <p:spPr>
          <a:xfrm>
            <a:off x="9535333" y="3968680"/>
            <a:ext cx="94484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1">
                <a:solidFill>
                  <a:srgbClr val="1A1A1A"/>
                </a:solidFill>
                <a:latin typeface="Comic Sans MS" panose="030F0702030302020204"/>
              </a:rPr>
              <a:t>8</a:t>
            </a:r>
            <a:endParaRPr sz="65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10" name="Rectangle 509"/>
          <p:cNvSpPr/>
          <p:nvPr/>
        </p:nvSpPr>
        <p:spPr>
          <a:xfrm>
            <a:off x="9450296" y="4072615"/>
            <a:ext cx="75587" cy="75587"/>
          </a:xfrm>
          <a:prstGeom prst="rect">
            <a:avLst/>
          </a:prstGeom>
          <a:solidFill>
            <a:srgbClr val="B2B7C0"/>
          </a:solidFill>
          <a:ln w="5080">
            <a:solidFill>
              <a:srgbClr val="B2B7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ounded Rectangle 510"/>
          <p:cNvSpPr/>
          <p:nvPr/>
        </p:nvSpPr>
        <p:spPr>
          <a:xfrm>
            <a:off x="9436123" y="4058441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9535333" y="4063166"/>
            <a:ext cx="94484" cy="94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1">
                <a:solidFill>
                  <a:srgbClr val="1A1A1A"/>
                </a:solidFill>
                <a:latin typeface="Comic Sans MS" panose="030F0702030302020204"/>
              </a:rPr>
              <a:t>9</a:t>
            </a:r>
            <a:endParaRPr sz="65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13" name="Rectangle 512"/>
          <p:cNvSpPr/>
          <p:nvPr/>
        </p:nvSpPr>
        <p:spPr>
          <a:xfrm>
            <a:off x="9922721" y="3316735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ounded Rectangle 513"/>
          <p:cNvSpPr/>
          <p:nvPr/>
        </p:nvSpPr>
        <p:spPr>
          <a:xfrm>
            <a:off x="9908548" y="3302562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9922721" y="3411220"/>
            <a:ext cx="75587" cy="75587"/>
          </a:xfrm>
          <a:prstGeom prst="rect">
            <a:avLst/>
          </a:prstGeom>
          <a:solidFill>
            <a:srgbClr val="525B68"/>
          </a:solidFill>
          <a:ln w="5080">
            <a:solidFill>
              <a:srgbClr val="52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ounded Rectangle 515"/>
          <p:cNvSpPr/>
          <p:nvPr/>
        </p:nvSpPr>
        <p:spPr>
          <a:xfrm>
            <a:off x="9908548" y="3397047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9922721" y="3505705"/>
            <a:ext cx="75587" cy="75587"/>
          </a:xfrm>
          <a:prstGeom prst="rect">
            <a:avLst/>
          </a:prstGeom>
          <a:solidFill>
            <a:srgbClr val="989FA8"/>
          </a:solidFill>
          <a:ln w="5080">
            <a:solidFill>
              <a:srgbClr val="989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 flipV="1">
            <a:off x="9936894" y="3519878"/>
            <a:ext cx="47242" cy="47242"/>
          </a:xfrm>
          <a:prstGeom prst="line">
            <a:avLst/>
          </a:prstGeom>
          <a:ln w="11430">
            <a:solidFill>
              <a:srgbClr val="C45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8E8E8E"/>
          </a:effectRef>
          <a:fontRef idx="minor">
            <a:schemeClr val="tx1"/>
          </a:fontRef>
        </p:style>
      </p:cxnSp>
      <p:sp>
        <p:nvSpPr>
          <p:cNvPr id="520" name="Rectangle 519"/>
          <p:cNvSpPr/>
          <p:nvPr/>
        </p:nvSpPr>
        <p:spPr>
          <a:xfrm>
            <a:off x="9922721" y="3600190"/>
            <a:ext cx="75587" cy="75587"/>
          </a:xfrm>
          <a:prstGeom prst="rect">
            <a:avLst/>
          </a:prstGeom>
          <a:solidFill>
            <a:srgbClr val="454F5C"/>
          </a:solidFill>
          <a:ln w="5080">
            <a:solidFill>
              <a:srgbClr val="45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ounded Rectangle 520"/>
          <p:cNvSpPr/>
          <p:nvPr/>
        </p:nvSpPr>
        <p:spPr>
          <a:xfrm>
            <a:off x="9908548" y="3586017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9922721" y="3694674"/>
            <a:ext cx="75587" cy="75587"/>
          </a:xfrm>
          <a:prstGeom prst="rect">
            <a:avLst/>
          </a:prstGeom>
          <a:solidFill>
            <a:srgbClr val="ACB1BA"/>
          </a:solidFill>
          <a:ln w="5080">
            <a:solidFill>
              <a:srgbClr val="ACB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 flipV="1">
            <a:off x="9936894" y="3708848"/>
            <a:ext cx="47242" cy="47242"/>
          </a:xfrm>
          <a:prstGeom prst="line">
            <a:avLst/>
          </a:prstGeom>
          <a:ln w="11430">
            <a:solidFill>
              <a:srgbClr val="C45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8E8E8E"/>
          </a:effectRef>
          <a:fontRef idx="minor">
            <a:schemeClr val="tx1"/>
          </a:fontRef>
        </p:style>
      </p:cxnSp>
      <p:sp>
        <p:nvSpPr>
          <p:cNvPr id="525" name="Rectangle 524"/>
          <p:cNvSpPr/>
          <p:nvPr/>
        </p:nvSpPr>
        <p:spPr>
          <a:xfrm>
            <a:off x="9922721" y="3789160"/>
            <a:ext cx="75587" cy="75587"/>
          </a:xfrm>
          <a:prstGeom prst="rect">
            <a:avLst/>
          </a:prstGeom>
          <a:solidFill>
            <a:srgbClr val="5F6774"/>
          </a:solidFill>
          <a:ln w="5080">
            <a:solidFill>
              <a:srgbClr val="5F6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ounded Rectangle 525"/>
          <p:cNvSpPr/>
          <p:nvPr/>
        </p:nvSpPr>
        <p:spPr>
          <a:xfrm>
            <a:off x="9908548" y="3774986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9922721" y="3883644"/>
            <a:ext cx="75587" cy="75587"/>
          </a:xfrm>
          <a:prstGeom prst="rect">
            <a:avLst/>
          </a:prstGeom>
          <a:solidFill>
            <a:srgbClr val="78808B"/>
          </a:solidFill>
          <a:ln w="5080">
            <a:solidFill>
              <a:srgbClr val="788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ounded Rectangle 527"/>
          <p:cNvSpPr/>
          <p:nvPr/>
        </p:nvSpPr>
        <p:spPr>
          <a:xfrm>
            <a:off x="9908548" y="3869472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9922721" y="3978129"/>
            <a:ext cx="75587" cy="75587"/>
          </a:xfrm>
          <a:prstGeom prst="rect">
            <a:avLst/>
          </a:prstGeom>
          <a:solidFill>
            <a:srgbClr val="4C5562"/>
          </a:solidFill>
          <a:ln w="5080">
            <a:solidFill>
              <a:srgbClr val="4C5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ounded Rectangle 529"/>
          <p:cNvSpPr/>
          <p:nvPr/>
        </p:nvSpPr>
        <p:spPr>
          <a:xfrm>
            <a:off x="9908548" y="3963956"/>
            <a:ext cx="103933" cy="103933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9922721" y="4072615"/>
            <a:ext cx="75587" cy="75587"/>
          </a:xfrm>
          <a:prstGeom prst="rect">
            <a:avLst/>
          </a:prstGeom>
          <a:solidFill>
            <a:srgbClr val="B2B7C0"/>
          </a:solidFill>
          <a:ln w="5080">
            <a:solidFill>
              <a:srgbClr val="B2B7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2" name="Connector 531"/>
          <p:cNvCxnSpPr/>
          <p:nvPr/>
        </p:nvCxnSpPr>
        <p:spPr>
          <a:xfrm flipV="1">
            <a:off x="9936894" y="4086786"/>
            <a:ext cx="47242" cy="47243"/>
          </a:xfrm>
          <a:prstGeom prst="line">
            <a:avLst/>
          </a:prstGeom>
          <a:ln w="11430">
            <a:solidFill>
              <a:srgbClr val="C45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8E8E8E"/>
          </a:effectRef>
          <a:fontRef idx="minor">
            <a:schemeClr val="tx1"/>
          </a:fontRef>
        </p:style>
      </p:cxnSp>
      <p:sp>
        <p:nvSpPr>
          <p:cNvPr id="535" name="Rectangle 534"/>
          <p:cNvSpPr/>
          <p:nvPr/>
        </p:nvSpPr>
        <p:spPr>
          <a:xfrm>
            <a:off x="10556748" y="3316735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TextBox 536"/>
          <p:cNvSpPr txBox="1"/>
          <p:nvPr/>
        </p:nvSpPr>
        <p:spPr>
          <a:xfrm>
            <a:off x="10245852" y="3399028"/>
            <a:ext cx="187452" cy="944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  <a:latin typeface="Comic Sans MS" panose="030F0702030302020204"/>
              </a:rPr>
              <a:t>+</a:t>
            </a:r>
            <a:endParaRPr sz="70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38" name="Rectangle 537"/>
          <p:cNvSpPr/>
          <p:nvPr/>
        </p:nvSpPr>
        <p:spPr>
          <a:xfrm>
            <a:off x="10556748" y="3411220"/>
            <a:ext cx="75587" cy="75587"/>
          </a:xfrm>
          <a:prstGeom prst="rect">
            <a:avLst/>
          </a:prstGeom>
          <a:solidFill>
            <a:srgbClr val="525B68"/>
          </a:solidFill>
          <a:ln w="5080">
            <a:solidFill>
              <a:srgbClr val="52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10245852" y="3587998"/>
            <a:ext cx="187452" cy="944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  <a:latin typeface="Comic Sans MS" panose="030F0702030302020204"/>
              </a:rPr>
              <a:t>+</a:t>
            </a:r>
            <a:endParaRPr sz="70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41" name="Rectangle 540"/>
          <p:cNvSpPr/>
          <p:nvPr/>
        </p:nvSpPr>
        <p:spPr>
          <a:xfrm>
            <a:off x="10556748" y="3600190"/>
            <a:ext cx="75587" cy="75587"/>
          </a:xfrm>
          <a:prstGeom prst="rect">
            <a:avLst/>
          </a:prstGeom>
          <a:solidFill>
            <a:srgbClr val="454F5C"/>
          </a:solidFill>
          <a:ln w="5080">
            <a:solidFill>
              <a:srgbClr val="45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10245852" y="3776968"/>
            <a:ext cx="187452" cy="944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  <a:latin typeface="Comic Sans MS" panose="030F0702030302020204"/>
              </a:rPr>
              <a:t>+</a:t>
            </a:r>
            <a:endParaRPr sz="70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44" name="Rectangle 543"/>
          <p:cNvSpPr/>
          <p:nvPr/>
        </p:nvSpPr>
        <p:spPr>
          <a:xfrm>
            <a:off x="10556748" y="3789160"/>
            <a:ext cx="75587" cy="75587"/>
          </a:xfrm>
          <a:prstGeom prst="rect">
            <a:avLst/>
          </a:prstGeom>
          <a:solidFill>
            <a:srgbClr val="5F6774"/>
          </a:solidFill>
          <a:ln w="5080">
            <a:solidFill>
              <a:srgbClr val="5F6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10245852" y="3871452"/>
            <a:ext cx="187452" cy="944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  <a:latin typeface="Comic Sans MS" panose="030F0702030302020204"/>
              </a:rPr>
              <a:t>+</a:t>
            </a:r>
            <a:endParaRPr sz="70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47" name="Rectangle 546"/>
          <p:cNvSpPr/>
          <p:nvPr/>
        </p:nvSpPr>
        <p:spPr>
          <a:xfrm>
            <a:off x="10556748" y="3883644"/>
            <a:ext cx="75587" cy="75587"/>
          </a:xfrm>
          <a:prstGeom prst="rect">
            <a:avLst/>
          </a:prstGeom>
          <a:solidFill>
            <a:srgbClr val="78808B"/>
          </a:solidFill>
          <a:ln w="5080">
            <a:solidFill>
              <a:srgbClr val="788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10245852" y="3965937"/>
            <a:ext cx="187452" cy="944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  <a:latin typeface="Comic Sans MS" panose="030F0702030302020204"/>
              </a:rPr>
              <a:t>+</a:t>
            </a:r>
            <a:endParaRPr sz="700" b="0" i="1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50" name="Rectangle 549"/>
          <p:cNvSpPr/>
          <p:nvPr/>
        </p:nvSpPr>
        <p:spPr>
          <a:xfrm>
            <a:off x="10556748" y="3978129"/>
            <a:ext cx="75587" cy="75587"/>
          </a:xfrm>
          <a:prstGeom prst="rect">
            <a:avLst/>
          </a:prstGeom>
          <a:solidFill>
            <a:srgbClr val="4C5562"/>
          </a:solidFill>
          <a:ln w="5080">
            <a:solidFill>
              <a:srgbClr val="4C5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9622514" y="4299377"/>
            <a:ext cx="1463040" cy="103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75" b="0" i="1">
                <a:solidFill>
                  <a:srgbClr val="1A1A1A"/>
                </a:solidFill>
                <a:latin typeface="Comic Sans MS" panose="030F0702030302020204"/>
              </a:rPr>
              <a:t>for each top-K D</a:t>
            </a:r>
            <a:r>
              <a:rPr sz="700" b="0" i="1" baseline="-25000">
                <a:solidFill>
                  <a:srgbClr val="1A1A1A"/>
                </a:solidFill>
                <a:latin typeface="Comic Sans MS" panose="030F0702030302020204"/>
              </a:rPr>
              <a:t>ℓ</a:t>
            </a:r>
            <a:endParaRPr sz="75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552" name="Connector 551"/>
          <p:cNvCxnSpPr/>
          <p:nvPr/>
        </p:nvCxnSpPr>
        <p:spPr>
          <a:xfrm>
            <a:off x="7182657" y="2121039"/>
            <a:ext cx="306705" cy="0"/>
          </a:xfrm>
          <a:prstGeom prst="line">
            <a:avLst/>
          </a:prstGeom>
          <a:ln w="20574">
            <a:solidFill>
              <a:srgbClr val="5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7503677" y="2121039"/>
            <a:ext cx="0" cy="1237753"/>
          </a:xfrm>
          <a:prstGeom prst="line">
            <a:avLst/>
          </a:prstGeom>
          <a:ln w="20574">
            <a:solidFill>
              <a:srgbClr val="5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7494787" y="3358792"/>
            <a:ext cx="292903" cy="0"/>
          </a:xfrm>
          <a:prstGeom prst="line">
            <a:avLst/>
          </a:prstGeom>
          <a:ln w="20574">
            <a:solidFill>
              <a:srgbClr val="5C62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7503677" y="1124712"/>
            <a:ext cx="0" cy="1005840"/>
          </a:xfrm>
          <a:prstGeom prst="line">
            <a:avLst/>
          </a:prstGeom>
          <a:ln w="20574">
            <a:solidFill>
              <a:srgbClr val="5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7495082" y="1124712"/>
            <a:ext cx="269747" cy="0"/>
          </a:xfrm>
          <a:prstGeom prst="line">
            <a:avLst/>
          </a:prstGeom>
          <a:ln w="20574">
            <a:solidFill>
              <a:srgbClr val="5C62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11654028" y="1718564"/>
            <a:ext cx="0" cy="732790"/>
          </a:xfrm>
          <a:prstGeom prst="line">
            <a:avLst/>
          </a:prstGeom>
          <a:ln w="20574">
            <a:solidFill>
              <a:srgbClr val="5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H="1">
            <a:off x="8618828" y="2451736"/>
            <a:ext cx="3034894" cy="0"/>
          </a:xfrm>
          <a:prstGeom prst="line">
            <a:avLst/>
          </a:prstGeom>
          <a:ln w="20574">
            <a:solidFill>
              <a:srgbClr val="5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8618828" y="2451736"/>
            <a:ext cx="0" cy="207867"/>
          </a:xfrm>
          <a:prstGeom prst="line">
            <a:avLst/>
          </a:prstGeom>
          <a:ln w="20574">
            <a:solidFill>
              <a:srgbClr val="5C62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61" name="Picture 560" descr="db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9776" y="3543499"/>
            <a:ext cx="548012" cy="548012"/>
          </a:xfrm>
          <a:prstGeom prst="rect">
            <a:avLst/>
          </a:prstGeom>
          <a:ln w="7620">
            <a:solidFill>
              <a:srgbClr val="8E897C"/>
            </a:solidFill>
          </a:ln>
        </p:spPr>
      </p:pic>
      <p:pic>
        <p:nvPicPr>
          <p:cNvPr id="562" name="Picture 561" descr="db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4813" y="3458462"/>
            <a:ext cx="548012" cy="548012"/>
          </a:xfrm>
          <a:prstGeom prst="rect">
            <a:avLst/>
          </a:prstGeom>
          <a:ln w="7620">
            <a:solidFill>
              <a:srgbClr val="8E897C"/>
            </a:solidFill>
          </a:ln>
        </p:spPr>
      </p:pic>
      <p:pic>
        <p:nvPicPr>
          <p:cNvPr id="563" name="Picture 562" descr="db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849" y="3373426"/>
            <a:ext cx="548012" cy="548012"/>
          </a:xfrm>
          <a:prstGeom prst="rect">
            <a:avLst/>
          </a:prstGeom>
          <a:ln w="7620">
            <a:solidFill>
              <a:srgbClr val="8E897C"/>
            </a:solidFill>
          </a:ln>
        </p:spPr>
      </p:pic>
      <p:sp>
        <p:nvSpPr>
          <p:cNvPr id="564" name="Oval 563"/>
          <p:cNvSpPr/>
          <p:nvPr/>
        </p:nvSpPr>
        <p:spPr>
          <a:xfrm>
            <a:off x="11406135" y="3288389"/>
            <a:ext cx="170072" cy="1700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C9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11440149" y="3376827"/>
            <a:ext cx="37416" cy="40818"/>
          </a:xfrm>
          <a:prstGeom prst="line">
            <a:avLst/>
          </a:prstGeom>
          <a:ln w="21590">
            <a:solidFill>
              <a:srgbClr val="4C9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11477565" y="3325806"/>
            <a:ext cx="68029" cy="91839"/>
          </a:xfrm>
          <a:prstGeom prst="line">
            <a:avLst/>
          </a:prstGeom>
          <a:ln w="21590">
            <a:solidFill>
              <a:srgbClr val="4C9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10706946" y="4110409"/>
            <a:ext cx="907055" cy="151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0" b="1" i="0">
                <a:solidFill>
                  <a:srgbClr val="1A1A1A"/>
                </a:solidFill>
                <a:latin typeface="Comic Sans MS" panose="030F0702030302020204"/>
              </a:rPr>
              <a:t>Ranked List</a:t>
            </a:r>
            <a:endParaRPr sz="106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568" name="Connector 567"/>
          <p:cNvCxnSpPr/>
          <p:nvPr/>
        </p:nvCxnSpPr>
        <p:spPr>
          <a:xfrm>
            <a:off x="10676260" y="3732580"/>
            <a:ext cx="131947" cy="0"/>
          </a:xfrm>
          <a:prstGeom prst="line">
            <a:avLst/>
          </a:prstGeom>
          <a:ln w="20574">
            <a:solidFill>
              <a:srgbClr val="C477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9" name="Rounded Rectangle 568"/>
          <p:cNvSpPr/>
          <p:nvPr/>
        </p:nvSpPr>
        <p:spPr>
          <a:xfrm>
            <a:off x="360844" y="3925702"/>
            <a:ext cx="7199753" cy="512064"/>
          </a:xfrm>
          <a:custGeom>
            <a:avLst/>
            <a:gdLst/>
            <a:ahLst/>
            <a:cxnLst/>
            <a:rect l="0" t="0" r="r" b="b"/>
            <a:pathLst>
              <a:path w="7199753" h="529115">
                <a:moveTo>
                  <a:pt x="32091" y="807"/>
                </a:moveTo>
                <a:lnTo>
                  <a:pt x="151620" y="853"/>
                </a:lnTo>
                <a:lnTo>
                  <a:pt x="271118" y="900"/>
                </a:lnTo>
                <a:lnTo>
                  <a:pt x="390619" y="951"/>
                </a:lnTo>
                <a:lnTo>
                  <a:pt x="510146" y="1008"/>
                </a:lnTo>
                <a:lnTo>
                  <a:pt x="629707" y="1072"/>
                </a:lnTo>
                <a:lnTo>
                  <a:pt x="749297" y="1145"/>
                </a:lnTo>
                <a:lnTo>
                  <a:pt x="868895" y="1224"/>
                </a:lnTo>
                <a:lnTo>
                  <a:pt x="988464" y="1308"/>
                </a:lnTo>
                <a:lnTo>
                  <a:pt x="1107956" y="1391"/>
                </a:lnTo>
                <a:lnTo>
                  <a:pt x="1227315" y="1468"/>
                </a:lnTo>
                <a:lnTo>
                  <a:pt x="1346485" y="1532"/>
                </a:lnTo>
                <a:lnTo>
                  <a:pt x="1465413" y="1572"/>
                </a:lnTo>
                <a:lnTo>
                  <a:pt x="1584056" y="1580"/>
                </a:lnTo>
                <a:lnTo>
                  <a:pt x="1702388" y="1546"/>
                </a:lnTo>
                <a:lnTo>
                  <a:pt x="1820399" y="1460"/>
                </a:lnTo>
                <a:lnTo>
                  <a:pt x="1938104" y="1313"/>
                </a:lnTo>
                <a:lnTo>
                  <a:pt x="2055539" y="1098"/>
                </a:lnTo>
                <a:lnTo>
                  <a:pt x="2172762" y="807"/>
                </a:lnTo>
                <a:lnTo>
                  <a:pt x="2289846" y="436"/>
                </a:lnTo>
                <a:lnTo>
                  <a:pt x="2406882" y="-19"/>
                </a:lnTo>
                <a:lnTo>
                  <a:pt x="2523967" y="-565"/>
                </a:lnTo>
                <a:lnTo>
                  <a:pt x="2641199" y="-1206"/>
                </a:lnTo>
                <a:lnTo>
                  <a:pt x="2758676" y="-1953"/>
                </a:lnTo>
                <a:lnTo>
                  <a:pt x="2876491" y="-2824"/>
                </a:lnTo>
                <a:lnTo>
                  <a:pt x="2994739" y="-3852"/>
                </a:lnTo>
                <a:lnTo>
                  <a:pt x="3113531" y="-5091"/>
                </a:lnTo>
                <a:lnTo>
                  <a:pt x="3233046" y="-6622"/>
                </a:lnTo>
                <a:lnTo>
                  <a:pt x="3353633" y="-8495"/>
                </a:lnTo>
                <a:lnTo>
                  <a:pt x="3475883" y="-10429"/>
                </a:lnTo>
                <a:lnTo>
                  <a:pt x="3599876" y="-11199"/>
                </a:lnTo>
                <a:lnTo>
                  <a:pt x="3723600" y="-9833"/>
                </a:lnTo>
                <a:lnTo>
                  <a:pt x="3845341" y="-7633"/>
                </a:lnTo>
                <a:lnTo>
                  <a:pt x="3965589" y="-5797"/>
                </a:lnTo>
                <a:lnTo>
                  <a:pt x="4085148" y="-4496"/>
                </a:lnTo>
                <a:lnTo>
                  <a:pt x="4204461" y="-3607"/>
                </a:lnTo>
                <a:lnTo>
                  <a:pt x="4323743" y="-3003"/>
                </a:lnTo>
                <a:lnTo>
                  <a:pt x="4443092" y="-2592"/>
                </a:lnTo>
                <a:lnTo>
                  <a:pt x="4562545" y="-2313"/>
                </a:lnTo>
                <a:lnTo>
                  <a:pt x="4682102" y="-2122"/>
                </a:lnTo>
                <a:lnTo>
                  <a:pt x="4801736" y="-1986"/>
                </a:lnTo>
                <a:lnTo>
                  <a:pt x="4921402" y="-1881"/>
                </a:lnTo>
                <a:lnTo>
                  <a:pt x="5041048" y="-1790"/>
                </a:lnTo>
                <a:lnTo>
                  <a:pt x="5160621" y="-1700"/>
                </a:lnTo>
                <a:lnTo>
                  <a:pt x="5280068" y="-1604"/>
                </a:lnTo>
                <a:lnTo>
                  <a:pt x="5399352" y="-1496"/>
                </a:lnTo>
                <a:lnTo>
                  <a:pt x="5518444" y="-1375"/>
                </a:lnTo>
                <a:lnTo>
                  <a:pt x="5637338" y="-1242"/>
                </a:lnTo>
                <a:lnTo>
                  <a:pt x="5756040" y="-1101"/>
                </a:lnTo>
                <a:lnTo>
                  <a:pt x="5874577" y="-955"/>
                </a:lnTo>
                <a:lnTo>
                  <a:pt x="5992988" y="-809"/>
                </a:lnTo>
                <a:lnTo>
                  <a:pt x="6111321" y="-670"/>
                </a:lnTo>
                <a:lnTo>
                  <a:pt x="6229630" y="-540"/>
                </a:lnTo>
                <a:lnTo>
                  <a:pt x="6347968" y="-425"/>
                </a:lnTo>
                <a:lnTo>
                  <a:pt x="6466381" y="-326"/>
                </a:lnTo>
                <a:lnTo>
                  <a:pt x="6584904" y="-245"/>
                </a:lnTo>
                <a:lnTo>
                  <a:pt x="6703559" y="-181"/>
                </a:lnTo>
                <a:lnTo>
                  <a:pt x="6822348" y="-133"/>
                </a:lnTo>
                <a:lnTo>
                  <a:pt x="6941259" y="-99"/>
                </a:lnTo>
                <a:lnTo>
                  <a:pt x="7060264" y="-73"/>
                </a:lnTo>
                <a:lnTo>
                  <a:pt x="7179322" y="-54"/>
                </a:lnTo>
                <a:lnTo>
                  <a:pt x="7179093" y="-37"/>
                </a:lnTo>
                <a:lnTo>
                  <a:pt x="7181186" y="116"/>
                </a:lnTo>
                <a:lnTo>
                  <a:pt x="7183153" y="541"/>
                </a:lnTo>
                <a:lnTo>
                  <a:pt x="7184924" y="1235"/>
                </a:lnTo>
                <a:lnTo>
                  <a:pt x="7186446" y="2192"/>
                </a:lnTo>
                <a:lnTo>
                  <a:pt x="7187682" y="3401"/>
                </a:lnTo>
                <a:lnTo>
                  <a:pt x="7188617" y="4846"/>
                </a:lnTo>
                <a:lnTo>
                  <a:pt x="7189255" y="6507"/>
                </a:lnTo>
                <a:lnTo>
                  <a:pt x="7189623" y="8361"/>
                </a:lnTo>
                <a:lnTo>
                  <a:pt x="7189762" y="10381"/>
                </a:lnTo>
                <a:lnTo>
                  <a:pt x="7189728" y="12537"/>
                </a:lnTo>
                <a:lnTo>
                  <a:pt x="7189579" y="14799"/>
                </a:lnTo>
                <a:lnTo>
                  <a:pt x="7189376" y="17133"/>
                </a:lnTo>
                <a:lnTo>
                  <a:pt x="7189172" y="19507"/>
                </a:lnTo>
                <a:lnTo>
                  <a:pt x="7189009" y="21890"/>
                </a:lnTo>
                <a:lnTo>
                  <a:pt x="7189046" y="21887"/>
                </a:lnTo>
                <a:lnTo>
                  <a:pt x="7189416" y="33997"/>
                </a:lnTo>
                <a:lnTo>
                  <a:pt x="7190101" y="46090"/>
                </a:lnTo>
                <a:lnTo>
                  <a:pt x="7191060" y="58172"/>
                </a:lnTo>
                <a:lnTo>
                  <a:pt x="7192230" y="70249"/>
                </a:lnTo>
                <a:lnTo>
                  <a:pt x="7193533" y="82327"/>
                </a:lnTo>
                <a:lnTo>
                  <a:pt x="7194885" y="94412"/>
                </a:lnTo>
                <a:lnTo>
                  <a:pt x="7196195" y="106508"/>
                </a:lnTo>
                <a:lnTo>
                  <a:pt x="7197382" y="118617"/>
                </a:lnTo>
                <a:lnTo>
                  <a:pt x="7198373" y="130742"/>
                </a:lnTo>
                <a:lnTo>
                  <a:pt x="7199112" y="142882"/>
                </a:lnTo>
                <a:lnTo>
                  <a:pt x="7199564" y="155036"/>
                </a:lnTo>
                <a:lnTo>
                  <a:pt x="7199716" y="167201"/>
                </a:lnTo>
                <a:lnTo>
                  <a:pt x="7199581" y="179373"/>
                </a:lnTo>
                <a:lnTo>
                  <a:pt x="7199190" y="191550"/>
                </a:lnTo>
                <a:lnTo>
                  <a:pt x="7198592" y="203728"/>
                </a:lnTo>
                <a:lnTo>
                  <a:pt x="7197849" y="215904"/>
                </a:lnTo>
                <a:lnTo>
                  <a:pt x="7197030" y="228076"/>
                </a:lnTo>
                <a:lnTo>
                  <a:pt x="7196205" y="240242"/>
                </a:lnTo>
                <a:lnTo>
                  <a:pt x="7195436" y="252402"/>
                </a:lnTo>
                <a:lnTo>
                  <a:pt x="7194775" y="264557"/>
                </a:lnTo>
                <a:lnTo>
                  <a:pt x="7194261" y="276708"/>
                </a:lnTo>
                <a:lnTo>
                  <a:pt x="7193913" y="288857"/>
                </a:lnTo>
                <a:lnTo>
                  <a:pt x="7193735" y="301005"/>
                </a:lnTo>
                <a:lnTo>
                  <a:pt x="7193711" y="313154"/>
                </a:lnTo>
                <a:lnTo>
                  <a:pt x="7193814" y="325305"/>
                </a:lnTo>
                <a:lnTo>
                  <a:pt x="7194007" y="337459"/>
                </a:lnTo>
                <a:lnTo>
                  <a:pt x="7194248" y="349614"/>
                </a:lnTo>
                <a:lnTo>
                  <a:pt x="7194495" y="361772"/>
                </a:lnTo>
                <a:lnTo>
                  <a:pt x="7194716" y="373931"/>
                </a:lnTo>
                <a:lnTo>
                  <a:pt x="7194885" y="386089"/>
                </a:lnTo>
                <a:lnTo>
                  <a:pt x="7194993" y="398246"/>
                </a:lnTo>
                <a:lnTo>
                  <a:pt x="7195045" y="410402"/>
                </a:lnTo>
                <a:lnTo>
                  <a:pt x="7195062" y="422557"/>
                </a:lnTo>
                <a:lnTo>
                  <a:pt x="7195079" y="434711"/>
                </a:lnTo>
                <a:lnTo>
                  <a:pt x="7195140" y="446868"/>
                </a:lnTo>
                <a:lnTo>
                  <a:pt x="7195294" y="459031"/>
                </a:lnTo>
                <a:lnTo>
                  <a:pt x="7195593" y="471202"/>
                </a:lnTo>
                <a:lnTo>
                  <a:pt x="7196081" y="483388"/>
                </a:lnTo>
                <a:lnTo>
                  <a:pt x="7196792" y="495591"/>
                </a:lnTo>
                <a:lnTo>
                  <a:pt x="7197744" y="507815"/>
                </a:lnTo>
                <a:lnTo>
                  <a:pt x="7198936" y="507895"/>
                </a:lnTo>
                <a:lnTo>
                  <a:pt x="7200215" y="510361"/>
                </a:lnTo>
                <a:lnTo>
                  <a:pt x="7201410" y="512811"/>
                </a:lnTo>
                <a:lnTo>
                  <a:pt x="7202468" y="515212"/>
                </a:lnTo>
                <a:lnTo>
                  <a:pt x="7203327" y="517531"/>
                </a:lnTo>
                <a:lnTo>
                  <a:pt x="7203916" y="519735"/>
                </a:lnTo>
                <a:lnTo>
                  <a:pt x="7204171" y="521791"/>
                </a:lnTo>
                <a:lnTo>
                  <a:pt x="7204029" y="523669"/>
                </a:lnTo>
                <a:lnTo>
                  <a:pt x="7203444" y="525341"/>
                </a:lnTo>
                <a:lnTo>
                  <a:pt x="7202388" y="526783"/>
                </a:lnTo>
                <a:lnTo>
                  <a:pt x="7200856" y="527976"/>
                </a:lnTo>
                <a:lnTo>
                  <a:pt x="7198866" y="528903"/>
                </a:lnTo>
                <a:lnTo>
                  <a:pt x="7196463" y="529554"/>
                </a:lnTo>
                <a:lnTo>
                  <a:pt x="7193713" y="529923"/>
                </a:lnTo>
                <a:lnTo>
                  <a:pt x="7190703" y="530010"/>
                </a:lnTo>
                <a:lnTo>
                  <a:pt x="7189903" y="529951"/>
                </a:lnTo>
                <a:lnTo>
                  <a:pt x="7069728" y="529912"/>
                </a:lnTo>
                <a:lnTo>
                  <a:pt x="6949550" y="529870"/>
                </a:lnTo>
                <a:lnTo>
                  <a:pt x="6829441" y="529831"/>
                </a:lnTo>
                <a:lnTo>
                  <a:pt x="6709461" y="529800"/>
                </a:lnTo>
                <a:lnTo>
                  <a:pt x="6589654" y="529781"/>
                </a:lnTo>
                <a:lnTo>
                  <a:pt x="6470041" y="529779"/>
                </a:lnTo>
                <a:lnTo>
                  <a:pt x="6350625" y="529796"/>
                </a:lnTo>
                <a:lnTo>
                  <a:pt x="6231383" y="529832"/>
                </a:lnTo>
                <a:lnTo>
                  <a:pt x="6112277" y="529886"/>
                </a:lnTo>
                <a:lnTo>
                  <a:pt x="5993251" y="529954"/>
                </a:lnTo>
                <a:lnTo>
                  <a:pt x="5874241" y="530030"/>
                </a:lnTo>
                <a:lnTo>
                  <a:pt x="5755180" y="530110"/>
                </a:lnTo>
                <a:lnTo>
                  <a:pt x="5636003" y="530183"/>
                </a:lnTo>
                <a:lnTo>
                  <a:pt x="5516655" y="530242"/>
                </a:lnTo>
                <a:lnTo>
                  <a:pt x="5397095" y="530277"/>
                </a:lnTo>
                <a:lnTo>
                  <a:pt x="5277299" y="530280"/>
                </a:lnTo>
                <a:lnTo>
                  <a:pt x="5157263" y="530242"/>
                </a:lnTo>
                <a:lnTo>
                  <a:pt x="5037004" y="530157"/>
                </a:lnTo>
                <a:lnTo>
                  <a:pt x="4916554" y="530018"/>
                </a:lnTo>
                <a:lnTo>
                  <a:pt x="4795962" y="529820"/>
                </a:lnTo>
                <a:lnTo>
                  <a:pt x="4675287" y="529557"/>
                </a:lnTo>
                <a:lnTo>
                  <a:pt x="4554594" y="529224"/>
                </a:lnTo>
                <a:lnTo>
                  <a:pt x="4433948" y="528810"/>
                </a:lnTo>
                <a:lnTo>
                  <a:pt x="4313415" y="528300"/>
                </a:lnTo>
                <a:lnTo>
                  <a:pt x="4193060" y="527665"/>
                </a:lnTo>
                <a:lnTo>
                  <a:pt x="4072961" y="526854"/>
                </a:lnTo>
                <a:lnTo>
                  <a:pt x="3953244" y="525786"/>
                </a:lnTo>
                <a:lnTo>
                  <a:pt x="3834172" y="524363"/>
                </a:lnTo>
                <a:lnTo>
                  <a:pt x="3716257" y="522662"/>
                </a:lnTo>
                <a:lnTo>
                  <a:pt x="3599876" y="521439"/>
                </a:lnTo>
                <a:lnTo>
                  <a:pt x="3483968" y="521614"/>
                </a:lnTo>
                <a:lnTo>
                  <a:pt x="3367174" y="522595"/>
                </a:lnTo>
                <a:lnTo>
                  <a:pt x="3249535" y="523548"/>
                </a:lnTo>
                <a:lnTo>
                  <a:pt x="3131470" y="524260"/>
                </a:lnTo>
                <a:lnTo>
                  <a:pt x="3013237" y="524762"/>
                </a:lnTo>
                <a:lnTo>
                  <a:pt x="2894951" y="525116"/>
                </a:lnTo>
                <a:lnTo>
                  <a:pt x="2776649" y="525374"/>
                </a:lnTo>
                <a:lnTo>
                  <a:pt x="2658324" y="525574"/>
                </a:lnTo>
                <a:lnTo>
                  <a:pt x="2539941" y="525744"/>
                </a:lnTo>
                <a:lnTo>
                  <a:pt x="2421449" y="525904"/>
                </a:lnTo>
                <a:lnTo>
                  <a:pt x="2302785" y="526069"/>
                </a:lnTo>
                <a:lnTo>
                  <a:pt x="2183889" y="526250"/>
                </a:lnTo>
                <a:lnTo>
                  <a:pt x="2064704" y="526453"/>
                </a:lnTo>
                <a:lnTo>
                  <a:pt x="1945187" y="526679"/>
                </a:lnTo>
                <a:lnTo>
                  <a:pt x="1825312" y="526927"/>
                </a:lnTo>
                <a:lnTo>
                  <a:pt x="1705074" y="527195"/>
                </a:lnTo>
                <a:lnTo>
                  <a:pt x="1584493" y="527477"/>
                </a:lnTo>
                <a:lnTo>
                  <a:pt x="1463609" y="527764"/>
                </a:lnTo>
                <a:lnTo>
                  <a:pt x="1342484" y="528049"/>
                </a:lnTo>
                <a:lnTo>
                  <a:pt x="1221197" y="528324"/>
                </a:lnTo>
                <a:lnTo>
                  <a:pt x="1099837" y="528580"/>
                </a:lnTo>
                <a:lnTo>
                  <a:pt x="978499" y="528811"/>
                </a:lnTo>
                <a:lnTo>
                  <a:pt x="857274" y="529011"/>
                </a:lnTo>
                <a:lnTo>
                  <a:pt x="736244" y="529176"/>
                </a:lnTo>
                <a:lnTo>
                  <a:pt x="615475" y="529304"/>
                </a:lnTo>
                <a:lnTo>
                  <a:pt x="495015" y="529397"/>
                </a:lnTo>
                <a:lnTo>
                  <a:pt x="374886" y="529455"/>
                </a:lnTo>
                <a:lnTo>
                  <a:pt x="255089" y="529483"/>
                </a:lnTo>
                <a:lnTo>
                  <a:pt x="135599" y="529486"/>
                </a:lnTo>
                <a:lnTo>
                  <a:pt x="16371" y="529469"/>
                </a:lnTo>
                <a:lnTo>
                  <a:pt x="16639" y="529449"/>
                </a:lnTo>
                <a:lnTo>
                  <a:pt x="14671" y="529286"/>
                </a:lnTo>
                <a:lnTo>
                  <a:pt x="12794" y="528854"/>
                </a:lnTo>
                <a:lnTo>
                  <a:pt x="10968" y="528162"/>
                </a:lnTo>
                <a:lnTo>
                  <a:pt x="9159" y="527225"/>
                </a:lnTo>
                <a:lnTo>
                  <a:pt x="7350" y="526056"/>
                </a:lnTo>
                <a:lnTo>
                  <a:pt x="5537" y="524673"/>
                </a:lnTo>
                <a:lnTo>
                  <a:pt x="3732" y="523093"/>
                </a:lnTo>
                <a:lnTo>
                  <a:pt x="1968" y="521335"/>
                </a:lnTo>
                <a:lnTo>
                  <a:pt x="288" y="519420"/>
                </a:lnTo>
                <a:lnTo>
                  <a:pt x="-1252" y="517368"/>
                </a:lnTo>
                <a:lnTo>
                  <a:pt x="-2592" y="515204"/>
                </a:lnTo>
                <a:lnTo>
                  <a:pt x="-3673" y="512950"/>
                </a:lnTo>
                <a:lnTo>
                  <a:pt x="-4439" y="510632"/>
                </a:lnTo>
                <a:lnTo>
                  <a:pt x="-4847" y="508278"/>
                </a:lnTo>
                <a:lnTo>
                  <a:pt x="-5003" y="508289"/>
                </a:lnTo>
                <a:lnTo>
                  <a:pt x="-5032" y="496104"/>
                </a:lnTo>
                <a:lnTo>
                  <a:pt x="-4936" y="483912"/>
                </a:lnTo>
                <a:lnTo>
                  <a:pt x="-4738" y="471714"/>
                </a:lnTo>
                <a:lnTo>
                  <a:pt x="-4472" y="459514"/>
                </a:lnTo>
                <a:lnTo>
                  <a:pt x="-4183" y="447314"/>
                </a:lnTo>
                <a:lnTo>
                  <a:pt x="-3920" y="435118"/>
                </a:lnTo>
                <a:lnTo>
                  <a:pt x="-3732" y="422927"/>
                </a:lnTo>
                <a:lnTo>
                  <a:pt x="-3662" y="410742"/>
                </a:lnTo>
                <a:lnTo>
                  <a:pt x="-3742" y="398563"/>
                </a:lnTo>
                <a:lnTo>
                  <a:pt x="-3989" y="386389"/>
                </a:lnTo>
                <a:lnTo>
                  <a:pt x="-4402" y="374218"/>
                </a:lnTo>
                <a:lnTo>
                  <a:pt x="-4961" y="362049"/>
                </a:lnTo>
                <a:lnTo>
                  <a:pt x="-5631" y="349878"/>
                </a:lnTo>
                <a:lnTo>
                  <a:pt x="-6359" y="337704"/>
                </a:lnTo>
                <a:lnTo>
                  <a:pt x="-7085" y="325525"/>
                </a:lnTo>
                <a:lnTo>
                  <a:pt x="-7741" y="313340"/>
                </a:lnTo>
                <a:lnTo>
                  <a:pt x="-8262" y="301150"/>
                </a:lnTo>
                <a:lnTo>
                  <a:pt x="-8590" y="288954"/>
                </a:lnTo>
                <a:lnTo>
                  <a:pt x="-8679" y="276756"/>
                </a:lnTo>
                <a:lnTo>
                  <a:pt x="-8501" y="264557"/>
                </a:lnTo>
                <a:lnTo>
                  <a:pt x="-8050" y="252360"/>
                </a:lnTo>
                <a:lnTo>
                  <a:pt x="-7339" y="240168"/>
                </a:lnTo>
                <a:lnTo>
                  <a:pt x="-6406" y="227983"/>
                </a:lnTo>
                <a:lnTo>
                  <a:pt x="-5303" y="215807"/>
                </a:lnTo>
                <a:lnTo>
                  <a:pt x="-4101" y="203639"/>
                </a:lnTo>
                <a:lnTo>
                  <a:pt x="-2875" y="191481"/>
                </a:lnTo>
                <a:lnTo>
                  <a:pt x="-1705" y="179329"/>
                </a:lnTo>
                <a:lnTo>
                  <a:pt x="-666" y="167182"/>
                </a:lnTo>
                <a:lnTo>
                  <a:pt x="179" y="155035"/>
                </a:lnTo>
                <a:lnTo>
                  <a:pt x="785" y="142887"/>
                </a:lnTo>
                <a:lnTo>
                  <a:pt x="1125" y="130732"/>
                </a:lnTo>
                <a:lnTo>
                  <a:pt x="1196" y="118569"/>
                </a:lnTo>
                <a:lnTo>
                  <a:pt x="1020" y="106396"/>
                </a:lnTo>
                <a:lnTo>
                  <a:pt x="636" y="94212"/>
                </a:lnTo>
                <a:lnTo>
                  <a:pt x="104" y="82017"/>
                </a:lnTo>
                <a:lnTo>
                  <a:pt x="-502" y="69815"/>
                </a:lnTo>
                <a:lnTo>
                  <a:pt x="-1108" y="57609"/>
                </a:lnTo>
                <a:lnTo>
                  <a:pt x="-1636" y="45403"/>
                </a:lnTo>
                <a:lnTo>
                  <a:pt x="-2013" y="33204"/>
                </a:lnTo>
                <a:lnTo>
                  <a:pt x="-2183" y="21016"/>
                </a:lnTo>
                <a:lnTo>
                  <a:pt x="-2107" y="21021"/>
                </a:lnTo>
                <a:lnTo>
                  <a:pt x="-1630" y="18673"/>
                </a:lnTo>
                <a:lnTo>
                  <a:pt x="-623" y="16374"/>
                </a:lnTo>
                <a:lnTo>
                  <a:pt x="886" y="14153"/>
                </a:lnTo>
                <a:lnTo>
                  <a:pt x="2850" y="12034"/>
                </a:lnTo>
                <a:lnTo>
                  <a:pt x="5203" y="10042"/>
                </a:lnTo>
                <a:lnTo>
                  <a:pt x="7868" y="8200"/>
                </a:lnTo>
                <a:lnTo>
                  <a:pt x="10763" y="6526"/>
                </a:lnTo>
                <a:lnTo>
                  <a:pt x="13804" y="5039"/>
                </a:lnTo>
                <a:lnTo>
                  <a:pt x="16917" y="3754"/>
                </a:lnTo>
                <a:lnTo>
                  <a:pt x="20036" y="2685"/>
                </a:lnTo>
                <a:lnTo>
                  <a:pt x="23111" y="1844"/>
                </a:lnTo>
                <a:lnTo>
                  <a:pt x="26105" y="1241"/>
                </a:lnTo>
                <a:lnTo>
                  <a:pt x="28997" y="886"/>
                </a:lnTo>
                <a:lnTo>
                  <a:pt x="31782" y="784"/>
                </a:lnTo>
                <a:close/>
              </a:path>
            </a:pathLst>
          </a:custGeom>
          <a:pattFill prst="ltUpDiag">
            <a:fgClr>
              <a:srgbClr val="F4F4F5"/>
            </a:fgClr>
            <a:bgClr>
              <a:srgbClr val="FFFFFF"/>
            </a:bgClr>
          </a:pattFill>
          <a:ln w="14224">
            <a:solidFill>
              <a:srgbClr val="9399A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ounded Rectangle 569"/>
          <p:cNvSpPr/>
          <p:nvPr/>
        </p:nvSpPr>
        <p:spPr>
          <a:xfrm>
            <a:off x="470539" y="4010741"/>
            <a:ext cx="122830" cy="113381"/>
          </a:xfrm>
          <a:prstGeom prst="roundRect">
            <a:avLst>
              <a:gd name="adj" fmla="val 20000"/>
            </a:avLst>
          </a:prstGeom>
          <a:solidFill>
            <a:srgbClr val="C5D5EE"/>
          </a:solidFill>
          <a:ln w="1270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640612" y="4006032"/>
            <a:ext cx="1228304" cy="122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omic Sans MS" panose="030F0702030302020204"/>
              </a:rPr>
              <a:t>query patch</a:t>
            </a:r>
            <a:endParaRPr sz="80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72" name="Rounded Rectangle 571"/>
          <p:cNvSpPr/>
          <p:nvPr/>
        </p:nvSpPr>
        <p:spPr>
          <a:xfrm>
            <a:off x="2215625" y="4010741"/>
            <a:ext cx="122830" cy="113381"/>
          </a:xfrm>
          <a:prstGeom prst="roundRect">
            <a:avLst>
              <a:gd name="adj" fmla="val 20000"/>
            </a:avLst>
          </a:prstGeom>
          <a:solidFill>
            <a:srgbClr val="CBBCE8"/>
          </a:solidFill>
          <a:ln w="1270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TextBox 572"/>
          <p:cNvSpPr txBox="1"/>
          <p:nvPr/>
        </p:nvSpPr>
        <p:spPr>
          <a:xfrm>
            <a:off x="2385698" y="4006032"/>
            <a:ext cx="1228304" cy="122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omic Sans MS" panose="030F0702030302020204"/>
              </a:rPr>
              <a:t>database patch</a:t>
            </a:r>
            <a:endParaRPr sz="80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75" name="TextBox 574"/>
          <p:cNvSpPr txBox="1"/>
          <p:nvPr/>
        </p:nvSpPr>
        <p:spPr>
          <a:xfrm>
            <a:off x="649736" y="4234632"/>
            <a:ext cx="1228304" cy="122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omic Sans MS" panose="030F0702030302020204"/>
              </a:rPr>
              <a:t>weight path</a:t>
            </a:r>
            <a:endParaRPr sz="80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82" name="Rectangle 581"/>
          <p:cNvSpPr/>
          <p:nvPr/>
        </p:nvSpPr>
        <p:spPr>
          <a:xfrm>
            <a:off x="3960633" y="4239341"/>
            <a:ext cx="122830" cy="113381"/>
          </a:xfrm>
          <a:prstGeom prst="rect">
            <a:avLst/>
          </a:prstGeom>
          <a:solidFill>
            <a:srgbClr val="B4B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 flipV="1">
            <a:off x="3960633" y="4239341"/>
            <a:ext cx="122830" cy="113382"/>
          </a:xfrm>
          <a:prstGeom prst="line">
            <a:avLst/>
          </a:prstGeom>
          <a:ln w="10160">
            <a:solidFill>
              <a:srgbClr val="DDB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4130706" y="4234632"/>
            <a:ext cx="1228304" cy="122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omic Sans MS" panose="030F0702030302020204"/>
              </a:rPr>
              <a:t>below τ</a:t>
            </a:r>
            <a:endParaRPr sz="80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589" name="Rounded Rectangle 588"/>
          <p:cNvSpPr/>
          <p:nvPr/>
        </p:nvSpPr>
        <p:spPr>
          <a:xfrm>
            <a:off x="2215620" y="4239341"/>
            <a:ext cx="122830" cy="113381"/>
          </a:xfrm>
          <a:prstGeom prst="roundRect">
            <a:avLst>
              <a:gd name="adj" fmla="val 20000"/>
            </a:avLst>
          </a:prstGeom>
          <a:solidFill>
            <a:srgbClr val="E2D1B2"/>
          </a:solidFill>
          <a:ln w="1270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ounded Rectangle 589"/>
          <p:cNvSpPr/>
          <p:nvPr/>
        </p:nvSpPr>
        <p:spPr>
          <a:xfrm>
            <a:off x="2357347" y="4239341"/>
            <a:ext cx="122830" cy="113381"/>
          </a:xfrm>
          <a:prstGeom prst="roundRect">
            <a:avLst>
              <a:gd name="adj" fmla="val 20000"/>
            </a:avLst>
          </a:prstGeom>
          <a:solidFill>
            <a:srgbClr val="D4BA8C"/>
          </a:solidFill>
          <a:ln w="1270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ounded Rectangle 590"/>
          <p:cNvSpPr/>
          <p:nvPr/>
        </p:nvSpPr>
        <p:spPr>
          <a:xfrm>
            <a:off x="2499075" y="4239341"/>
            <a:ext cx="122830" cy="113381"/>
          </a:xfrm>
          <a:prstGeom prst="roundRect">
            <a:avLst>
              <a:gd name="adj" fmla="val 20000"/>
            </a:avLst>
          </a:prstGeom>
          <a:solidFill>
            <a:srgbClr val="A9761A"/>
          </a:solidFill>
          <a:ln w="12700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2688045" y="4234632"/>
            <a:ext cx="1322789" cy="122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omic Sans MS" panose="030F0702030302020204"/>
              </a:rPr>
              <a:t>shade = weight w</a:t>
            </a:r>
            <a:r>
              <a:rPr sz="640" b="1" i="0" baseline="-25000">
                <a:solidFill>
                  <a:srgbClr val="1A1A1A"/>
                </a:solidFill>
                <a:latin typeface="Comic Sans MS" panose="030F0702030302020204"/>
              </a:rPr>
              <a:t>i</a:t>
            </a:r>
            <a:endParaRPr sz="800" b="1" i="0" baseline="-2500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64" name="Rounded Rectangle 363"/>
          <p:cNvSpPr/>
          <p:nvPr/>
        </p:nvSpPr>
        <p:spPr>
          <a:xfrm>
            <a:off x="8006029" y="3095244"/>
            <a:ext cx="1279702" cy="12847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4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ounded Rectangle 364"/>
          <p:cNvSpPr/>
          <p:nvPr/>
        </p:nvSpPr>
        <p:spPr>
          <a:xfrm>
            <a:off x="8291181" y="326248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ounded Rectangle 365"/>
          <p:cNvSpPr/>
          <p:nvPr/>
        </p:nvSpPr>
        <p:spPr>
          <a:xfrm>
            <a:off x="8385666" y="326248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ounded Rectangle 366"/>
          <p:cNvSpPr/>
          <p:nvPr/>
        </p:nvSpPr>
        <p:spPr>
          <a:xfrm>
            <a:off x="8480151" y="326248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ounded Rectangle 367"/>
          <p:cNvSpPr/>
          <p:nvPr/>
        </p:nvSpPr>
        <p:spPr>
          <a:xfrm>
            <a:off x="8574636" y="326248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8669120" y="326248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ounded Rectangle 369"/>
          <p:cNvSpPr/>
          <p:nvPr/>
        </p:nvSpPr>
        <p:spPr>
          <a:xfrm>
            <a:off x="8763605" y="326248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ounded Rectangle 370"/>
          <p:cNvSpPr/>
          <p:nvPr/>
        </p:nvSpPr>
        <p:spPr>
          <a:xfrm>
            <a:off x="8858090" y="326248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ounded Rectangle 371"/>
          <p:cNvSpPr/>
          <p:nvPr/>
        </p:nvSpPr>
        <p:spPr>
          <a:xfrm>
            <a:off x="8952575" y="326248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ounded Rectangle 372"/>
          <p:cNvSpPr/>
          <p:nvPr/>
        </p:nvSpPr>
        <p:spPr>
          <a:xfrm>
            <a:off x="9047060" y="326248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BBCE8"/>
          </a:solidFill>
          <a:ln w="8890">
            <a:solidFill>
              <a:srgbClr val="927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ounded Rectangle 373"/>
          <p:cNvSpPr/>
          <p:nvPr/>
        </p:nvSpPr>
        <p:spPr>
          <a:xfrm>
            <a:off x="8168350" y="338531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ounded Rectangle 374"/>
          <p:cNvSpPr/>
          <p:nvPr/>
        </p:nvSpPr>
        <p:spPr>
          <a:xfrm>
            <a:off x="8168350" y="3479800"/>
            <a:ext cx="75587" cy="75587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ounded Rectangle 375"/>
          <p:cNvSpPr/>
          <p:nvPr/>
        </p:nvSpPr>
        <p:spPr>
          <a:xfrm>
            <a:off x="8168350" y="357428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ounded Rectangle 376"/>
          <p:cNvSpPr/>
          <p:nvPr/>
        </p:nvSpPr>
        <p:spPr>
          <a:xfrm>
            <a:off x="8168350" y="3668770"/>
            <a:ext cx="75587" cy="75587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ounded Rectangle 377"/>
          <p:cNvSpPr/>
          <p:nvPr/>
        </p:nvSpPr>
        <p:spPr>
          <a:xfrm>
            <a:off x="8168350" y="3763254"/>
            <a:ext cx="75587" cy="75587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ounded Rectangle 378"/>
          <p:cNvSpPr/>
          <p:nvPr/>
        </p:nvSpPr>
        <p:spPr>
          <a:xfrm>
            <a:off x="8168350" y="3857740"/>
            <a:ext cx="75587" cy="75587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ounded Rectangle 379"/>
          <p:cNvSpPr/>
          <p:nvPr/>
        </p:nvSpPr>
        <p:spPr>
          <a:xfrm>
            <a:off x="8168350" y="3952224"/>
            <a:ext cx="75587" cy="75587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ounded Rectangle 380"/>
          <p:cNvSpPr/>
          <p:nvPr/>
        </p:nvSpPr>
        <p:spPr>
          <a:xfrm>
            <a:off x="8168350" y="4046709"/>
            <a:ext cx="75587" cy="75587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ounded Rectangle 381"/>
          <p:cNvSpPr/>
          <p:nvPr/>
        </p:nvSpPr>
        <p:spPr>
          <a:xfrm>
            <a:off x="8168350" y="4141195"/>
            <a:ext cx="75587" cy="75587"/>
          </a:xfrm>
          <a:prstGeom prst="roundRect">
            <a:avLst>
              <a:gd name="adj" fmla="val 26000"/>
            </a:avLst>
          </a:prstGeom>
          <a:solidFill>
            <a:srgbClr val="C5D5EE"/>
          </a:solidFill>
          <a:ln w="8890">
            <a:solidFill>
              <a:srgbClr val="A3B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8291181" y="3385315"/>
            <a:ext cx="75587" cy="75587"/>
          </a:xfrm>
          <a:prstGeom prst="rect">
            <a:avLst/>
          </a:prstGeom>
          <a:solidFill>
            <a:srgbClr val="BEC3CA"/>
          </a:solidFill>
          <a:ln w="5080">
            <a:solidFill>
              <a:srgbClr val="BE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8385666" y="3385315"/>
            <a:ext cx="75587" cy="75587"/>
          </a:xfrm>
          <a:prstGeom prst="rect">
            <a:avLst/>
          </a:prstGeom>
          <a:solidFill>
            <a:srgbClr val="9CA3AC"/>
          </a:solidFill>
          <a:ln w="5080">
            <a:solidFill>
              <a:srgbClr val="9CA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8480151" y="3385315"/>
            <a:ext cx="75587" cy="75587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8574636" y="3385315"/>
            <a:ext cx="75587" cy="75587"/>
          </a:xfrm>
          <a:prstGeom prst="rect">
            <a:avLst/>
          </a:prstGeom>
          <a:solidFill>
            <a:srgbClr val="AAB0B8"/>
          </a:solidFill>
          <a:ln w="5080">
            <a:solidFill>
              <a:srgbClr val="AA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8669120" y="3385315"/>
            <a:ext cx="75587" cy="75587"/>
          </a:xfrm>
          <a:prstGeom prst="rect">
            <a:avLst/>
          </a:prstGeom>
          <a:solidFill>
            <a:srgbClr val="BAC0C7"/>
          </a:solidFill>
          <a:ln w="5080">
            <a:solidFill>
              <a:srgbClr val="BA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8763605" y="3385315"/>
            <a:ext cx="75587" cy="75587"/>
          </a:xfrm>
          <a:prstGeom prst="rect">
            <a:avLst/>
          </a:prstGeom>
          <a:solidFill>
            <a:srgbClr val="969CA6"/>
          </a:solidFill>
          <a:ln w="5080">
            <a:solidFill>
              <a:srgbClr val="96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8858090" y="3385315"/>
            <a:ext cx="75587" cy="75587"/>
          </a:xfrm>
          <a:prstGeom prst="rect">
            <a:avLst/>
          </a:prstGeom>
          <a:solidFill>
            <a:srgbClr val="959BA5"/>
          </a:solidFill>
          <a:ln w="5080">
            <a:solidFill>
              <a:srgbClr val="95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8952575" y="3385315"/>
            <a:ext cx="75587" cy="75587"/>
          </a:xfrm>
          <a:prstGeom prst="rect">
            <a:avLst/>
          </a:prstGeom>
          <a:solidFill>
            <a:srgbClr val="A8ADB6"/>
          </a:solidFill>
          <a:ln w="5080">
            <a:solidFill>
              <a:srgbClr val="A8AD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9047060" y="3385315"/>
            <a:ext cx="75587" cy="75587"/>
          </a:xfrm>
          <a:prstGeom prst="rect">
            <a:avLst/>
          </a:prstGeom>
          <a:solidFill>
            <a:srgbClr val="A8AEB6"/>
          </a:solidFill>
          <a:ln w="5080">
            <a:solidFill>
              <a:srgbClr val="A8A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8291181" y="3479800"/>
            <a:ext cx="75587" cy="75587"/>
          </a:xfrm>
          <a:prstGeom prst="rect">
            <a:avLst/>
          </a:prstGeom>
          <a:solidFill>
            <a:srgbClr val="B9BEC6"/>
          </a:solidFill>
          <a:ln w="5080">
            <a:solidFill>
              <a:srgbClr val="B9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8385666" y="3479800"/>
            <a:ext cx="75587" cy="75587"/>
          </a:xfrm>
          <a:prstGeom prst="rect">
            <a:avLst/>
          </a:prstGeom>
          <a:solidFill>
            <a:srgbClr val="C8CDD4"/>
          </a:solidFill>
          <a:ln w="508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8480151" y="3479800"/>
            <a:ext cx="75587" cy="75587"/>
          </a:xfrm>
          <a:prstGeom prst="rect">
            <a:avLst/>
          </a:prstGeom>
          <a:solidFill>
            <a:srgbClr val="B1B6BE"/>
          </a:solidFill>
          <a:ln w="5080">
            <a:solidFill>
              <a:srgbClr val="B1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574636" y="3479800"/>
            <a:ext cx="75587" cy="75587"/>
          </a:xfrm>
          <a:prstGeom prst="rect">
            <a:avLst/>
          </a:prstGeom>
          <a:solidFill>
            <a:srgbClr val="A3A9B2"/>
          </a:solidFill>
          <a:ln w="5080">
            <a:solidFill>
              <a:srgbClr val="A3A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8669120" y="3479800"/>
            <a:ext cx="75587" cy="75587"/>
          </a:xfrm>
          <a:prstGeom prst="rect">
            <a:avLst/>
          </a:prstGeom>
          <a:solidFill>
            <a:srgbClr val="C4C9D0"/>
          </a:solidFill>
          <a:ln w="5080">
            <a:solidFill>
              <a:srgbClr val="C4C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8763605" y="3479800"/>
            <a:ext cx="75587" cy="75587"/>
          </a:xfrm>
          <a:prstGeom prst="rect">
            <a:avLst/>
          </a:prstGeom>
          <a:solidFill>
            <a:srgbClr val="959CA6"/>
          </a:solidFill>
          <a:ln w="5080">
            <a:solidFill>
              <a:srgbClr val="95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8858090" y="3479800"/>
            <a:ext cx="75587" cy="75587"/>
          </a:xfrm>
          <a:prstGeom prst="rect">
            <a:avLst/>
          </a:prstGeom>
          <a:solidFill>
            <a:srgbClr val="525B68"/>
          </a:solidFill>
          <a:ln w="5080">
            <a:solidFill>
              <a:srgbClr val="52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8952575" y="3479800"/>
            <a:ext cx="75587" cy="75587"/>
          </a:xfrm>
          <a:prstGeom prst="rect">
            <a:avLst/>
          </a:prstGeom>
          <a:solidFill>
            <a:srgbClr val="B9BFC6"/>
          </a:solidFill>
          <a:ln w="508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9047060" y="3479800"/>
            <a:ext cx="75587" cy="75587"/>
          </a:xfrm>
          <a:prstGeom prst="rect">
            <a:avLst/>
          </a:prstGeom>
          <a:solidFill>
            <a:srgbClr val="C6CAD2"/>
          </a:solidFill>
          <a:ln w="5080">
            <a:solidFill>
              <a:srgbClr val="C6C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8291181" y="3574285"/>
            <a:ext cx="75587" cy="75587"/>
          </a:xfrm>
          <a:prstGeom prst="rect">
            <a:avLst/>
          </a:prstGeom>
          <a:solidFill>
            <a:srgbClr val="989FA8"/>
          </a:solidFill>
          <a:ln w="5080">
            <a:solidFill>
              <a:srgbClr val="989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8385666" y="3574285"/>
            <a:ext cx="75587" cy="75587"/>
          </a:xfrm>
          <a:prstGeom prst="rect">
            <a:avLst/>
          </a:prstGeom>
          <a:solidFill>
            <a:srgbClr val="99A0A9"/>
          </a:solidFill>
          <a:ln w="5080">
            <a:solidFill>
              <a:srgbClr val="99A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8480151" y="3574285"/>
            <a:ext cx="75587" cy="75587"/>
          </a:xfrm>
          <a:prstGeom prst="rect">
            <a:avLst/>
          </a:prstGeom>
          <a:solidFill>
            <a:srgbClr val="9097A1"/>
          </a:solidFill>
          <a:ln w="5080">
            <a:solidFill>
              <a:srgbClr val="909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8574636" y="3574285"/>
            <a:ext cx="75587" cy="75587"/>
          </a:xfrm>
          <a:prstGeom prst="rect">
            <a:avLst/>
          </a:prstGeom>
          <a:solidFill>
            <a:srgbClr val="A1A7B0"/>
          </a:solidFill>
          <a:ln w="5080">
            <a:solidFill>
              <a:srgbClr val="A1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8669120" y="3574285"/>
            <a:ext cx="75587" cy="75587"/>
          </a:xfrm>
          <a:prstGeom prst="rect">
            <a:avLst/>
          </a:prstGeom>
          <a:solidFill>
            <a:srgbClr val="C6CBD2"/>
          </a:solidFill>
          <a:ln w="5080">
            <a:solidFill>
              <a:srgbClr val="C6C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8763605" y="3574285"/>
            <a:ext cx="75587" cy="75587"/>
          </a:xfrm>
          <a:prstGeom prst="rect">
            <a:avLst/>
          </a:prstGeom>
          <a:solidFill>
            <a:srgbClr val="B3B9C1"/>
          </a:solidFill>
          <a:ln w="5080">
            <a:solidFill>
              <a:srgbClr val="B3B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8858090" y="3574285"/>
            <a:ext cx="75587" cy="75587"/>
          </a:xfrm>
          <a:prstGeom prst="rect">
            <a:avLst/>
          </a:prstGeom>
          <a:solidFill>
            <a:srgbClr val="A8AEB7"/>
          </a:solidFill>
          <a:ln w="5080">
            <a:solidFill>
              <a:srgbClr val="A8A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8952575" y="3574285"/>
            <a:ext cx="75587" cy="75587"/>
          </a:xfrm>
          <a:prstGeom prst="rect">
            <a:avLst/>
          </a:prstGeom>
          <a:solidFill>
            <a:srgbClr val="C1C6CD"/>
          </a:solidFill>
          <a:ln w="5080">
            <a:solidFill>
              <a:srgbClr val="C1C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9047060" y="3574285"/>
            <a:ext cx="75587" cy="75587"/>
          </a:xfrm>
          <a:prstGeom prst="rect">
            <a:avLst/>
          </a:prstGeom>
          <a:solidFill>
            <a:srgbClr val="8B929C"/>
          </a:solidFill>
          <a:ln w="5080">
            <a:solidFill>
              <a:srgbClr val="8B9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8291181" y="3668770"/>
            <a:ext cx="75587" cy="75587"/>
          </a:xfrm>
          <a:prstGeom prst="rect">
            <a:avLst/>
          </a:prstGeom>
          <a:solidFill>
            <a:srgbClr val="B1B6BE"/>
          </a:solidFill>
          <a:ln w="5080">
            <a:solidFill>
              <a:srgbClr val="B1B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8385666" y="3668770"/>
            <a:ext cx="75587" cy="75587"/>
          </a:xfrm>
          <a:prstGeom prst="rect">
            <a:avLst/>
          </a:prstGeom>
          <a:solidFill>
            <a:srgbClr val="BEC3CB"/>
          </a:solidFill>
          <a:ln w="5080">
            <a:solidFill>
              <a:srgbClr val="BEC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8480151" y="3668770"/>
            <a:ext cx="75587" cy="75587"/>
          </a:xfrm>
          <a:prstGeom prst="rect">
            <a:avLst/>
          </a:prstGeom>
          <a:solidFill>
            <a:srgbClr val="949BA4"/>
          </a:solidFill>
          <a:ln w="5080">
            <a:solidFill>
              <a:srgbClr val="94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8574636" y="3668770"/>
            <a:ext cx="75587" cy="75587"/>
          </a:xfrm>
          <a:prstGeom prst="rect">
            <a:avLst/>
          </a:prstGeom>
          <a:solidFill>
            <a:srgbClr val="C0C5CD"/>
          </a:solidFill>
          <a:ln w="5080">
            <a:solidFill>
              <a:srgbClr val="C0C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669120" y="3668770"/>
            <a:ext cx="75587" cy="75587"/>
          </a:xfrm>
          <a:prstGeom prst="rect">
            <a:avLst/>
          </a:prstGeom>
          <a:solidFill>
            <a:srgbClr val="8D949E"/>
          </a:solidFill>
          <a:ln w="5080">
            <a:solidFill>
              <a:srgbClr val="8D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8763605" y="3668770"/>
            <a:ext cx="75587" cy="75587"/>
          </a:xfrm>
          <a:prstGeom prst="rect">
            <a:avLst/>
          </a:prstGeom>
          <a:solidFill>
            <a:srgbClr val="ABB1BA"/>
          </a:solidFill>
          <a:ln w="5080">
            <a:solidFill>
              <a:srgbClr val="ABB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8858090" y="3668770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8952575" y="3668770"/>
            <a:ext cx="75587" cy="75587"/>
          </a:xfrm>
          <a:prstGeom prst="rect">
            <a:avLst/>
          </a:prstGeom>
          <a:solidFill>
            <a:srgbClr val="B2B8C0"/>
          </a:solidFill>
          <a:ln w="5080">
            <a:solidFill>
              <a:srgbClr val="B2B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9047060" y="3668770"/>
            <a:ext cx="75587" cy="75587"/>
          </a:xfrm>
          <a:prstGeom prst="rect">
            <a:avLst/>
          </a:prstGeom>
          <a:solidFill>
            <a:srgbClr val="454F5C"/>
          </a:solidFill>
          <a:ln w="5080">
            <a:solidFill>
              <a:srgbClr val="45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8291181" y="3763254"/>
            <a:ext cx="75587" cy="75587"/>
          </a:xfrm>
          <a:prstGeom prst="rect">
            <a:avLst/>
          </a:prstGeom>
          <a:solidFill>
            <a:srgbClr val="BCC2C9"/>
          </a:solidFill>
          <a:ln w="5080">
            <a:solidFill>
              <a:srgbClr val="BC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8385666" y="3763254"/>
            <a:ext cx="75587" cy="75587"/>
          </a:xfrm>
          <a:prstGeom prst="rect">
            <a:avLst/>
          </a:prstGeom>
          <a:solidFill>
            <a:srgbClr val="C6CBD2"/>
          </a:solidFill>
          <a:ln w="5080">
            <a:solidFill>
              <a:srgbClr val="C6C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8480151" y="3763254"/>
            <a:ext cx="75587" cy="75587"/>
          </a:xfrm>
          <a:prstGeom prst="rect">
            <a:avLst/>
          </a:prstGeom>
          <a:solidFill>
            <a:srgbClr val="9198A1"/>
          </a:solidFill>
          <a:ln w="5080">
            <a:solidFill>
              <a:srgbClr val="919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8574636" y="3763254"/>
            <a:ext cx="75587" cy="75587"/>
          </a:xfrm>
          <a:prstGeom prst="rect">
            <a:avLst/>
          </a:prstGeom>
          <a:solidFill>
            <a:srgbClr val="B9BFC6"/>
          </a:solidFill>
          <a:ln w="508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8669120" y="3763254"/>
            <a:ext cx="75587" cy="75587"/>
          </a:xfrm>
          <a:prstGeom prst="rect">
            <a:avLst/>
          </a:prstGeom>
          <a:solidFill>
            <a:srgbClr val="ACB1BA"/>
          </a:solidFill>
          <a:ln w="5080">
            <a:solidFill>
              <a:srgbClr val="ACB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8763605" y="3763254"/>
            <a:ext cx="75587" cy="75587"/>
          </a:xfrm>
          <a:prstGeom prst="rect">
            <a:avLst/>
          </a:prstGeom>
          <a:solidFill>
            <a:srgbClr val="BBC0C8"/>
          </a:solidFill>
          <a:ln w="5080">
            <a:solidFill>
              <a:srgbClr val="BB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8858090" y="3763254"/>
            <a:ext cx="75587" cy="75587"/>
          </a:xfrm>
          <a:prstGeom prst="rect">
            <a:avLst/>
          </a:prstGeom>
          <a:solidFill>
            <a:srgbClr val="8A919B"/>
          </a:solidFill>
          <a:ln w="5080">
            <a:solidFill>
              <a:srgbClr val="8A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8952575" y="3763254"/>
            <a:ext cx="75587" cy="75587"/>
          </a:xfrm>
          <a:prstGeom prst="rect">
            <a:avLst/>
          </a:prstGeom>
          <a:solidFill>
            <a:srgbClr val="8F96A0"/>
          </a:solidFill>
          <a:ln w="5080">
            <a:solidFill>
              <a:srgbClr val="8F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9047060" y="3763254"/>
            <a:ext cx="75587" cy="75587"/>
          </a:xfrm>
          <a:prstGeom prst="rect">
            <a:avLst/>
          </a:prstGeom>
          <a:solidFill>
            <a:srgbClr val="989FA8"/>
          </a:solidFill>
          <a:ln w="5080">
            <a:solidFill>
              <a:srgbClr val="989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8291181" y="3857740"/>
            <a:ext cx="75587" cy="75587"/>
          </a:xfrm>
          <a:prstGeom prst="rect">
            <a:avLst/>
          </a:prstGeom>
          <a:solidFill>
            <a:srgbClr val="979EA7"/>
          </a:solidFill>
          <a:ln w="5080">
            <a:solidFill>
              <a:srgbClr val="979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8385666" y="3857740"/>
            <a:ext cx="75587" cy="75587"/>
          </a:xfrm>
          <a:prstGeom prst="rect">
            <a:avLst/>
          </a:prstGeom>
          <a:solidFill>
            <a:srgbClr val="5F6774"/>
          </a:solidFill>
          <a:ln w="5080">
            <a:solidFill>
              <a:srgbClr val="5F6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8480151" y="3857740"/>
            <a:ext cx="75587" cy="75587"/>
          </a:xfrm>
          <a:prstGeom prst="rect">
            <a:avLst/>
          </a:prstGeom>
          <a:solidFill>
            <a:srgbClr val="9AA0A9"/>
          </a:solidFill>
          <a:ln w="5080">
            <a:solidFill>
              <a:srgbClr val="9AA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8574636" y="3857740"/>
            <a:ext cx="75587" cy="75587"/>
          </a:xfrm>
          <a:prstGeom prst="rect">
            <a:avLst/>
          </a:prstGeom>
          <a:solidFill>
            <a:srgbClr val="C0C5CD"/>
          </a:solidFill>
          <a:ln w="5080">
            <a:solidFill>
              <a:srgbClr val="C0C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8669120" y="3857740"/>
            <a:ext cx="75587" cy="75587"/>
          </a:xfrm>
          <a:prstGeom prst="rect">
            <a:avLst/>
          </a:prstGeom>
          <a:solidFill>
            <a:srgbClr val="AAB0B8"/>
          </a:solidFill>
          <a:ln w="5080">
            <a:solidFill>
              <a:srgbClr val="AA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8763605" y="3857740"/>
            <a:ext cx="75587" cy="75587"/>
          </a:xfrm>
          <a:prstGeom prst="rect">
            <a:avLst/>
          </a:prstGeom>
          <a:solidFill>
            <a:srgbClr val="939AA4"/>
          </a:solidFill>
          <a:ln w="5080">
            <a:solidFill>
              <a:srgbClr val="939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8858090" y="3857740"/>
            <a:ext cx="75587" cy="75587"/>
          </a:xfrm>
          <a:prstGeom prst="rect">
            <a:avLst/>
          </a:prstGeom>
          <a:solidFill>
            <a:srgbClr val="BBC1C8"/>
          </a:solidFill>
          <a:ln w="5080">
            <a:solidFill>
              <a:srgbClr val="BBC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8952575" y="3857740"/>
            <a:ext cx="75587" cy="75587"/>
          </a:xfrm>
          <a:prstGeom prst="rect">
            <a:avLst/>
          </a:prstGeom>
          <a:solidFill>
            <a:srgbClr val="8D949E"/>
          </a:solidFill>
          <a:ln w="5080">
            <a:solidFill>
              <a:srgbClr val="8D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9047060" y="3857740"/>
            <a:ext cx="75587" cy="75587"/>
          </a:xfrm>
          <a:prstGeom prst="rect">
            <a:avLst/>
          </a:prstGeom>
          <a:solidFill>
            <a:srgbClr val="8F96A0"/>
          </a:solidFill>
          <a:ln w="5080">
            <a:solidFill>
              <a:srgbClr val="8F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8291181" y="3952224"/>
            <a:ext cx="75587" cy="75587"/>
          </a:xfrm>
          <a:prstGeom prst="rect">
            <a:avLst/>
          </a:prstGeom>
          <a:solidFill>
            <a:srgbClr val="AEB4BC"/>
          </a:solidFill>
          <a:ln w="5080">
            <a:solidFill>
              <a:srgbClr val="AEB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8385666" y="3952224"/>
            <a:ext cx="75587" cy="75587"/>
          </a:xfrm>
          <a:prstGeom prst="rect">
            <a:avLst/>
          </a:prstGeom>
          <a:solidFill>
            <a:srgbClr val="B1B7BF"/>
          </a:solidFill>
          <a:ln w="5080">
            <a:solidFill>
              <a:srgbClr val="B1B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8480151" y="3952224"/>
            <a:ext cx="75587" cy="75587"/>
          </a:xfrm>
          <a:prstGeom prst="rect">
            <a:avLst/>
          </a:prstGeom>
          <a:solidFill>
            <a:srgbClr val="ABB1BA"/>
          </a:solidFill>
          <a:ln w="5080">
            <a:solidFill>
              <a:srgbClr val="ABB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8574636" y="3952224"/>
            <a:ext cx="75587" cy="75587"/>
          </a:xfrm>
          <a:prstGeom prst="rect">
            <a:avLst/>
          </a:prstGeom>
          <a:solidFill>
            <a:srgbClr val="B0B5BD"/>
          </a:solidFill>
          <a:ln w="5080">
            <a:solidFill>
              <a:srgbClr val="B0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8669120" y="3952224"/>
            <a:ext cx="75587" cy="75587"/>
          </a:xfrm>
          <a:prstGeom prst="rect">
            <a:avLst/>
          </a:prstGeom>
          <a:solidFill>
            <a:srgbClr val="89909A"/>
          </a:solidFill>
          <a:ln w="5080">
            <a:solidFill>
              <a:srgbClr val="899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8763605" y="3952224"/>
            <a:ext cx="75587" cy="75587"/>
          </a:xfrm>
          <a:prstGeom prst="rect">
            <a:avLst/>
          </a:prstGeom>
          <a:solidFill>
            <a:srgbClr val="78808B"/>
          </a:solidFill>
          <a:ln w="5080">
            <a:solidFill>
              <a:srgbClr val="788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8858090" y="3952224"/>
            <a:ext cx="75587" cy="75587"/>
          </a:xfrm>
          <a:prstGeom prst="rect">
            <a:avLst/>
          </a:prstGeom>
          <a:solidFill>
            <a:srgbClr val="C7CBD2"/>
          </a:solidFill>
          <a:ln w="5080">
            <a:solidFill>
              <a:srgbClr val="C7C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8952575" y="3952224"/>
            <a:ext cx="75587" cy="75587"/>
          </a:xfrm>
          <a:prstGeom prst="rect">
            <a:avLst/>
          </a:prstGeom>
          <a:solidFill>
            <a:srgbClr val="C2C7CF"/>
          </a:solidFill>
          <a:ln w="5080">
            <a:solidFill>
              <a:srgbClr val="C2C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9047060" y="3952224"/>
            <a:ext cx="75587" cy="75587"/>
          </a:xfrm>
          <a:prstGeom prst="rect">
            <a:avLst/>
          </a:prstGeom>
          <a:solidFill>
            <a:srgbClr val="9AA1AA"/>
          </a:solidFill>
          <a:ln w="5080">
            <a:solidFill>
              <a:srgbClr val="9A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8291181" y="4046709"/>
            <a:ext cx="75587" cy="75587"/>
          </a:xfrm>
          <a:prstGeom prst="rect">
            <a:avLst/>
          </a:prstGeom>
          <a:solidFill>
            <a:srgbClr val="89909A"/>
          </a:solidFill>
          <a:ln w="5080">
            <a:solidFill>
              <a:srgbClr val="899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8385666" y="4046709"/>
            <a:ext cx="75587" cy="75587"/>
          </a:xfrm>
          <a:prstGeom prst="rect">
            <a:avLst/>
          </a:prstGeom>
          <a:solidFill>
            <a:srgbClr val="A9AEB7"/>
          </a:solidFill>
          <a:ln w="5080">
            <a:solidFill>
              <a:srgbClr val="A9A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8480151" y="4046709"/>
            <a:ext cx="75587" cy="75587"/>
          </a:xfrm>
          <a:prstGeom prst="rect">
            <a:avLst/>
          </a:prstGeom>
          <a:solidFill>
            <a:srgbClr val="A9AFB7"/>
          </a:solidFill>
          <a:ln w="5080">
            <a:solidFill>
              <a:srgbClr val="A9A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8574636" y="4046709"/>
            <a:ext cx="75587" cy="75587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8669120" y="4046709"/>
            <a:ext cx="75587" cy="75587"/>
          </a:xfrm>
          <a:prstGeom prst="rect">
            <a:avLst/>
          </a:prstGeom>
          <a:solidFill>
            <a:srgbClr val="989FA8"/>
          </a:solidFill>
          <a:ln w="5080">
            <a:solidFill>
              <a:srgbClr val="989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8763605" y="4046709"/>
            <a:ext cx="75587" cy="75587"/>
          </a:xfrm>
          <a:prstGeom prst="rect">
            <a:avLst/>
          </a:prstGeom>
          <a:solidFill>
            <a:srgbClr val="BABFC7"/>
          </a:solidFill>
          <a:ln w="5080">
            <a:solidFill>
              <a:srgbClr val="BAB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8858090" y="4046709"/>
            <a:ext cx="75587" cy="75587"/>
          </a:xfrm>
          <a:prstGeom prst="rect">
            <a:avLst/>
          </a:prstGeom>
          <a:solidFill>
            <a:srgbClr val="A1A8B0"/>
          </a:solidFill>
          <a:ln w="5080">
            <a:solidFill>
              <a:srgbClr val="A1A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8952575" y="4046709"/>
            <a:ext cx="75587" cy="75587"/>
          </a:xfrm>
          <a:prstGeom prst="rect">
            <a:avLst/>
          </a:prstGeom>
          <a:solidFill>
            <a:srgbClr val="4C5562"/>
          </a:solidFill>
          <a:ln w="5080">
            <a:solidFill>
              <a:srgbClr val="4C5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9047060" y="4046709"/>
            <a:ext cx="75587" cy="75587"/>
          </a:xfrm>
          <a:prstGeom prst="rect">
            <a:avLst/>
          </a:prstGeom>
          <a:solidFill>
            <a:srgbClr val="A0A7B0"/>
          </a:solidFill>
          <a:ln w="5080">
            <a:solidFill>
              <a:srgbClr val="A0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8291181" y="4141195"/>
            <a:ext cx="75587" cy="75587"/>
          </a:xfrm>
          <a:prstGeom prst="rect">
            <a:avLst/>
          </a:prstGeom>
          <a:solidFill>
            <a:srgbClr val="BDC2C9"/>
          </a:solidFill>
          <a:ln w="5080">
            <a:solidFill>
              <a:srgbClr val="BD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8385666" y="4141195"/>
            <a:ext cx="75587" cy="75587"/>
          </a:xfrm>
          <a:prstGeom prst="rect">
            <a:avLst/>
          </a:prstGeom>
          <a:solidFill>
            <a:srgbClr val="BDC3CA"/>
          </a:solidFill>
          <a:ln w="5080">
            <a:solidFill>
              <a:srgbClr val="BD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8480151" y="4141195"/>
            <a:ext cx="75587" cy="75587"/>
          </a:xfrm>
          <a:prstGeom prst="rect">
            <a:avLst/>
          </a:prstGeom>
          <a:solidFill>
            <a:srgbClr val="B2B8C0"/>
          </a:solidFill>
          <a:ln w="5080">
            <a:solidFill>
              <a:srgbClr val="B2B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8574636" y="4141195"/>
            <a:ext cx="75587" cy="75587"/>
          </a:xfrm>
          <a:prstGeom prst="rect">
            <a:avLst/>
          </a:prstGeom>
          <a:solidFill>
            <a:srgbClr val="B2B7C0"/>
          </a:solidFill>
          <a:ln w="5080">
            <a:solidFill>
              <a:srgbClr val="B2B7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8669120" y="4141195"/>
            <a:ext cx="75587" cy="75587"/>
          </a:xfrm>
          <a:prstGeom prst="rect">
            <a:avLst/>
          </a:prstGeom>
          <a:solidFill>
            <a:srgbClr val="B2B8C0"/>
          </a:solidFill>
          <a:ln w="5080">
            <a:solidFill>
              <a:srgbClr val="B2B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8763605" y="4141195"/>
            <a:ext cx="75587" cy="75587"/>
          </a:xfrm>
          <a:prstGeom prst="rect">
            <a:avLst/>
          </a:prstGeom>
          <a:solidFill>
            <a:srgbClr val="A2A8B1"/>
          </a:solidFill>
          <a:ln w="5080">
            <a:solidFill>
              <a:srgbClr val="A2A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8858090" y="4141195"/>
            <a:ext cx="75587" cy="75587"/>
          </a:xfrm>
          <a:prstGeom prst="rect">
            <a:avLst/>
          </a:prstGeom>
          <a:solidFill>
            <a:srgbClr val="B5BAC2"/>
          </a:solidFill>
          <a:ln w="5080">
            <a:solidFill>
              <a:srgbClr val="B5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8952575" y="4141195"/>
            <a:ext cx="75587" cy="75587"/>
          </a:xfrm>
          <a:prstGeom prst="rect">
            <a:avLst/>
          </a:prstGeom>
          <a:solidFill>
            <a:srgbClr val="C2C7CE"/>
          </a:solidFill>
          <a:ln w="5080">
            <a:solidFill>
              <a:srgbClr val="C2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9047060" y="4141195"/>
            <a:ext cx="75587" cy="75587"/>
          </a:xfrm>
          <a:prstGeom prst="rect">
            <a:avLst/>
          </a:prstGeom>
          <a:solidFill>
            <a:srgbClr val="C4C9D0"/>
          </a:solidFill>
          <a:ln w="5080">
            <a:solidFill>
              <a:srgbClr val="C4C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ounded Rectangle 463"/>
          <p:cNvSpPr/>
          <p:nvPr/>
        </p:nvSpPr>
        <p:spPr>
          <a:xfrm>
            <a:off x="8465978" y="3371142"/>
            <a:ext cx="103933" cy="103933"/>
          </a:xfrm>
          <a:prstGeom prst="roundRect">
            <a:avLst>
              <a:gd name="adj" fmla="val 18000"/>
            </a:avLst>
          </a:prstGeom>
          <a:noFill/>
          <a:ln w="17526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ounded Rectangle 464"/>
          <p:cNvSpPr/>
          <p:nvPr/>
        </p:nvSpPr>
        <p:spPr>
          <a:xfrm>
            <a:off x="8843918" y="3465627"/>
            <a:ext cx="103933" cy="103933"/>
          </a:xfrm>
          <a:prstGeom prst="roundRect">
            <a:avLst>
              <a:gd name="adj" fmla="val 18000"/>
            </a:avLst>
          </a:prstGeom>
          <a:noFill/>
          <a:ln w="17526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ounded Rectangle 465"/>
          <p:cNvSpPr/>
          <p:nvPr/>
        </p:nvSpPr>
        <p:spPr>
          <a:xfrm>
            <a:off x="8277008" y="3560112"/>
            <a:ext cx="103933" cy="103933"/>
          </a:xfrm>
          <a:prstGeom prst="roundRect">
            <a:avLst>
              <a:gd name="adj" fmla="val 18000"/>
            </a:avLst>
          </a:prstGeom>
          <a:noFill/>
          <a:ln w="17526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ounded Rectangle 466"/>
          <p:cNvSpPr/>
          <p:nvPr/>
        </p:nvSpPr>
        <p:spPr>
          <a:xfrm>
            <a:off x="9032888" y="3654597"/>
            <a:ext cx="103933" cy="103933"/>
          </a:xfrm>
          <a:prstGeom prst="roundRect">
            <a:avLst>
              <a:gd name="adj" fmla="val 18000"/>
            </a:avLst>
          </a:prstGeom>
          <a:noFill/>
          <a:ln w="17526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ounded Rectangle 467"/>
          <p:cNvSpPr/>
          <p:nvPr/>
        </p:nvSpPr>
        <p:spPr>
          <a:xfrm>
            <a:off x="8654948" y="3749082"/>
            <a:ext cx="103933" cy="103933"/>
          </a:xfrm>
          <a:prstGeom prst="roundRect">
            <a:avLst>
              <a:gd name="adj" fmla="val 18000"/>
            </a:avLst>
          </a:prstGeom>
          <a:noFill/>
          <a:ln w="17526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ounded Rectangle 468"/>
          <p:cNvSpPr/>
          <p:nvPr/>
        </p:nvSpPr>
        <p:spPr>
          <a:xfrm>
            <a:off x="8371493" y="3843566"/>
            <a:ext cx="103933" cy="103933"/>
          </a:xfrm>
          <a:prstGeom prst="roundRect">
            <a:avLst>
              <a:gd name="adj" fmla="val 18000"/>
            </a:avLst>
          </a:prstGeom>
          <a:noFill/>
          <a:ln w="17526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ounded Rectangle 469"/>
          <p:cNvSpPr/>
          <p:nvPr/>
        </p:nvSpPr>
        <p:spPr>
          <a:xfrm>
            <a:off x="8749433" y="3938052"/>
            <a:ext cx="103933" cy="103933"/>
          </a:xfrm>
          <a:prstGeom prst="roundRect">
            <a:avLst>
              <a:gd name="adj" fmla="val 18000"/>
            </a:avLst>
          </a:prstGeom>
          <a:noFill/>
          <a:ln w="17526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ounded Rectangle 470"/>
          <p:cNvSpPr/>
          <p:nvPr/>
        </p:nvSpPr>
        <p:spPr>
          <a:xfrm>
            <a:off x="8938403" y="4032536"/>
            <a:ext cx="103933" cy="103933"/>
          </a:xfrm>
          <a:prstGeom prst="roundRect">
            <a:avLst>
              <a:gd name="adj" fmla="val 18000"/>
            </a:avLst>
          </a:prstGeom>
          <a:noFill/>
          <a:ln w="17526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ounded Rectangle 471"/>
          <p:cNvSpPr/>
          <p:nvPr/>
        </p:nvSpPr>
        <p:spPr>
          <a:xfrm>
            <a:off x="8560463" y="4127021"/>
            <a:ext cx="103933" cy="103933"/>
          </a:xfrm>
          <a:prstGeom prst="roundRect">
            <a:avLst>
              <a:gd name="adj" fmla="val 18000"/>
            </a:avLst>
          </a:prstGeom>
          <a:noFill/>
          <a:ln w="17526">
            <a:solidFill>
              <a:srgbClr val="C45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TextBox 472"/>
          <p:cNvSpPr txBox="1"/>
          <p:nvPr/>
        </p:nvSpPr>
        <p:spPr>
          <a:xfrm>
            <a:off x="7977682" y="3666744"/>
            <a:ext cx="245660" cy="1322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75" b="1" i="0">
                <a:solidFill>
                  <a:srgbClr val="A3BBDF"/>
                </a:solidFill>
                <a:latin typeface="Comic Sans MS" panose="030F0702030302020204"/>
              </a:rPr>
              <a:t>Q</a:t>
            </a:r>
            <a:endParaRPr sz="940" b="1" i="0">
              <a:solidFill>
                <a:srgbClr val="A3BBDF"/>
              </a:solidFill>
              <a:latin typeface="Comic Sans MS" panose="030F0702030302020204"/>
            </a:endParaRPr>
          </a:p>
        </p:txBody>
      </p:sp>
      <p:sp>
        <p:nvSpPr>
          <p:cNvPr id="474" name="TextBox 473"/>
          <p:cNvSpPr txBox="1"/>
          <p:nvPr/>
        </p:nvSpPr>
        <p:spPr>
          <a:xfrm>
            <a:off x="8593533" y="3122676"/>
            <a:ext cx="245660" cy="1322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75" b="1" i="0">
                <a:solidFill>
                  <a:srgbClr val="927CC0"/>
                </a:solidFill>
                <a:latin typeface="Comic Sans MS" panose="030F0702030302020204"/>
              </a:rPr>
              <a:t>D</a:t>
            </a:r>
            <a:r>
              <a:rPr sz="700" b="1" i="0" baseline="-25000">
                <a:solidFill>
                  <a:srgbClr val="927CC0"/>
                </a:solidFill>
                <a:latin typeface="Comic Sans MS" panose="030F0702030302020204"/>
              </a:rPr>
              <a:t>ℓ</a:t>
            </a:r>
            <a:endParaRPr sz="940" b="1" i="0">
              <a:solidFill>
                <a:srgbClr val="927CC0"/>
              </a:solidFill>
              <a:latin typeface="Comic Sans MS" panose="030F0702030302020204"/>
            </a:endParaRPr>
          </a:p>
        </p:txBody>
      </p:sp>
      <p:sp>
        <p:nvSpPr>
          <p:cNvPr id="475" name="TextBox 474"/>
          <p:cNvSpPr txBox="1"/>
          <p:nvPr/>
        </p:nvSpPr>
        <p:spPr>
          <a:xfrm>
            <a:off x="8104478" y="2971673"/>
            <a:ext cx="1051560" cy="122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S(Q, D</a:t>
            </a:r>
            <a:r>
              <a:rPr sz="700" b="1" i="1" baseline="-25000">
                <a:solidFill>
                  <a:srgbClr val="1A1A1A"/>
                </a:solidFill>
                <a:latin typeface="Comic Sans MS" panose="030F0702030302020204"/>
              </a:rPr>
              <a:t>ℓ</a:t>
            </a:r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) = Q D</a:t>
            </a:r>
            <a:r>
              <a:rPr sz="700" b="1" i="1" baseline="-25000">
                <a:solidFill>
                  <a:srgbClr val="1A1A1A"/>
                </a:solidFill>
                <a:latin typeface="Comic Sans MS" panose="030F0702030302020204"/>
              </a:rPr>
              <a:t>ℓ</a:t>
            </a:r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ᵀ</a:t>
            </a:r>
            <a:endParaRPr sz="875" b="1" i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593" name="Rounded Rectangle 592"/>
          <p:cNvSpPr/>
          <p:nvPr/>
        </p:nvSpPr>
        <p:spPr>
          <a:xfrm>
            <a:off x="8819768" y="898489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ounded Rectangle 593"/>
          <p:cNvSpPr/>
          <p:nvPr/>
        </p:nvSpPr>
        <p:spPr>
          <a:xfrm>
            <a:off x="8858858" y="898489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ounded Rectangle 594"/>
          <p:cNvSpPr/>
          <p:nvPr/>
        </p:nvSpPr>
        <p:spPr>
          <a:xfrm>
            <a:off x="8897948" y="898489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ounded Rectangle 595"/>
          <p:cNvSpPr/>
          <p:nvPr/>
        </p:nvSpPr>
        <p:spPr>
          <a:xfrm>
            <a:off x="8937037" y="898489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ounded Rectangle 596"/>
          <p:cNvSpPr/>
          <p:nvPr/>
        </p:nvSpPr>
        <p:spPr>
          <a:xfrm>
            <a:off x="8976127" y="898489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ounded Rectangle 597"/>
          <p:cNvSpPr/>
          <p:nvPr/>
        </p:nvSpPr>
        <p:spPr>
          <a:xfrm>
            <a:off x="9015217" y="898489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ounded Rectangle 598"/>
          <p:cNvSpPr/>
          <p:nvPr/>
        </p:nvSpPr>
        <p:spPr>
          <a:xfrm>
            <a:off x="8780679" y="937579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ounded Rectangle 599"/>
          <p:cNvSpPr/>
          <p:nvPr/>
        </p:nvSpPr>
        <p:spPr>
          <a:xfrm>
            <a:off x="8780679" y="976668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ounded Rectangle 600"/>
          <p:cNvSpPr/>
          <p:nvPr/>
        </p:nvSpPr>
        <p:spPr>
          <a:xfrm>
            <a:off x="8780679" y="1015758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ounded Rectangle 601"/>
          <p:cNvSpPr/>
          <p:nvPr/>
        </p:nvSpPr>
        <p:spPr>
          <a:xfrm>
            <a:off x="8780679" y="1054848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ounded Rectangle 602"/>
          <p:cNvSpPr/>
          <p:nvPr/>
        </p:nvSpPr>
        <p:spPr>
          <a:xfrm>
            <a:off x="8780679" y="1093938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ounded Rectangle 603"/>
          <p:cNvSpPr/>
          <p:nvPr/>
        </p:nvSpPr>
        <p:spPr>
          <a:xfrm>
            <a:off x="8780679" y="1133027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8819768" y="937579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8858858" y="937579"/>
            <a:ext cx="35026" cy="35026"/>
          </a:xfrm>
          <a:prstGeom prst="rect">
            <a:avLst/>
          </a:prstGeom>
          <a:solidFill>
            <a:srgbClr val="C7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8897948" y="937579"/>
            <a:ext cx="35026" cy="35026"/>
          </a:xfrm>
          <a:prstGeom prst="rect">
            <a:avLst/>
          </a:prstGeom>
          <a:solidFill>
            <a:srgbClr val="D0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8937037" y="937579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8976127" y="937579"/>
            <a:ext cx="35026" cy="35026"/>
          </a:xfrm>
          <a:prstGeom prst="rect">
            <a:avLst/>
          </a:prstGeom>
          <a:solidFill>
            <a:srgbClr val="A5A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9015217" y="937579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8819768" y="976668"/>
            <a:ext cx="35026" cy="35026"/>
          </a:xfrm>
          <a:prstGeom prst="rect">
            <a:avLst/>
          </a:prstGeom>
          <a:solidFill>
            <a:srgbClr val="C7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8858858" y="976668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8897948" y="976668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8937037" y="976668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8976127" y="976668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9015217" y="976668"/>
            <a:ext cx="35026" cy="35026"/>
          </a:xfrm>
          <a:prstGeom prst="rect">
            <a:avLst/>
          </a:prstGeom>
          <a:solidFill>
            <a:srgbClr val="C7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8819768" y="1015758"/>
            <a:ext cx="35026" cy="35026"/>
          </a:xfrm>
          <a:prstGeom prst="rect">
            <a:avLst/>
          </a:prstGeom>
          <a:solidFill>
            <a:srgbClr val="D0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8858858" y="1015758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8897948" y="1015758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8937037" y="1015758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8976127" y="1015758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9015217" y="1015758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8819768" y="1054848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8858858" y="1054848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8897948" y="1054848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8937037" y="1054848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8976127" y="1054848"/>
            <a:ext cx="35026" cy="35026"/>
          </a:xfrm>
          <a:prstGeom prst="rect">
            <a:avLst/>
          </a:prstGeom>
          <a:solidFill>
            <a:srgbClr val="D0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9015217" y="1054848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8819768" y="1093938"/>
            <a:ext cx="35026" cy="35026"/>
          </a:xfrm>
          <a:prstGeom prst="rect">
            <a:avLst/>
          </a:prstGeom>
          <a:solidFill>
            <a:srgbClr val="A5A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8858858" y="1093938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8897948" y="1093938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8937037" y="1093938"/>
            <a:ext cx="35026" cy="35026"/>
          </a:xfrm>
          <a:prstGeom prst="rect">
            <a:avLst/>
          </a:prstGeom>
          <a:solidFill>
            <a:srgbClr val="D0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8976127" y="1093938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9015217" y="1093938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8819768" y="1133027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8858858" y="1133027"/>
            <a:ext cx="35026" cy="35026"/>
          </a:xfrm>
          <a:prstGeom prst="rect">
            <a:avLst/>
          </a:prstGeom>
          <a:solidFill>
            <a:srgbClr val="C7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8897948" y="1133027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8937037" y="1133027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8976127" y="1133027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9015217" y="1133027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ounded Rectangle 642"/>
          <p:cNvSpPr/>
          <p:nvPr/>
        </p:nvSpPr>
        <p:spPr>
          <a:xfrm>
            <a:off x="8819768" y="1511137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ounded Rectangle 643"/>
          <p:cNvSpPr/>
          <p:nvPr/>
        </p:nvSpPr>
        <p:spPr>
          <a:xfrm>
            <a:off x="8858858" y="1511137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ounded Rectangle 644"/>
          <p:cNvSpPr/>
          <p:nvPr/>
        </p:nvSpPr>
        <p:spPr>
          <a:xfrm>
            <a:off x="8897948" y="1511137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ounded Rectangle 645"/>
          <p:cNvSpPr/>
          <p:nvPr/>
        </p:nvSpPr>
        <p:spPr>
          <a:xfrm>
            <a:off x="8937037" y="1511137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ounded Rectangle 646"/>
          <p:cNvSpPr/>
          <p:nvPr/>
        </p:nvSpPr>
        <p:spPr>
          <a:xfrm>
            <a:off x="8976127" y="1511137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ounded Rectangle 647"/>
          <p:cNvSpPr/>
          <p:nvPr/>
        </p:nvSpPr>
        <p:spPr>
          <a:xfrm>
            <a:off x="9015217" y="1511137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ounded Rectangle 648"/>
          <p:cNvSpPr/>
          <p:nvPr/>
        </p:nvSpPr>
        <p:spPr>
          <a:xfrm>
            <a:off x="8780679" y="1550227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ounded Rectangle 649"/>
          <p:cNvSpPr/>
          <p:nvPr/>
        </p:nvSpPr>
        <p:spPr>
          <a:xfrm>
            <a:off x="8780679" y="1589316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ounded Rectangle 650"/>
          <p:cNvSpPr/>
          <p:nvPr/>
        </p:nvSpPr>
        <p:spPr>
          <a:xfrm>
            <a:off x="8780679" y="1628406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ounded Rectangle 651"/>
          <p:cNvSpPr/>
          <p:nvPr/>
        </p:nvSpPr>
        <p:spPr>
          <a:xfrm>
            <a:off x="8780679" y="1667496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ounded Rectangle 652"/>
          <p:cNvSpPr/>
          <p:nvPr/>
        </p:nvSpPr>
        <p:spPr>
          <a:xfrm>
            <a:off x="8780679" y="1706586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ounded Rectangle 653"/>
          <p:cNvSpPr/>
          <p:nvPr/>
        </p:nvSpPr>
        <p:spPr>
          <a:xfrm>
            <a:off x="8780679" y="1745675"/>
            <a:ext cx="35026" cy="35026"/>
          </a:xfrm>
          <a:prstGeom prst="roundRect">
            <a:avLst/>
          </a:prstGeom>
          <a:solidFill>
            <a:srgbClr val="D5D9E0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8819768" y="1550227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8858858" y="1550227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8897948" y="1550227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8937037" y="1550227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8976127" y="1550227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9015217" y="1550227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8819768" y="1589316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8858858" y="1589316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8897948" y="1589316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8937037" y="1589316"/>
            <a:ext cx="35026" cy="35026"/>
          </a:xfrm>
          <a:prstGeom prst="rect">
            <a:avLst/>
          </a:prstGeom>
          <a:solidFill>
            <a:srgbClr val="D0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8976127" y="1589316"/>
            <a:ext cx="35026" cy="35026"/>
          </a:xfrm>
          <a:prstGeom prst="rect">
            <a:avLst/>
          </a:prstGeom>
          <a:solidFill>
            <a:srgbClr val="D0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9015217" y="1589316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8819768" y="1628406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8858858" y="1628406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8897948" y="1628406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8937037" y="1628406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8976127" y="1628406"/>
            <a:ext cx="35026" cy="35026"/>
          </a:xfrm>
          <a:prstGeom prst="rect">
            <a:avLst/>
          </a:prstGeom>
          <a:solidFill>
            <a:srgbClr val="A5A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9015217" y="1628406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8819768" y="1667496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8858858" y="1667496"/>
            <a:ext cx="35026" cy="35026"/>
          </a:xfrm>
          <a:prstGeom prst="rect">
            <a:avLst/>
          </a:prstGeom>
          <a:solidFill>
            <a:srgbClr val="D0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Rectangle 676"/>
          <p:cNvSpPr/>
          <p:nvPr/>
        </p:nvSpPr>
        <p:spPr>
          <a:xfrm>
            <a:off x="8897948" y="1667496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8937037" y="1667496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8976127" y="1667496"/>
            <a:ext cx="35026" cy="35026"/>
          </a:xfrm>
          <a:prstGeom prst="rect">
            <a:avLst/>
          </a:prstGeom>
          <a:solidFill>
            <a:srgbClr val="D0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9015217" y="1667496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8819768" y="1706586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8858858" y="1706586"/>
            <a:ext cx="35026" cy="35026"/>
          </a:xfrm>
          <a:prstGeom prst="rect">
            <a:avLst/>
          </a:prstGeom>
          <a:solidFill>
            <a:srgbClr val="D0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8897948" y="1706586"/>
            <a:ext cx="35026" cy="35026"/>
          </a:xfrm>
          <a:prstGeom prst="rect">
            <a:avLst/>
          </a:prstGeom>
          <a:solidFill>
            <a:srgbClr val="A5A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8937037" y="1706586"/>
            <a:ext cx="35026" cy="35026"/>
          </a:xfrm>
          <a:prstGeom prst="rect">
            <a:avLst/>
          </a:prstGeom>
          <a:solidFill>
            <a:srgbClr val="D0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8976127" y="1706586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9015217" y="1706586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8819768" y="1745675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8858858" y="1745675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Rectangle 688"/>
          <p:cNvSpPr/>
          <p:nvPr/>
        </p:nvSpPr>
        <p:spPr>
          <a:xfrm>
            <a:off x="8897948" y="1745675"/>
            <a:ext cx="35026" cy="35026"/>
          </a:xfrm>
          <a:prstGeom prst="rect">
            <a:avLst/>
          </a:prstGeom>
          <a:solidFill>
            <a:srgbClr val="A9A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8937037" y="1745675"/>
            <a:ext cx="35026" cy="35026"/>
          </a:xfrm>
          <a:prstGeom prst="rect">
            <a:avLst/>
          </a:prstGeom>
          <a:solidFill>
            <a:srgbClr val="DB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8976127" y="1745675"/>
            <a:ext cx="35026" cy="35026"/>
          </a:xfrm>
          <a:prstGeom prst="rect">
            <a:avLst/>
          </a:prstGeom>
          <a:solidFill>
            <a:srgbClr val="BC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9015217" y="1745675"/>
            <a:ext cx="35026" cy="35026"/>
          </a:xfrm>
          <a:prstGeom prst="rect">
            <a:avLst/>
          </a:prstGeom>
          <a:solidFill>
            <a:srgbClr val="3C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aw731"/>
          <p:cNvSpPr/>
          <p:nvPr/>
        </p:nvSpPr>
        <p:spPr>
          <a:xfrm>
            <a:off x="3118561" y="1903689"/>
            <a:ext cx="69352" cy="69352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aw732"/>
          <p:cNvSpPr/>
          <p:nvPr/>
        </p:nvSpPr>
        <p:spPr>
          <a:xfrm>
            <a:off x="3205227" y="1903689"/>
            <a:ext cx="69352" cy="69352"/>
          </a:xfrm>
          <a:prstGeom prst="rect">
            <a:avLst/>
          </a:prstGeom>
          <a:solidFill>
            <a:srgbClr val="BCC1C9"/>
          </a:solidFill>
          <a:ln w="5080">
            <a:solidFill>
              <a:srgbClr val="BCC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CC1C9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aw733"/>
          <p:cNvSpPr/>
          <p:nvPr/>
        </p:nvSpPr>
        <p:spPr>
          <a:xfrm>
            <a:off x="3291978" y="1903689"/>
            <a:ext cx="69352" cy="69352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aw734"/>
          <p:cNvSpPr/>
          <p:nvPr/>
        </p:nvSpPr>
        <p:spPr>
          <a:xfrm>
            <a:off x="3378644" y="1903689"/>
            <a:ext cx="69352" cy="69352"/>
          </a:xfrm>
          <a:prstGeom prst="rect">
            <a:avLst/>
          </a:prstGeom>
          <a:solidFill>
            <a:srgbClr val="79818C"/>
          </a:solidFill>
          <a:ln w="5080">
            <a:solidFill>
              <a:srgbClr val="79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7981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aw735"/>
          <p:cNvSpPr/>
          <p:nvPr/>
        </p:nvSpPr>
        <p:spPr>
          <a:xfrm>
            <a:off x="3465311" y="1903689"/>
            <a:ext cx="69352" cy="69352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aw736"/>
          <p:cNvSpPr/>
          <p:nvPr/>
        </p:nvSpPr>
        <p:spPr>
          <a:xfrm>
            <a:off x="3551977" y="1903689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aw737"/>
          <p:cNvSpPr/>
          <p:nvPr/>
        </p:nvSpPr>
        <p:spPr>
          <a:xfrm>
            <a:off x="3638728" y="1903689"/>
            <a:ext cx="69352" cy="69352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aw738"/>
          <p:cNvSpPr/>
          <p:nvPr/>
        </p:nvSpPr>
        <p:spPr>
          <a:xfrm>
            <a:off x="3725394" y="1903689"/>
            <a:ext cx="69352" cy="69352"/>
          </a:xfrm>
          <a:prstGeom prst="rect">
            <a:avLst/>
          </a:prstGeom>
          <a:solidFill>
            <a:srgbClr val="DBDFE5"/>
          </a:solidFill>
          <a:ln w="5080">
            <a:solidFill>
              <a:srgbClr val="DB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BDFE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aw739"/>
          <p:cNvSpPr/>
          <p:nvPr/>
        </p:nvSpPr>
        <p:spPr>
          <a:xfrm>
            <a:off x="3812061" y="1903689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aw740"/>
          <p:cNvSpPr/>
          <p:nvPr/>
        </p:nvSpPr>
        <p:spPr>
          <a:xfrm>
            <a:off x="3118561" y="1990439"/>
            <a:ext cx="69352" cy="69352"/>
          </a:xfrm>
          <a:prstGeom prst="rect">
            <a:avLst/>
          </a:prstGeom>
          <a:solidFill>
            <a:srgbClr val="BCC1C9"/>
          </a:solidFill>
          <a:ln w="5080">
            <a:solidFill>
              <a:srgbClr val="BCC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CC1C9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aw741"/>
          <p:cNvSpPr/>
          <p:nvPr/>
        </p:nvSpPr>
        <p:spPr>
          <a:xfrm>
            <a:off x="3205227" y="1990439"/>
            <a:ext cx="69352" cy="69352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aw742"/>
          <p:cNvSpPr/>
          <p:nvPr/>
        </p:nvSpPr>
        <p:spPr>
          <a:xfrm>
            <a:off x="3291978" y="1990439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aw743"/>
          <p:cNvSpPr/>
          <p:nvPr/>
        </p:nvSpPr>
        <p:spPr>
          <a:xfrm>
            <a:off x="3378644" y="1990439"/>
            <a:ext cx="69352" cy="69352"/>
          </a:xfrm>
          <a:prstGeom prst="rect">
            <a:avLst/>
          </a:prstGeom>
          <a:solidFill>
            <a:srgbClr val="BCC1C9"/>
          </a:solidFill>
          <a:ln w="5080">
            <a:solidFill>
              <a:srgbClr val="BCC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CC1C9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aw744"/>
          <p:cNvSpPr/>
          <p:nvPr/>
        </p:nvSpPr>
        <p:spPr>
          <a:xfrm>
            <a:off x="3465311" y="1990439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aw745"/>
          <p:cNvSpPr/>
          <p:nvPr/>
        </p:nvSpPr>
        <p:spPr>
          <a:xfrm>
            <a:off x="3551977" y="1990439"/>
            <a:ext cx="69352" cy="69352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aw746"/>
          <p:cNvSpPr/>
          <p:nvPr/>
        </p:nvSpPr>
        <p:spPr>
          <a:xfrm>
            <a:off x="3638728" y="1990439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aw747"/>
          <p:cNvSpPr/>
          <p:nvPr/>
        </p:nvSpPr>
        <p:spPr>
          <a:xfrm>
            <a:off x="3725394" y="1990439"/>
            <a:ext cx="69352" cy="69352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aw748"/>
          <p:cNvSpPr/>
          <p:nvPr/>
        </p:nvSpPr>
        <p:spPr>
          <a:xfrm>
            <a:off x="3812061" y="1990439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aw749"/>
          <p:cNvSpPr/>
          <p:nvPr/>
        </p:nvSpPr>
        <p:spPr>
          <a:xfrm>
            <a:off x="3118561" y="2077106"/>
            <a:ext cx="69352" cy="69352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aw750"/>
          <p:cNvSpPr/>
          <p:nvPr/>
        </p:nvSpPr>
        <p:spPr>
          <a:xfrm>
            <a:off x="3205227" y="2077106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aw751"/>
          <p:cNvSpPr/>
          <p:nvPr/>
        </p:nvSpPr>
        <p:spPr>
          <a:xfrm>
            <a:off x="3291978" y="2077106"/>
            <a:ext cx="69352" cy="69352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aw752"/>
          <p:cNvSpPr/>
          <p:nvPr/>
        </p:nvSpPr>
        <p:spPr>
          <a:xfrm>
            <a:off x="3378644" y="2077106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aw753"/>
          <p:cNvSpPr/>
          <p:nvPr/>
        </p:nvSpPr>
        <p:spPr>
          <a:xfrm>
            <a:off x="3465311" y="2077106"/>
            <a:ext cx="69352" cy="69352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raw754"/>
          <p:cNvSpPr/>
          <p:nvPr/>
        </p:nvSpPr>
        <p:spPr>
          <a:xfrm>
            <a:off x="3551977" y="2077106"/>
            <a:ext cx="69352" cy="69352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aw755"/>
          <p:cNvSpPr/>
          <p:nvPr/>
        </p:nvSpPr>
        <p:spPr>
          <a:xfrm>
            <a:off x="3638728" y="2077106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raw756"/>
          <p:cNvSpPr/>
          <p:nvPr/>
        </p:nvSpPr>
        <p:spPr>
          <a:xfrm>
            <a:off x="3725394" y="2077106"/>
            <a:ext cx="69352" cy="69352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raw757"/>
          <p:cNvSpPr/>
          <p:nvPr/>
        </p:nvSpPr>
        <p:spPr>
          <a:xfrm>
            <a:off x="3812061" y="2077106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raw758"/>
          <p:cNvSpPr/>
          <p:nvPr/>
        </p:nvSpPr>
        <p:spPr>
          <a:xfrm>
            <a:off x="3118561" y="2163772"/>
            <a:ext cx="69352" cy="69352"/>
          </a:xfrm>
          <a:prstGeom prst="rect">
            <a:avLst/>
          </a:prstGeom>
          <a:solidFill>
            <a:srgbClr val="79818C"/>
          </a:solidFill>
          <a:ln w="5080">
            <a:solidFill>
              <a:srgbClr val="79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7981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aw759"/>
          <p:cNvSpPr/>
          <p:nvPr/>
        </p:nvSpPr>
        <p:spPr>
          <a:xfrm>
            <a:off x="3205227" y="2163772"/>
            <a:ext cx="69352" cy="69352"/>
          </a:xfrm>
          <a:prstGeom prst="rect">
            <a:avLst/>
          </a:prstGeom>
          <a:solidFill>
            <a:srgbClr val="BCC1C9"/>
          </a:solidFill>
          <a:ln w="5080">
            <a:solidFill>
              <a:srgbClr val="BCC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CC1C9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raw760"/>
          <p:cNvSpPr/>
          <p:nvPr/>
        </p:nvSpPr>
        <p:spPr>
          <a:xfrm>
            <a:off x="3291978" y="2163772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raw761"/>
          <p:cNvSpPr/>
          <p:nvPr/>
        </p:nvSpPr>
        <p:spPr>
          <a:xfrm>
            <a:off x="3378644" y="2163772"/>
            <a:ext cx="69352" cy="69352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raw762"/>
          <p:cNvSpPr/>
          <p:nvPr/>
        </p:nvSpPr>
        <p:spPr>
          <a:xfrm>
            <a:off x="3465311" y="2163772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aw763"/>
          <p:cNvSpPr/>
          <p:nvPr/>
        </p:nvSpPr>
        <p:spPr>
          <a:xfrm>
            <a:off x="3551977" y="2163772"/>
            <a:ext cx="69352" cy="69352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aw764"/>
          <p:cNvSpPr/>
          <p:nvPr/>
        </p:nvSpPr>
        <p:spPr>
          <a:xfrm>
            <a:off x="3638728" y="2163772"/>
            <a:ext cx="69352" cy="69352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raw765"/>
          <p:cNvSpPr/>
          <p:nvPr/>
        </p:nvSpPr>
        <p:spPr>
          <a:xfrm>
            <a:off x="3725394" y="2163772"/>
            <a:ext cx="69352" cy="69352"/>
          </a:xfrm>
          <a:prstGeom prst="rect">
            <a:avLst/>
          </a:prstGeom>
          <a:solidFill>
            <a:srgbClr val="DBDFE5"/>
          </a:solidFill>
          <a:ln w="5080">
            <a:solidFill>
              <a:srgbClr val="DB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BDFE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raw766"/>
          <p:cNvSpPr/>
          <p:nvPr/>
        </p:nvSpPr>
        <p:spPr>
          <a:xfrm>
            <a:off x="3812061" y="2163772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aw767"/>
          <p:cNvSpPr/>
          <p:nvPr/>
        </p:nvSpPr>
        <p:spPr>
          <a:xfrm>
            <a:off x="3118561" y="2250523"/>
            <a:ext cx="69352" cy="69352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aw768"/>
          <p:cNvSpPr/>
          <p:nvPr/>
        </p:nvSpPr>
        <p:spPr>
          <a:xfrm>
            <a:off x="3205227" y="2250523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raw769"/>
          <p:cNvSpPr/>
          <p:nvPr/>
        </p:nvSpPr>
        <p:spPr>
          <a:xfrm>
            <a:off x="3291978" y="2250523"/>
            <a:ext cx="69352" cy="69352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aw770"/>
          <p:cNvSpPr/>
          <p:nvPr/>
        </p:nvSpPr>
        <p:spPr>
          <a:xfrm>
            <a:off x="3378644" y="2250523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aw771"/>
          <p:cNvSpPr/>
          <p:nvPr/>
        </p:nvSpPr>
        <p:spPr>
          <a:xfrm>
            <a:off x="3465311" y="2250523"/>
            <a:ext cx="69352" cy="69352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aw772"/>
          <p:cNvSpPr/>
          <p:nvPr/>
        </p:nvSpPr>
        <p:spPr>
          <a:xfrm>
            <a:off x="3551977" y="2250523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aw773"/>
          <p:cNvSpPr/>
          <p:nvPr/>
        </p:nvSpPr>
        <p:spPr>
          <a:xfrm>
            <a:off x="3638728" y="2250523"/>
            <a:ext cx="69352" cy="69352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aw774"/>
          <p:cNvSpPr/>
          <p:nvPr/>
        </p:nvSpPr>
        <p:spPr>
          <a:xfrm>
            <a:off x="3725394" y="2250523"/>
            <a:ext cx="69352" cy="69352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aw775"/>
          <p:cNvSpPr/>
          <p:nvPr/>
        </p:nvSpPr>
        <p:spPr>
          <a:xfrm>
            <a:off x="3812061" y="2250523"/>
            <a:ext cx="69352" cy="69352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aw776"/>
          <p:cNvSpPr/>
          <p:nvPr/>
        </p:nvSpPr>
        <p:spPr>
          <a:xfrm>
            <a:off x="3118561" y="2337189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aw777"/>
          <p:cNvSpPr/>
          <p:nvPr/>
        </p:nvSpPr>
        <p:spPr>
          <a:xfrm>
            <a:off x="3205227" y="2337189"/>
            <a:ext cx="69352" cy="69352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aw778"/>
          <p:cNvSpPr/>
          <p:nvPr/>
        </p:nvSpPr>
        <p:spPr>
          <a:xfrm>
            <a:off x="3291978" y="2337189"/>
            <a:ext cx="69352" cy="69352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aw779"/>
          <p:cNvSpPr/>
          <p:nvPr/>
        </p:nvSpPr>
        <p:spPr>
          <a:xfrm>
            <a:off x="3378644" y="2337189"/>
            <a:ext cx="69352" cy="69352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aw780"/>
          <p:cNvSpPr/>
          <p:nvPr/>
        </p:nvSpPr>
        <p:spPr>
          <a:xfrm>
            <a:off x="3465311" y="2337189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aw781"/>
          <p:cNvSpPr/>
          <p:nvPr/>
        </p:nvSpPr>
        <p:spPr>
          <a:xfrm>
            <a:off x="3551977" y="2337189"/>
            <a:ext cx="69352" cy="69352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aw782"/>
          <p:cNvSpPr/>
          <p:nvPr/>
        </p:nvSpPr>
        <p:spPr>
          <a:xfrm>
            <a:off x="3638728" y="2337189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aw783"/>
          <p:cNvSpPr/>
          <p:nvPr/>
        </p:nvSpPr>
        <p:spPr>
          <a:xfrm>
            <a:off x="3725394" y="2337189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aw784"/>
          <p:cNvSpPr/>
          <p:nvPr/>
        </p:nvSpPr>
        <p:spPr>
          <a:xfrm>
            <a:off x="3812061" y="2337189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aw785"/>
          <p:cNvSpPr/>
          <p:nvPr/>
        </p:nvSpPr>
        <p:spPr>
          <a:xfrm>
            <a:off x="3118561" y="2423856"/>
            <a:ext cx="69352" cy="69352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aw786"/>
          <p:cNvSpPr/>
          <p:nvPr/>
        </p:nvSpPr>
        <p:spPr>
          <a:xfrm>
            <a:off x="3205227" y="2423856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aw787"/>
          <p:cNvSpPr/>
          <p:nvPr/>
        </p:nvSpPr>
        <p:spPr>
          <a:xfrm>
            <a:off x="3291978" y="2423856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aw788"/>
          <p:cNvSpPr/>
          <p:nvPr/>
        </p:nvSpPr>
        <p:spPr>
          <a:xfrm>
            <a:off x="3378644" y="2423856"/>
            <a:ext cx="69352" cy="69352"/>
          </a:xfrm>
          <a:prstGeom prst="rect">
            <a:avLst/>
          </a:prstGeom>
          <a:solidFill>
            <a:srgbClr val="6B737F"/>
          </a:solidFill>
          <a:ln w="5080">
            <a:solidFill>
              <a:srgbClr val="6B7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6B737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aw789"/>
          <p:cNvSpPr/>
          <p:nvPr/>
        </p:nvSpPr>
        <p:spPr>
          <a:xfrm>
            <a:off x="3465311" y="2423856"/>
            <a:ext cx="69352" cy="69352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aw790"/>
          <p:cNvSpPr/>
          <p:nvPr/>
        </p:nvSpPr>
        <p:spPr>
          <a:xfrm>
            <a:off x="3551977" y="2423856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aw791"/>
          <p:cNvSpPr/>
          <p:nvPr/>
        </p:nvSpPr>
        <p:spPr>
          <a:xfrm>
            <a:off x="3638728" y="2423856"/>
            <a:ext cx="69352" cy="69352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aw792"/>
          <p:cNvSpPr/>
          <p:nvPr/>
        </p:nvSpPr>
        <p:spPr>
          <a:xfrm>
            <a:off x="3725394" y="2423856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aw793"/>
          <p:cNvSpPr/>
          <p:nvPr/>
        </p:nvSpPr>
        <p:spPr>
          <a:xfrm>
            <a:off x="3812061" y="2423856"/>
            <a:ext cx="69352" cy="69352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aw794"/>
          <p:cNvSpPr/>
          <p:nvPr/>
        </p:nvSpPr>
        <p:spPr>
          <a:xfrm>
            <a:off x="3118561" y="2510523"/>
            <a:ext cx="69352" cy="69352"/>
          </a:xfrm>
          <a:prstGeom prst="rect">
            <a:avLst/>
          </a:prstGeom>
          <a:solidFill>
            <a:srgbClr val="DBDFE5"/>
          </a:solidFill>
          <a:ln w="5080">
            <a:solidFill>
              <a:srgbClr val="DB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BDFE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aw795"/>
          <p:cNvSpPr/>
          <p:nvPr/>
        </p:nvSpPr>
        <p:spPr>
          <a:xfrm>
            <a:off x="3205227" y="2510523"/>
            <a:ext cx="69352" cy="69352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aw796"/>
          <p:cNvSpPr/>
          <p:nvPr/>
        </p:nvSpPr>
        <p:spPr>
          <a:xfrm>
            <a:off x="3291978" y="2510523"/>
            <a:ext cx="69352" cy="69352"/>
          </a:xfrm>
          <a:prstGeom prst="rect">
            <a:avLst/>
          </a:prstGeom>
          <a:solidFill>
            <a:srgbClr val="B4BAC2"/>
          </a:solidFill>
          <a:ln w="5080"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B4BAC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aw797"/>
          <p:cNvSpPr/>
          <p:nvPr/>
        </p:nvSpPr>
        <p:spPr>
          <a:xfrm>
            <a:off x="3378644" y="2510523"/>
            <a:ext cx="69352" cy="69352"/>
          </a:xfrm>
          <a:prstGeom prst="rect">
            <a:avLst/>
          </a:prstGeom>
          <a:solidFill>
            <a:srgbClr val="DBDFE5"/>
          </a:solidFill>
          <a:ln w="5080">
            <a:solidFill>
              <a:srgbClr val="DB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BDFE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aw798"/>
          <p:cNvSpPr/>
          <p:nvPr/>
        </p:nvSpPr>
        <p:spPr>
          <a:xfrm>
            <a:off x="3465311" y="2510523"/>
            <a:ext cx="69352" cy="69352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raw799"/>
          <p:cNvSpPr/>
          <p:nvPr/>
        </p:nvSpPr>
        <p:spPr>
          <a:xfrm>
            <a:off x="3551977" y="2510523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raw800"/>
          <p:cNvSpPr/>
          <p:nvPr/>
        </p:nvSpPr>
        <p:spPr>
          <a:xfrm>
            <a:off x="3638728" y="2510523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aw801"/>
          <p:cNvSpPr/>
          <p:nvPr/>
        </p:nvSpPr>
        <p:spPr>
          <a:xfrm>
            <a:off x="3725394" y="2510523"/>
            <a:ext cx="69352" cy="69352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aw802"/>
          <p:cNvSpPr/>
          <p:nvPr/>
        </p:nvSpPr>
        <p:spPr>
          <a:xfrm>
            <a:off x="3812061" y="2510523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aw803"/>
          <p:cNvSpPr/>
          <p:nvPr/>
        </p:nvSpPr>
        <p:spPr>
          <a:xfrm>
            <a:off x="3118561" y="2597273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raw804"/>
          <p:cNvSpPr/>
          <p:nvPr/>
        </p:nvSpPr>
        <p:spPr>
          <a:xfrm>
            <a:off x="3205227" y="2597273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aw805"/>
          <p:cNvSpPr/>
          <p:nvPr/>
        </p:nvSpPr>
        <p:spPr>
          <a:xfrm>
            <a:off x="3291978" y="2597273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aw806"/>
          <p:cNvSpPr/>
          <p:nvPr/>
        </p:nvSpPr>
        <p:spPr>
          <a:xfrm>
            <a:off x="3378644" y="2597273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raw807"/>
          <p:cNvSpPr/>
          <p:nvPr/>
        </p:nvSpPr>
        <p:spPr>
          <a:xfrm>
            <a:off x="3465311" y="2597273"/>
            <a:ext cx="69352" cy="69352"/>
          </a:xfrm>
          <a:prstGeom prst="rect">
            <a:avLst/>
          </a:prstGeom>
          <a:solidFill>
            <a:srgbClr val="D7DBE1"/>
          </a:solidFill>
          <a:ln w="5080"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7DBE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aw808"/>
          <p:cNvSpPr/>
          <p:nvPr/>
        </p:nvSpPr>
        <p:spPr>
          <a:xfrm>
            <a:off x="3551977" y="2597273"/>
            <a:ext cx="69352" cy="69352"/>
          </a:xfrm>
          <a:prstGeom prst="rect">
            <a:avLst/>
          </a:prstGeom>
          <a:solidFill>
            <a:srgbClr val="D0D5DB"/>
          </a:solidFill>
          <a:ln w="5080">
            <a:solidFill>
              <a:srgbClr val="D0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D0D5D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raw809"/>
          <p:cNvSpPr/>
          <p:nvPr/>
        </p:nvSpPr>
        <p:spPr>
          <a:xfrm>
            <a:off x="3638728" y="2597273"/>
            <a:ext cx="69352" cy="69352"/>
          </a:xfrm>
          <a:prstGeom prst="rect">
            <a:avLst/>
          </a:prstGeom>
          <a:solidFill>
            <a:srgbClr val="C7CCD3"/>
          </a:solidFill>
          <a:ln w="5080">
            <a:solidFill>
              <a:srgbClr val="C7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C7CCD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aw810"/>
          <p:cNvSpPr/>
          <p:nvPr/>
        </p:nvSpPr>
        <p:spPr>
          <a:xfrm>
            <a:off x="3725394" y="2597273"/>
            <a:ext cx="69352" cy="69352"/>
          </a:xfrm>
          <a:prstGeom prst="rect">
            <a:avLst/>
          </a:prstGeom>
          <a:solidFill>
            <a:srgbClr val="A5ABB4"/>
          </a:solidFill>
          <a:ln w="5080">
            <a:solidFill>
              <a:srgbClr val="A5A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A5ABB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raw811"/>
          <p:cNvSpPr/>
          <p:nvPr/>
        </p:nvSpPr>
        <p:spPr>
          <a:xfrm>
            <a:off x="3812061" y="2597273"/>
            <a:ext cx="69352" cy="69352"/>
          </a:xfrm>
          <a:prstGeom prst="rect">
            <a:avLst/>
          </a:prstGeom>
          <a:solidFill>
            <a:srgbClr val="3C4654"/>
          </a:solidFill>
          <a:ln w="5080">
            <a:solidFill>
              <a:srgbClr val="3C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3C465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lab812"/>
          <p:cNvSpPr txBox="1"/>
          <p:nvPr/>
        </p:nvSpPr>
        <p:spPr>
          <a:xfrm>
            <a:off x="4069080" y="1685834"/>
            <a:ext cx="969264" cy="130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1">
                <a:solidFill>
                  <a:srgbClr val="1A1A1A"/>
                </a:solidFill>
                <a:latin typeface="Comic Sans MS" panose="030F0702030302020204"/>
              </a:rPr>
              <a:t>Ŝ = 𝟙</a:t>
            </a:r>
            <a:r>
              <a:rPr lang="en-US" sz="850" b="1" i="1">
                <a:solidFill>
                  <a:srgbClr val="1A1A1A"/>
                </a:solidFill>
                <a:latin typeface="Comic Sans MS" panose="030F0702030302020204"/>
              </a:rPr>
              <a:t> </a:t>
            </a:r>
            <a:r>
              <a:rPr sz="850" b="1" i="1">
                <a:solidFill>
                  <a:srgbClr val="1A1A1A"/>
                </a:solidFill>
                <a:latin typeface="Comic Sans MS" panose="030F0702030302020204"/>
              </a:rPr>
              <a:t>[S(F,F) &gt; τ]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813" name="lab813"/>
          <p:cNvSpPr txBox="1"/>
          <p:nvPr/>
        </p:nvSpPr>
        <p:spPr>
          <a:xfrm>
            <a:off x="4023360" y="2150669"/>
            <a:ext cx="146304" cy="103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1">
                <a:solidFill>
                  <a:srgbClr val="1A1A1A"/>
                </a:solidFill>
                <a:latin typeface="Comic Sans MS" panose="030F0702030302020204"/>
              </a:rPr>
              <a:t>τ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814" name="tau814"/>
          <p:cNvCxnSpPr/>
          <p:nvPr/>
        </p:nvCxnSpPr>
        <p:spPr>
          <a:xfrm>
            <a:off x="4018788" y="2281428"/>
            <a:ext cx="118872" cy="0"/>
          </a:xfrm>
          <a:prstGeom prst="line">
            <a:avLst/>
          </a:prstGeom>
          <a:ln w="15875">
            <a:solidFill>
              <a:srgbClr val="DDB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5" name="Connector 815"/>
          <p:cNvCxnSpPr/>
          <p:nvPr/>
        </p:nvCxnSpPr>
        <p:spPr>
          <a:xfrm>
            <a:off x="10008108" y="1411467"/>
            <a:ext cx="199390" cy="0"/>
          </a:xfrm>
          <a:prstGeom prst="line">
            <a:avLst/>
          </a:prstGeom>
          <a:ln w="205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6" name="Connector 816"/>
          <p:cNvCxnSpPr/>
          <p:nvPr/>
        </p:nvCxnSpPr>
        <p:spPr>
          <a:xfrm>
            <a:off x="10205974" y="1154801"/>
            <a:ext cx="0" cy="562356"/>
          </a:xfrm>
          <a:prstGeom prst="line">
            <a:avLst/>
          </a:prstGeom>
          <a:ln w="205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0" name="Connector 820"/>
          <p:cNvCxnSpPr/>
          <p:nvPr/>
        </p:nvCxnSpPr>
        <p:spPr>
          <a:xfrm>
            <a:off x="9176613" y="1105144"/>
            <a:ext cx="319430" cy="0"/>
          </a:xfrm>
          <a:prstGeom prst="line">
            <a:avLst/>
          </a:prstGeom>
          <a:ln w="1422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1" name="Connector 821"/>
          <p:cNvCxnSpPr/>
          <p:nvPr/>
        </p:nvCxnSpPr>
        <p:spPr>
          <a:xfrm>
            <a:off x="9176613" y="1717792"/>
            <a:ext cx="319430" cy="0"/>
          </a:xfrm>
          <a:prstGeom prst="line">
            <a:avLst/>
          </a:prstGeom>
          <a:ln w="1422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2" name="Connector 822"/>
          <p:cNvCxnSpPr/>
          <p:nvPr/>
        </p:nvCxnSpPr>
        <p:spPr>
          <a:xfrm>
            <a:off x="9496044" y="1105144"/>
            <a:ext cx="0" cy="612648"/>
          </a:xfrm>
          <a:prstGeom prst="line">
            <a:avLst/>
          </a:prstGeom>
          <a:ln w="1422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5" name="Connector 835"/>
          <p:cNvCxnSpPr/>
          <p:nvPr/>
        </p:nvCxnSpPr>
        <p:spPr>
          <a:xfrm>
            <a:off x="7977225" y="1105190"/>
            <a:ext cx="319430" cy="0"/>
          </a:xfrm>
          <a:prstGeom prst="line">
            <a:avLst/>
          </a:prstGeom>
          <a:ln w="14224">
            <a:solidFill>
              <a:srgbClr val="7AB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6" name="Connector 836"/>
          <p:cNvCxnSpPr/>
          <p:nvPr/>
        </p:nvCxnSpPr>
        <p:spPr>
          <a:xfrm>
            <a:off x="8417356" y="1105190"/>
            <a:ext cx="319430" cy="0"/>
          </a:xfrm>
          <a:prstGeom prst="line">
            <a:avLst/>
          </a:prstGeom>
          <a:ln w="14224">
            <a:solidFill>
              <a:srgbClr val="7AB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7" name="Connector 837"/>
          <p:cNvCxnSpPr/>
          <p:nvPr/>
        </p:nvCxnSpPr>
        <p:spPr>
          <a:xfrm>
            <a:off x="7977225" y="1717838"/>
            <a:ext cx="319430" cy="0"/>
          </a:xfrm>
          <a:prstGeom prst="line">
            <a:avLst/>
          </a:prstGeom>
          <a:ln w="14224">
            <a:solidFill>
              <a:srgbClr val="7AB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8" name="Connector 838"/>
          <p:cNvCxnSpPr/>
          <p:nvPr/>
        </p:nvCxnSpPr>
        <p:spPr>
          <a:xfrm>
            <a:off x="8417356" y="1717838"/>
            <a:ext cx="319430" cy="0"/>
          </a:xfrm>
          <a:prstGeom prst="line">
            <a:avLst/>
          </a:prstGeom>
          <a:ln w="14224">
            <a:solidFill>
              <a:srgbClr val="7AB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9" name="Keep 839"/>
          <p:cNvSpPr/>
          <p:nvPr/>
        </p:nvSpPr>
        <p:spPr>
          <a:xfrm>
            <a:off x="4192524" y="1899209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Keep 840"/>
          <p:cNvSpPr/>
          <p:nvPr/>
        </p:nvSpPr>
        <p:spPr>
          <a:xfrm>
            <a:off x="4476171" y="1899209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Keep 841"/>
          <p:cNvSpPr/>
          <p:nvPr/>
        </p:nvSpPr>
        <p:spPr>
          <a:xfrm>
            <a:off x="4759818" y="1899209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Keep 842"/>
          <p:cNvSpPr/>
          <p:nvPr/>
        </p:nvSpPr>
        <p:spPr>
          <a:xfrm>
            <a:off x="4287073" y="1993758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Keep 843"/>
          <p:cNvSpPr/>
          <p:nvPr/>
        </p:nvSpPr>
        <p:spPr>
          <a:xfrm>
            <a:off x="4665269" y="1993758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Keep 844"/>
          <p:cNvSpPr/>
          <p:nvPr/>
        </p:nvSpPr>
        <p:spPr>
          <a:xfrm>
            <a:off x="4381622" y="2088307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Keep 845"/>
          <p:cNvSpPr/>
          <p:nvPr/>
        </p:nvSpPr>
        <p:spPr>
          <a:xfrm>
            <a:off x="4192524" y="2182856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Keep 846"/>
          <p:cNvSpPr/>
          <p:nvPr/>
        </p:nvSpPr>
        <p:spPr>
          <a:xfrm>
            <a:off x="4476171" y="2182856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Keep 847"/>
          <p:cNvSpPr/>
          <p:nvPr/>
        </p:nvSpPr>
        <p:spPr>
          <a:xfrm>
            <a:off x="4759818" y="2182856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Keep 848"/>
          <p:cNvSpPr/>
          <p:nvPr/>
        </p:nvSpPr>
        <p:spPr>
          <a:xfrm>
            <a:off x="4570720" y="2277405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Keep 849"/>
          <p:cNvSpPr/>
          <p:nvPr/>
        </p:nvSpPr>
        <p:spPr>
          <a:xfrm>
            <a:off x="4287073" y="2371954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Keep 850"/>
          <p:cNvSpPr/>
          <p:nvPr/>
        </p:nvSpPr>
        <p:spPr>
          <a:xfrm>
            <a:off x="4665269" y="2371954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Keep 851"/>
          <p:cNvSpPr/>
          <p:nvPr/>
        </p:nvSpPr>
        <p:spPr>
          <a:xfrm>
            <a:off x="4192524" y="2466503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Keep 852"/>
          <p:cNvSpPr/>
          <p:nvPr/>
        </p:nvSpPr>
        <p:spPr>
          <a:xfrm>
            <a:off x="4476171" y="2466503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Keep 853"/>
          <p:cNvSpPr/>
          <p:nvPr/>
        </p:nvSpPr>
        <p:spPr>
          <a:xfrm>
            <a:off x="4759818" y="2466503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Keep 854"/>
          <p:cNvSpPr/>
          <p:nvPr/>
        </p:nvSpPr>
        <p:spPr>
          <a:xfrm>
            <a:off x="4854367" y="2561052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Keep 855"/>
          <p:cNvSpPr/>
          <p:nvPr/>
        </p:nvSpPr>
        <p:spPr>
          <a:xfrm>
            <a:off x="4948916" y="2655600"/>
            <a:ext cx="85039" cy="8503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A97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ormula 860"/>
          <p:cNvSpPr txBox="1"/>
          <p:nvPr/>
        </p:nvSpPr>
        <p:spPr>
          <a:xfrm>
            <a:off x="7764780" y="717550"/>
            <a:ext cx="365760" cy="10985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F, w</a:t>
            </a:r>
            <a:r>
              <a:rPr sz="700" b="1" i="1" baseline="30000">
                <a:solidFill>
                  <a:srgbClr val="1A1A1A"/>
                </a:solidFill>
                <a:latin typeface="Comic Sans MS" panose="030F0702030302020204"/>
              </a:rPr>
              <a:t>1/2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861" name="Formula 861"/>
          <p:cNvSpPr txBox="1"/>
          <p:nvPr/>
        </p:nvSpPr>
        <p:spPr>
          <a:xfrm>
            <a:off x="8193024" y="717803"/>
            <a:ext cx="329184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W</a:t>
            </a:r>
            <a:r>
              <a:rPr sz="700" b="1" i="1" baseline="30000">
                <a:solidFill>
                  <a:srgbClr val="1A1A1A"/>
                </a:solidFill>
                <a:latin typeface="Comic Sans MS" panose="030F0702030302020204"/>
              </a:rPr>
              <a:t>1/2</a:t>
            </a:r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 F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5" name="TextBox 200"/>
          <p:cNvSpPr txBox="1"/>
          <p:nvPr/>
        </p:nvSpPr>
        <p:spPr>
          <a:xfrm>
            <a:off x="5052060" y="1698597"/>
            <a:ext cx="164592" cy="103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1">
                <a:solidFill>
                  <a:srgbClr val="1A1A1A"/>
                </a:solidFill>
                <a:latin typeface="Comic Sans MS" panose="030F0702030302020204"/>
              </a:rPr>
              <a:t>n</a:t>
            </a:r>
            <a:r>
              <a:rPr sz="760" b="1" i="1" baseline="-25000">
                <a:solidFill>
                  <a:srgbClr val="1A1A1A"/>
                </a:solidFill>
                <a:latin typeface="Comic Sans MS" panose="030F0702030302020204"/>
              </a:rPr>
              <a:t>i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44" name="TextBox 247"/>
          <p:cNvSpPr txBox="1"/>
          <p:nvPr/>
        </p:nvSpPr>
        <p:spPr>
          <a:xfrm>
            <a:off x="6889754" y="1202436"/>
            <a:ext cx="207866" cy="1133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DDB04A"/>
                </a:solidFill>
                <a:latin typeface="Comic Sans MS" panose="030F0702030302020204"/>
              </a:rPr>
              <a:t>…</a:t>
            </a:r>
            <a:endParaRPr sz="1100" b="1" i="0">
              <a:solidFill>
                <a:srgbClr val="A3BBDF"/>
              </a:solidFill>
              <a:latin typeface="Comic Sans MS" panose="030F0702030302020204"/>
            </a:endParaRPr>
          </a:p>
        </p:txBody>
      </p:sp>
      <p:sp>
        <p:nvSpPr>
          <p:cNvPr id="193" name="TextBox 254"/>
          <p:cNvSpPr txBox="1"/>
          <p:nvPr/>
        </p:nvSpPr>
        <p:spPr>
          <a:xfrm>
            <a:off x="6889754" y="3136392"/>
            <a:ext cx="207866" cy="1133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DDB04A"/>
                </a:solidFill>
                <a:latin typeface="Comic Sans MS" panose="030F0702030302020204"/>
              </a:rPr>
              <a:t>…</a:t>
            </a:r>
            <a:endParaRPr sz="1100" b="1" i="0">
              <a:solidFill>
                <a:srgbClr val="927CC0"/>
              </a:solidFill>
              <a:latin typeface="Comic Sans MS" panose="030F0702030302020204"/>
            </a:endParaRPr>
          </a:p>
        </p:txBody>
      </p:sp>
      <p:cxnSp>
        <p:nvCxnSpPr>
          <p:cNvPr id="869" name="Connector 868"/>
          <p:cNvCxnSpPr/>
          <p:nvPr/>
        </p:nvCxnSpPr>
        <p:spPr>
          <a:xfrm>
            <a:off x="470519" y="4296034"/>
            <a:ext cx="141118" cy="0"/>
          </a:xfrm>
          <a:prstGeom prst="line">
            <a:avLst/>
          </a:prstGeom>
          <a:ln w="25400">
            <a:solidFill>
              <a:srgbClr val="DDB04A"/>
            </a:solidFill>
          </a:ln>
        </p:spPr>
      </p:cxnSp>
      <p:sp>
        <p:nvSpPr>
          <p:cNvPr id="870" name="Rectangle 869"/>
          <p:cNvSpPr/>
          <p:nvPr/>
        </p:nvSpPr>
        <p:spPr>
          <a:xfrm>
            <a:off x="10456164" y="3316735"/>
            <a:ext cx="75587" cy="75587"/>
          </a:xfrm>
          <a:prstGeom prst="rect">
            <a:avLst/>
          </a:prstGeom>
          <a:solidFill>
            <a:srgbClr val="E2D1B2"/>
          </a:solidFill>
          <a:ln w="7620">
            <a:solidFill>
              <a:srgbClr val="DD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Rectangle 870"/>
          <p:cNvSpPr/>
          <p:nvPr/>
        </p:nvSpPr>
        <p:spPr>
          <a:xfrm>
            <a:off x="10456164" y="3411220"/>
            <a:ext cx="75587" cy="75587"/>
          </a:xfrm>
          <a:prstGeom prst="rect">
            <a:avLst/>
          </a:prstGeom>
          <a:solidFill>
            <a:srgbClr val="D4BA8C"/>
          </a:solidFill>
          <a:ln w="7620">
            <a:solidFill>
              <a:srgbClr val="DD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10456164" y="3600190"/>
            <a:ext cx="75587" cy="75587"/>
          </a:xfrm>
          <a:prstGeom prst="rect">
            <a:avLst/>
          </a:prstGeom>
          <a:solidFill>
            <a:srgbClr val="E2D1B2"/>
          </a:solidFill>
          <a:ln w="7620">
            <a:solidFill>
              <a:srgbClr val="DD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Rectangle 872"/>
          <p:cNvSpPr/>
          <p:nvPr/>
        </p:nvSpPr>
        <p:spPr>
          <a:xfrm>
            <a:off x="10456164" y="3789160"/>
            <a:ext cx="75587" cy="75587"/>
          </a:xfrm>
          <a:prstGeom prst="rect">
            <a:avLst/>
          </a:prstGeom>
          <a:solidFill>
            <a:srgbClr val="D4BA8C"/>
          </a:solidFill>
          <a:ln w="7620">
            <a:solidFill>
              <a:srgbClr val="DD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Rectangle 873"/>
          <p:cNvSpPr/>
          <p:nvPr/>
        </p:nvSpPr>
        <p:spPr>
          <a:xfrm>
            <a:off x="10456164" y="3883644"/>
            <a:ext cx="75587" cy="75587"/>
          </a:xfrm>
          <a:prstGeom prst="rect">
            <a:avLst/>
          </a:prstGeom>
          <a:solidFill>
            <a:srgbClr val="E2D1B2"/>
          </a:solidFill>
          <a:ln w="7620">
            <a:solidFill>
              <a:srgbClr val="DD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10456164" y="3978129"/>
            <a:ext cx="75587" cy="75587"/>
          </a:xfrm>
          <a:prstGeom prst="rect">
            <a:avLst/>
          </a:prstGeom>
          <a:solidFill>
            <a:srgbClr val="A9761A"/>
          </a:solidFill>
          <a:ln w="7620">
            <a:solidFill>
              <a:srgbClr val="DD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581"/>
          <p:cNvSpPr/>
          <p:nvPr/>
        </p:nvSpPr>
        <p:spPr>
          <a:xfrm>
            <a:off x="5705732" y="4239341"/>
            <a:ext cx="122830" cy="113381"/>
          </a:xfrm>
          <a:prstGeom prst="rect">
            <a:avLst/>
          </a:prstGeom>
          <a:solidFill>
            <a:srgbClr val="B4B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582"/>
          <p:cNvCxnSpPr/>
          <p:nvPr/>
        </p:nvCxnSpPr>
        <p:spPr>
          <a:xfrm flipV="1">
            <a:off x="5705732" y="4239341"/>
            <a:ext cx="122830" cy="113382"/>
          </a:xfrm>
          <a:prstGeom prst="line">
            <a:avLst/>
          </a:prstGeom>
          <a:ln w="10160">
            <a:solidFill>
              <a:srgbClr val="C45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8E8E8E"/>
          </a:effectRef>
          <a:fontRef idx="minor">
            <a:schemeClr val="tx1"/>
          </a:fontRef>
        </p:style>
      </p:cxnSp>
      <p:sp>
        <p:nvSpPr>
          <p:cNvPr id="196" name="TextBox 583"/>
          <p:cNvSpPr txBox="1"/>
          <p:nvPr/>
        </p:nvSpPr>
        <p:spPr>
          <a:xfrm>
            <a:off x="5875805" y="4234632"/>
            <a:ext cx="1228304" cy="122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omic Sans MS" panose="030F0702030302020204"/>
              </a:rPr>
              <a:t>below θ</a:t>
            </a:r>
            <a:endParaRPr sz="80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cxnSp>
        <p:nvCxnSpPr>
          <p:cNvPr id="197" name="Connector 309"/>
          <p:cNvCxnSpPr/>
          <p:nvPr/>
        </p:nvCxnSpPr>
        <p:spPr>
          <a:xfrm>
            <a:off x="10523438" y="1661556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Connector 310"/>
          <p:cNvCxnSpPr/>
          <p:nvPr/>
        </p:nvCxnSpPr>
        <p:spPr>
          <a:xfrm>
            <a:off x="10604427" y="1661556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6" name="Connector 311"/>
          <p:cNvCxnSpPr/>
          <p:nvPr/>
        </p:nvCxnSpPr>
        <p:spPr>
          <a:xfrm>
            <a:off x="10685417" y="1661556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7" name="Connector 312"/>
          <p:cNvCxnSpPr/>
          <p:nvPr/>
        </p:nvCxnSpPr>
        <p:spPr>
          <a:xfrm>
            <a:off x="10766407" y="1661556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8" name="Connector 313"/>
          <p:cNvCxnSpPr/>
          <p:nvPr/>
        </p:nvCxnSpPr>
        <p:spPr>
          <a:xfrm>
            <a:off x="10847397" y="1661556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9" name="Connector 314"/>
          <p:cNvCxnSpPr/>
          <p:nvPr/>
        </p:nvCxnSpPr>
        <p:spPr>
          <a:xfrm>
            <a:off x="10928386" y="1661556"/>
            <a:ext cx="0" cy="113382"/>
          </a:xfrm>
          <a:prstGeom prst="line">
            <a:avLst/>
          </a:prstGeom>
          <a:ln w="7874">
            <a:solidFill>
              <a:srgbClr val="7AB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3" name="flat703"/>
          <p:cNvSpPr/>
          <p:nvPr/>
        </p:nvSpPr>
        <p:spPr>
          <a:xfrm>
            <a:off x="7845552" y="898855"/>
            <a:ext cx="32918" cy="32918"/>
          </a:xfrm>
          <a:prstGeom prst="roundRect">
            <a:avLst/>
          </a:prstGeom>
          <a:solidFill>
            <a:srgbClr val="C5D5EE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lat703"/>
          <p:cNvSpPr/>
          <p:nvPr/>
        </p:nvSpPr>
        <p:spPr>
          <a:xfrm>
            <a:off x="7845552" y="938631"/>
            <a:ext cx="32918" cy="32918"/>
          </a:xfrm>
          <a:prstGeom prst="roundRect">
            <a:avLst/>
          </a:prstGeom>
          <a:solidFill>
            <a:srgbClr val="C5D5EE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lat703"/>
          <p:cNvSpPr/>
          <p:nvPr/>
        </p:nvSpPr>
        <p:spPr>
          <a:xfrm>
            <a:off x="7845552" y="978408"/>
            <a:ext cx="32918" cy="32918"/>
          </a:xfrm>
          <a:prstGeom prst="roundRect">
            <a:avLst/>
          </a:prstGeom>
          <a:solidFill>
            <a:srgbClr val="C5D5EE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lat703"/>
          <p:cNvSpPr/>
          <p:nvPr/>
        </p:nvSpPr>
        <p:spPr>
          <a:xfrm>
            <a:off x="7845552" y="1018184"/>
            <a:ext cx="32918" cy="32918"/>
          </a:xfrm>
          <a:prstGeom prst="roundRect">
            <a:avLst/>
          </a:prstGeom>
          <a:solidFill>
            <a:srgbClr val="C5D5EE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lat703"/>
          <p:cNvSpPr/>
          <p:nvPr/>
        </p:nvSpPr>
        <p:spPr>
          <a:xfrm>
            <a:off x="7845552" y="1057960"/>
            <a:ext cx="32918" cy="32918"/>
          </a:xfrm>
          <a:prstGeom prst="roundRect">
            <a:avLst/>
          </a:prstGeom>
          <a:solidFill>
            <a:srgbClr val="C5D5EE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lat703"/>
          <p:cNvSpPr/>
          <p:nvPr/>
        </p:nvSpPr>
        <p:spPr>
          <a:xfrm>
            <a:off x="7845552" y="1097737"/>
            <a:ext cx="32918" cy="32918"/>
          </a:xfrm>
          <a:prstGeom prst="roundRect">
            <a:avLst/>
          </a:prstGeom>
          <a:solidFill>
            <a:srgbClr val="C5D5EE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lat703"/>
          <p:cNvSpPr/>
          <p:nvPr/>
        </p:nvSpPr>
        <p:spPr>
          <a:xfrm>
            <a:off x="7845552" y="1137513"/>
            <a:ext cx="32918" cy="32918"/>
          </a:xfrm>
          <a:prstGeom prst="roundRect">
            <a:avLst/>
          </a:prstGeom>
          <a:solidFill>
            <a:srgbClr val="C5D5EE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lat703"/>
          <p:cNvSpPr/>
          <p:nvPr/>
        </p:nvSpPr>
        <p:spPr>
          <a:xfrm>
            <a:off x="7845552" y="1177290"/>
            <a:ext cx="32918" cy="32918"/>
          </a:xfrm>
          <a:prstGeom prst="roundRect">
            <a:avLst/>
          </a:prstGeom>
          <a:solidFill>
            <a:srgbClr val="C5D5EE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lat703"/>
          <p:cNvSpPr/>
          <p:nvPr/>
        </p:nvSpPr>
        <p:spPr>
          <a:xfrm>
            <a:off x="7845552" y="1217066"/>
            <a:ext cx="32918" cy="32918"/>
          </a:xfrm>
          <a:prstGeom prst="roundRect">
            <a:avLst/>
          </a:prstGeom>
          <a:solidFill>
            <a:srgbClr val="C5D5EE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amber709"/>
          <p:cNvSpPr/>
          <p:nvPr/>
        </p:nvSpPr>
        <p:spPr>
          <a:xfrm>
            <a:off x="7900415" y="898855"/>
            <a:ext cx="32918" cy="32918"/>
          </a:xfrm>
          <a:prstGeom prst="roundRect">
            <a:avLst/>
          </a:prstGeom>
          <a:solidFill>
            <a:srgbClr val="E2D1B2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amber709"/>
          <p:cNvSpPr/>
          <p:nvPr/>
        </p:nvSpPr>
        <p:spPr>
          <a:xfrm>
            <a:off x="7900415" y="938631"/>
            <a:ext cx="32918" cy="32918"/>
          </a:xfrm>
          <a:prstGeom prst="roundRect">
            <a:avLst/>
          </a:prstGeom>
          <a:solidFill>
            <a:srgbClr val="D4BA8C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amber709"/>
          <p:cNvSpPr/>
          <p:nvPr/>
        </p:nvSpPr>
        <p:spPr>
          <a:xfrm>
            <a:off x="7900415" y="978408"/>
            <a:ext cx="32918" cy="32918"/>
          </a:xfrm>
          <a:prstGeom prst="roundRect">
            <a:avLst/>
          </a:prstGeom>
          <a:solidFill>
            <a:srgbClr val="A9761A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amber709"/>
          <p:cNvSpPr/>
          <p:nvPr/>
        </p:nvSpPr>
        <p:spPr>
          <a:xfrm>
            <a:off x="7900415" y="1018184"/>
            <a:ext cx="32918" cy="32918"/>
          </a:xfrm>
          <a:prstGeom prst="roundRect">
            <a:avLst/>
          </a:prstGeom>
          <a:solidFill>
            <a:srgbClr val="E2D1B2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amber709"/>
          <p:cNvSpPr/>
          <p:nvPr/>
        </p:nvSpPr>
        <p:spPr>
          <a:xfrm>
            <a:off x="7900415" y="1057960"/>
            <a:ext cx="32918" cy="32918"/>
          </a:xfrm>
          <a:prstGeom prst="roundRect">
            <a:avLst/>
          </a:prstGeom>
          <a:solidFill>
            <a:srgbClr val="A9761A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amber709"/>
          <p:cNvSpPr/>
          <p:nvPr/>
        </p:nvSpPr>
        <p:spPr>
          <a:xfrm>
            <a:off x="7900415" y="1097737"/>
            <a:ext cx="32918" cy="32918"/>
          </a:xfrm>
          <a:prstGeom prst="roundRect">
            <a:avLst/>
          </a:prstGeom>
          <a:solidFill>
            <a:srgbClr val="D4BA8C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amber709"/>
          <p:cNvSpPr/>
          <p:nvPr/>
        </p:nvSpPr>
        <p:spPr>
          <a:xfrm>
            <a:off x="7900415" y="1137513"/>
            <a:ext cx="32918" cy="32918"/>
          </a:xfrm>
          <a:prstGeom prst="roundRect">
            <a:avLst/>
          </a:prstGeom>
          <a:solidFill>
            <a:srgbClr val="E2D1B2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amber709"/>
          <p:cNvSpPr/>
          <p:nvPr/>
        </p:nvSpPr>
        <p:spPr>
          <a:xfrm>
            <a:off x="7900415" y="1177290"/>
            <a:ext cx="32918" cy="32918"/>
          </a:xfrm>
          <a:prstGeom prst="roundRect">
            <a:avLst/>
          </a:prstGeom>
          <a:solidFill>
            <a:srgbClr val="A9761A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amber709"/>
          <p:cNvSpPr/>
          <p:nvPr/>
        </p:nvSpPr>
        <p:spPr>
          <a:xfrm>
            <a:off x="7900415" y="1217066"/>
            <a:ext cx="32918" cy="32918"/>
          </a:xfrm>
          <a:prstGeom prst="roundRect">
            <a:avLst/>
          </a:prstGeom>
          <a:solidFill>
            <a:srgbClr val="A9761A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wtok823"/>
          <p:cNvSpPr/>
          <p:nvPr/>
        </p:nvSpPr>
        <p:spPr>
          <a:xfrm>
            <a:off x="8340548" y="898855"/>
            <a:ext cx="32918" cy="32918"/>
          </a:xfrm>
          <a:prstGeom prst="roundRect">
            <a:avLst/>
          </a:prstGeom>
          <a:solidFill>
            <a:srgbClr val="DEE7F8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wtok823"/>
          <p:cNvSpPr/>
          <p:nvPr/>
        </p:nvSpPr>
        <p:spPr>
          <a:xfrm>
            <a:off x="8340548" y="938631"/>
            <a:ext cx="32918" cy="32918"/>
          </a:xfrm>
          <a:prstGeom prst="roundRect">
            <a:avLst/>
          </a:prstGeom>
          <a:solidFill>
            <a:srgbClr val="AABEE4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wtok823"/>
          <p:cNvSpPr/>
          <p:nvPr/>
        </p:nvSpPr>
        <p:spPr>
          <a:xfrm>
            <a:off x="8340548" y="978408"/>
            <a:ext cx="32918" cy="32918"/>
          </a:xfrm>
          <a:prstGeom prst="roundRect">
            <a:avLst/>
          </a:prstGeom>
          <a:solidFill>
            <a:srgbClr val="5C82C6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wtok823"/>
          <p:cNvSpPr/>
          <p:nvPr/>
        </p:nvSpPr>
        <p:spPr>
          <a:xfrm>
            <a:off x="8340548" y="1018184"/>
            <a:ext cx="32918" cy="32918"/>
          </a:xfrm>
          <a:prstGeom prst="roundRect">
            <a:avLst/>
          </a:prstGeom>
          <a:solidFill>
            <a:srgbClr val="DEE7F8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wtok823"/>
          <p:cNvSpPr/>
          <p:nvPr/>
        </p:nvSpPr>
        <p:spPr>
          <a:xfrm>
            <a:off x="8340548" y="1057960"/>
            <a:ext cx="32918" cy="32918"/>
          </a:xfrm>
          <a:prstGeom prst="roundRect">
            <a:avLst/>
          </a:prstGeom>
          <a:solidFill>
            <a:srgbClr val="5C82C6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wtok823"/>
          <p:cNvSpPr/>
          <p:nvPr/>
        </p:nvSpPr>
        <p:spPr>
          <a:xfrm>
            <a:off x="8340548" y="1097737"/>
            <a:ext cx="32918" cy="32918"/>
          </a:xfrm>
          <a:prstGeom prst="roundRect">
            <a:avLst/>
          </a:prstGeom>
          <a:solidFill>
            <a:srgbClr val="AABEE4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wtok823"/>
          <p:cNvSpPr/>
          <p:nvPr/>
        </p:nvSpPr>
        <p:spPr>
          <a:xfrm>
            <a:off x="8340548" y="1137513"/>
            <a:ext cx="32918" cy="32918"/>
          </a:xfrm>
          <a:prstGeom prst="roundRect">
            <a:avLst/>
          </a:prstGeom>
          <a:solidFill>
            <a:srgbClr val="DEE7F8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wtok823"/>
          <p:cNvSpPr/>
          <p:nvPr/>
        </p:nvSpPr>
        <p:spPr>
          <a:xfrm>
            <a:off x="8340548" y="1177290"/>
            <a:ext cx="32918" cy="32918"/>
          </a:xfrm>
          <a:prstGeom prst="roundRect">
            <a:avLst/>
          </a:prstGeom>
          <a:solidFill>
            <a:srgbClr val="5C82C6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wtok823"/>
          <p:cNvSpPr/>
          <p:nvPr/>
        </p:nvSpPr>
        <p:spPr>
          <a:xfrm>
            <a:off x="8340548" y="1217066"/>
            <a:ext cx="32918" cy="32918"/>
          </a:xfrm>
          <a:prstGeom prst="roundRect">
            <a:avLst/>
          </a:prstGeom>
          <a:solidFill>
            <a:srgbClr val="5C82C6"/>
          </a:solidFill>
          <a:ln w="3175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lat715"/>
          <p:cNvSpPr/>
          <p:nvPr/>
        </p:nvSpPr>
        <p:spPr>
          <a:xfrm>
            <a:off x="7845552" y="1511503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lat715"/>
          <p:cNvSpPr/>
          <p:nvPr/>
        </p:nvSpPr>
        <p:spPr>
          <a:xfrm>
            <a:off x="7845552" y="1551279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lat715"/>
          <p:cNvSpPr/>
          <p:nvPr/>
        </p:nvSpPr>
        <p:spPr>
          <a:xfrm>
            <a:off x="7845552" y="1591056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lat715"/>
          <p:cNvSpPr/>
          <p:nvPr/>
        </p:nvSpPr>
        <p:spPr>
          <a:xfrm>
            <a:off x="7845552" y="1630832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lat715"/>
          <p:cNvSpPr/>
          <p:nvPr/>
        </p:nvSpPr>
        <p:spPr>
          <a:xfrm>
            <a:off x="7845552" y="1670608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lat715"/>
          <p:cNvSpPr/>
          <p:nvPr/>
        </p:nvSpPr>
        <p:spPr>
          <a:xfrm>
            <a:off x="7845552" y="1710385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lat715"/>
          <p:cNvSpPr/>
          <p:nvPr/>
        </p:nvSpPr>
        <p:spPr>
          <a:xfrm>
            <a:off x="7845552" y="1750161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lat715"/>
          <p:cNvSpPr/>
          <p:nvPr/>
        </p:nvSpPr>
        <p:spPr>
          <a:xfrm>
            <a:off x="7845552" y="1789938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lat715"/>
          <p:cNvSpPr/>
          <p:nvPr/>
        </p:nvSpPr>
        <p:spPr>
          <a:xfrm>
            <a:off x="7845552" y="1829714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amber721"/>
          <p:cNvSpPr/>
          <p:nvPr/>
        </p:nvSpPr>
        <p:spPr>
          <a:xfrm>
            <a:off x="7900415" y="1511503"/>
            <a:ext cx="32918" cy="32918"/>
          </a:xfrm>
          <a:prstGeom prst="roundRect">
            <a:avLst/>
          </a:prstGeom>
          <a:solidFill>
            <a:srgbClr val="E2D1B2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amber721"/>
          <p:cNvSpPr/>
          <p:nvPr/>
        </p:nvSpPr>
        <p:spPr>
          <a:xfrm>
            <a:off x="7900415" y="1551279"/>
            <a:ext cx="32918" cy="32918"/>
          </a:xfrm>
          <a:prstGeom prst="roundRect">
            <a:avLst/>
          </a:prstGeom>
          <a:solidFill>
            <a:srgbClr val="D4BA8C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amber721"/>
          <p:cNvSpPr/>
          <p:nvPr/>
        </p:nvSpPr>
        <p:spPr>
          <a:xfrm>
            <a:off x="7900415" y="1591056"/>
            <a:ext cx="32918" cy="32918"/>
          </a:xfrm>
          <a:prstGeom prst="roundRect">
            <a:avLst/>
          </a:prstGeom>
          <a:solidFill>
            <a:srgbClr val="A9761A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amber721"/>
          <p:cNvSpPr/>
          <p:nvPr/>
        </p:nvSpPr>
        <p:spPr>
          <a:xfrm>
            <a:off x="7900415" y="1630832"/>
            <a:ext cx="32918" cy="32918"/>
          </a:xfrm>
          <a:prstGeom prst="roundRect">
            <a:avLst/>
          </a:prstGeom>
          <a:solidFill>
            <a:srgbClr val="E2D1B2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amber721"/>
          <p:cNvSpPr/>
          <p:nvPr/>
        </p:nvSpPr>
        <p:spPr>
          <a:xfrm>
            <a:off x="7900415" y="1670608"/>
            <a:ext cx="32918" cy="32918"/>
          </a:xfrm>
          <a:prstGeom prst="roundRect">
            <a:avLst/>
          </a:prstGeom>
          <a:solidFill>
            <a:srgbClr val="A9761A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amber721"/>
          <p:cNvSpPr/>
          <p:nvPr/>
        </p:nvSpPr>
        <p:spPr>
          <a:xfrm>
            <a:off x="7900415" y="1710385"/>
            <a:ext cx="32918" cy="32918"/>
          </a:xfrm>
          <a:prstGeom prst="roundRect">
            <a:avLst/>
          </a:prstGeom>
          <a:solidFill>
            <a:srgbClr val="D4BA8C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amber721"/>
          <p:cNvSpPr/>
          <p:nvPr/>
        </p:nvSpPr>
        <p:spPr>
          <a:xfrm>
            <a:off x="7900415" y="1750161"/>
            <a:ext cx="32918" cy="32918"/>
          </a:xfrm>
          <a:prstGeom prst="roundRect">
            <a:avLst/>
          </a:prstGeom>
          <a:solidFill>
            <a:srgbClr val="E2D1B2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amber721"/>
          <p:cNvSpPr/>
          <p:nvPr/>
        </p:nvSpPr>
        <p:spPr>
          <a:xfrm>
            <a:off x="7900415" y="1789938"/>
            <a:ext cx="32918" cy="32918"/>
          </a:xfrm>
          <a:prstGeom prst="roundRect">
            <a:avLst/>
          </a:prstGeom>
          <a:solidFill>
            <a:srgbClr val="A9761A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amber721"/>
          <p:cNvSpPr/>
          <p:nvPr/>
        </p:nvSpPr>
        <p:spPr>
          <a:xfrm>
            <a:off x="7900415" y="1829714"/>
            <a:ext cx="32918" cy="32918"/>
          </a:xfrm>
          <a:prstGeom prst="roundRect">
            <a:avLst/>
          </a:prstGeom>
          <a:solidFill>
            <a:srgbClr val="A9761A"/>
          </a:solidFill>
          <a:ln w="3175">
            <a:solidFill>
              <a:srgbClr val="DDB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wtok829"/>
          <p:cNvSpPr/>
          <p:nvPr/>
        </p:nvSpPr>
        <p:spPr>
          <a:xfrm>
            <a:off x="8340548" y="1511503"/>
            <a:ext cx="32918" cy="32918"/>
          </a:xfrm>
          <a:prstGeom prst="roundRect">
            <a:avLst/>
          </a:prstGeom>
          <a:solidFill>
            <a:srgbClr val="ECE5F7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wtok829"/>
          <p:cNvSpPr/>
          <p:nvPr/>
        </p:nvSpPr>
        <p:spPr>
          <a:xfrm>
            <a:off x="8340548" y="1551279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wtok829"/>
          <p:cNvSpPr/>
          <p:nvPr/>
        </p:nvSpPr>
        <p:spPr>
          <a:xfrm>
            <a:off x="8340548" y="1591056"/>
            <a:ext cx="32918" cy="32918"/>
          </a:xfrm>
          <a:prstGeom prst="roundRect">
            <a:avLst/>
          </a:prstGeom>
          <a:solidFill>
            <a:srgbClr val="8470BC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wtok829"/>
          <p:cNvSpPr/>
          <p:nvPr/>
        </p:nvSpPr>
        <p:spPr>
          <a:xfrm>
            <a:off x="8340548" y="1630832"/>
            <a:ext cx="32918" cy="32918"/>
          </a:xfrm>
          <a:prstGeom prst="roundRect">
            <a:avLst/>
          </a:prstGeom>
          <a:solidFill>
            <a:srgbClr val="ECE5F7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wtok829"/>
          <p:cNvSpPr/>
          <p:nvPr/>
        </p:nvSpPr>
        <p:spPr>
          <a:xfrm>
            <a:off x="8340548" y="1670608"/>
            <a:ext cx="32918" cy="32918"/>
          </a:xfrm>
          <a:prstGeom prst="roundRect">
            <a:avLst/>
          </a:prstGeom>
          <a:solidFill>
            <a:srgbClr val="8470BC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wtok829"/>
          <p:cNvSpPr/>
          <p:nvPr/>
        </p:nvSpPr>
        <p:spPr>
          <a:xfrm>
            <a:off x="8340548" y="1710385"/>
            <a:ext cx="32918" cy="32918"/>
          </a:xfrm>
          <a:prstGeom prst="roundRect">
            <a:avLst/>
          </a:prstGeom>
          <a:solidFill>
            <a:srgbClr val="CBBCE8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wtok829"/>
          <p:cNvSpPr/>
          <p:nvPr/>
        </p:nvSpPr>
        <p:spPr>
          <a:xfrm>
            <a:off x="8340548" y="1750161"/>
            <a:ext cx="32918" cy="32918"/>
          </a:xfrm>
          <a:prstGeom prst="roundRect">
            <a:avLst/>
          </a:prstGeom>
          <a:solidFill>
            <a:srgbClr val="ECE5F7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wtok829"/>
          <p:cNvSpPr/>
          <p:nvPr/>
        </p:nvSpPr>
        <p:spPr>
          <a:xfrm>
            <a:off x="8340548" y="1789938"/>
            <a:ext cx="32918" cy="32918"/>
          </a:xfrm>
          <a:prstGeom prst="roundRect">
            <a:avLst/>
          </a:prstGeom>
          <a:solidFill>
            <a:srgbClr val="8470BC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wtok829"/>
          <p:cNvSpPr/>
          <p:nvPr/>
        </p:nvSpPr>
        <p:spPr>
          <a:xfrm>
            <a:off x="8340548" y="1829714"/>
            <a:ext cx="32918" cy="32918"/>
          </a:xfrm>
          <a:prstGeom prst="roundRect">
            <a:avLst/>
          </a:prstGeom>
          <a:solidFill>
            <a:srgbClr val="8470BC"/>
          </a:solidFill>
          <a:ln w="3175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TextBox 692"/>
          <p:cNvSpPr txBox="1"/>
          <p:nvPr/>
        </p:nvSpPr>
        <p:spPr>
          <a:xfrm>
            <a:off x="8593328" y="717804"/>
            <a:ext cx="676656" cy="91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S</a:t>
            </a:r>
            <a:r>
              <a:rPr sz="700" b="1" i="1" baseline="-25000">
                <a:solidFill>
                  <a:srgbClr val="1A1A1A"/>
                </a:solidFill>
                <a:latin typeface="Comic Sans MS" panose="030F0702030302020204"/>
              </a:rPr>
              <a:t>C</a:t>
            </a:r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(F) = F</a:t>
            </a:r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ᵀ</a:t>
            </a:r>
            <a:r>
              <a:rPr sz="875" b="1" i="1">
                <a:solidFill>
                  <a:srgbClr val="1A1A1A"/>
                </a:solidFill>
                <a:latin typeface="Comic Sans MS" panose="030F0702030302020204"/>
              </a:rPr>
              <a:t>W F</a:t>
            </a:r>
            <a:endParaRPr sz="700" b="0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29" name="Rounded Rectangle 571"/>
          <p:cNvSpPr/>
          <p:nvPr/>
        </p:nvSpPr>
        <p:spPr>
          <a:xfrm>
            <a:off x="3960654" y="4010741"/>
            <a:ext cx="122830" cy="113381"/>
          </a:xfrm>
          <a:prstGeom prst="roundRect">
            <a:avLst>
              <a:gd name="adj" fmla="val 20000"/>
            </a:avLst>
          </a:prstGeom>
          <a:solidFill>
            <a:srgbClr val="D5D9E0"/>
          </a:solidFill>
          <a:ln w="12700">
            <a:solidFill>
              <a:srgbClr val="6C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572"/>
          <p:cNvSpPr txBox="1"/>
          <p:nvPr/>
        </p:nvSpPr>
        <p:spPr>
          <a:xfrm>
            <a:off x="4130727" y="4006032"/>
            <a:ext cx="1228304" cy="122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omic Sans MS" panose="030F0702030302020204"/>
              </a:rPr>
              <a:t>query channel</a:t>
            </a:r>
            <a:endParaRPr sz="80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35" name="Rounded Rectangle 571"/>
          <p:cNvSpPr/>
          <p:nvPr/>
        </p:nvSpPr>
        <p:spPr>
          <a:xfrm>
            <a:off x="5705718" y="4010741"/>
            <a:ext cx="122830" cy="113381"/>
          </a:xfrm>
          <a:prstGeom prst="roundRect">
            <a:avLst>
              <a:gd name="adj" fmla="val 20000"/>
            </a:avLst>
          </a:prstGeom>
          <a:solidFill>
            <a:srgbClr val="D5D9E0"/>
          </a:solidFill>
          <a:ln w="12700">
            <a:solidFill>
              <a:srgbClr val="9C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572"/>
          <p:cNvSpPr txBox="1"/>
          <p:nvPr/>
        </p:nvSpPr>
        <p:spPr>
          <a:xfrm>
            <a:off x="5875791" y="4006032"/>
            <a:ext cx="1228304" cy="122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omic Sans MS" panose="030F0702030302020204"/>
              </a:rPr>
              <a:t>database channel</a:t>
            </a:r>
            <a:endParaRPr sz="800" b="1" i="0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37" name="lab813"/>
          <p:cNvSpPr txBox="1"/>
          <p:nvPr/>
        </p:nvSpPr>
        <p:spPr>
          <a:xfrm>
            <a:off x="3865129" y="2207025"/>
            <a:ext cx="119825" cy="156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85" b="1" i="1">
                <a:solidFill>
                  <a:srgbClr val="1A1A1A"/>
                </a:solidFill>
                <a:latin typeface="Comic Sans MS" panose="030F0702030302020204"/>
              </a:rPr>
              <a:t>N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38" name="lab813"/>
          <p:cNvSpPr txBox="1"/>
          <p:nvPr/>
        </p:nvSpPr>
        <p:spPr>
          <a:xfrm>
            <a:off x="3440044" y="2618992"/>
            <a:ext cx="119825" cy="156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85" b="1" i="1">
                <a:solidFill>
                  <a:srgbClr val="1A1A1A"/>
                </a:solidFill>
                <a:latin typeface="Comic Sans MS" panose="030F0702030302020204"/>
              </a:rPr>
              <a:t>N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39" name="lab813"/>
          <p:cNvSpPr txBox="1"/>
          <p:nvPr/>
        </p:nvSpPr>
        <p:spPr>
          <a:xfrm>
            <a:off x="9082464" y="977709"/>
            <a:ext cx="73850" cy="111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1">
                <a:solidFill>
                  <a:srgbClr val="1A1A1A"/>
                </a:solidFill>
                <a:latin typeface="Comic Sans MS" panose="030F0702030302020204"/>
              </a:rPr>
              <a:t>C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40" name="lab813"/>
          <p:cNvSpPr txBox="1"/>
          <p:nvPr/>
        </p:nvSpPr>
        <p:spPr>
          <a:xfrm>
            <a:off x="8878536" y="1166657"/>
            <a:ext cx="73850" cy="111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1">
                <a:solidFill>
                  <a:srgbClr val="1A1A1A"/>
                </a:solidFill>
                <a:latin typeface="Comic Sans MS" panose="030F0702030302020204"/>
              </a:rPr>
              <a:t>C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42" name="lab813"/>
          <p:cNvSpPr txBox="1"/>
          <p:nvPr/>
        </p:nvSpPr>
        <p:spPr>
          <a:xfrm>
            <a:off x="8642350" y="4258310"/>
            <a:ext cx="76200" cy="946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1">
                <a:solidFill>
                  <a:srgbClr val="1A1A1A"/>
                </a:solidFill>
                <a:latin typeface="Comic Sans MS" panose="030F0702030302020204"/>
              </a:rPr>
              <a:t>N</a:t>
            </a:r>
            <a:endParaRPr sz="90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43" name="lab813"/>
          <p:cNvSpPr txBox="1"/>
          <p:nvPr/>
        </p:nvSpPr>
        <p:spPr>
          <a:xfrm>
            <a:off x="9063414" y="1606359"/>
            <a:ext cx="73850" cy="111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/>
            <a:r>
              <a:rPr sz="700" b="1" i="1">
                <a:solidFill>
                  <a:srgbClr val="1A1A1A"/>
                </a:solidFill>
                <a:latin typeface="Comic Sans MS" panose="030F0702030302020204"/>
              </a:rPr>
              <a:t>C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44" name="lab813"/>
          <p:cNvSpPr txBox="1"/>
          <p:nvPr/>
        </p:nvSpPr>
        <p:spPr>
          <a:xfrm>
            <a:off x="8859486" y="1795307"/>
            <a:ext cx="73850" cy="111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/>
            <a:r>
              <a:rPr sz="700" b="1" i="1">
                <a:solidFill>
                  <a:srgbClr val="1A1A1A"/>
                </a:solidFill>
                <a:latin typeface="Comic Sans MS" panose="030F0702030302020204"/>
              </a:rPr>
              <a:t>C</a:t>
            </a:r>
            <a:endParaRPr sz="950" b="1" i="1">
              <a:solidFill>
                <a:srgbClr val="1A1A1A"/>
              </a:solidFill>
              <a:latin typeface="Comic Sans MS" panose="030F0702030302020204"/>
            </a:endParaRPr>
          </a:p>
        </p:txBody>
      </p:sp>
      <p:sp>
        <p:nvSpPr>
          <p:cNvPr id="346" name="lab813"/>
          <p:cNvSpPr txBox="1"/>
          <p:nvPr/>
        </p:nvSpPr>
        <p:spPr>
          <a:xfrm>
            <a:off x="9176385" y="3694430"/>
            <a:ext cx="76200" cy="946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p>
            <a:pPr algn="ctr"/>
            <a:r>
              <a:rPr sz="900" b="1" i="1">
                <a:solidFill>
                  <a:srgbClr val="1A1A1A"/>
                </a:solidFill>
                <a:latin typeface="Comic Sans MS" panose="030F0702030302020204"/>
              </a:rPr>
              <a:t>N</a:t>
            </a:r>
            <a:endParaRPr sz="900" b="1" i="1">
              <a:solidFill>
                <a:srgbClr val="1A1A1A"/>
              </a:solidFill>
              <a:latin typeface="Comic Sans MS" panose="030F07020303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</Words>
  <Application>WPS 演示</Application>
  <PresentationFormat>Widescreen</PresentationFormat>
  <Paragraphs>188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Noto Sans Symbols</vt:lpstr>
      <vt:lpstr>Thonburi</vt:lpstr>
      <vt:lpstr>Comic Sans MS</vt:lpstr>
      <vt:lpstr>微软雅黑</vt:lpstr>
      <vt:lpstr>汉仪旗黑</vt:lpstr>
      <vt:lpstr>Arial Unicode MS</vt:lpstr>
      <vt:lpstr>Comic Sans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Zoey Shu</dc:creator>
  <cp:lastModifiedBy>-Zn-</cp:lastModifiedBy>
  <cp:revision>5</cp:revision>
  <dcterms:created xsi:type="dcterms:W3CDTF">2026-09-22T12:10:20Z</dcterms:created>
  <dcterms:modified xsi:type="dcterms:W3CDTF">2026-09-22T12:10:20Z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B2507F209DF3C4C4027E9D6A0FFCC595_41</vt:lpwstr>
  </property>
</Properties>
</file>