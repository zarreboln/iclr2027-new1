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5"/>
  </p:notesMasterIdLst>
  <p:sldIdLst>
    <p:sldId id="264" r:id="rId3"/>
    <p:sldId id="265" r:id="rId4"/>
  </p:sldIdLst>
  <p:sldSz cx="12191365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2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2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252B32"/>
                </a:solidFill>
                <a:latin typeface="Comic Sans MS" panose="030F0702030302020204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252B32"/>
                </a:solidFill>
                <a:latin typeface="Comic Sans MS" panose="030F0702030302020204"/>
              </a:rPr>
              <a:t>Performance across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Corpus-specialized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 panose="030F0702030302020204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 panose="030F0702030302020204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 panose="030F0702030302020204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 panose="030F0702030302020204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 panose="030F0702030302020204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 panose="030F0702030302020204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493942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608991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27856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3948129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61769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287268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2956837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626406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3438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76625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18870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26619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1153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35687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40221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44755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49289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53823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58357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62891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>
            <a:off x="67425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07" name="Oval 1006"/>
          <p:cNvSpPr/>
          <p:nvPr/>
        </p:nvSpPr>
        <p:spPr>
          <a:xfrm>
            <a:off x="5411429" y="3225421"/>
            <a:ext cx="1075334" cy="1075334"/>
          </a:xfrm>
          <a:prstGeom prst="ellipse">
            <a:avLst/>
          </a:prstGeom>
          <a:solidFill>
            <a:srgbClr val="F0CFCB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5933552" y="3747543"/>
            <a:ext cx="31089" cy="31089"/>
          </a:xfrm>
          <a:prstGeom prst="ellipse">
            <a:avLst/>
          </a:prstGeom>
          <a:solidFill>
            <a:srgbClr val="C0736C"/>
          </a:solidFill>
          <a:ln w="3175">
            <a:solidFill>
              <a:srgbClr val="C07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3348990" y="4411740"/>
            <a:ext cx="1028930" cy="1028930"/>
          </a:xfrm>
          <a:prstGeom prst="ellipse">
            <a:avLst/>
          </a:prstGeom>
          <a:solidFill>
            <a:srgbClr val="DDE4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3847910" y="4910660"/>
            <a:ext cx="31089" cy="31089"/>
          </a:xfrm>
          <a:prstGeom prst="ellipse">
            <a:avLst/>
          </a:prstGeom>
          <a:solidFill>
            <a:srgbClr val="8A7A3C"/>
          </a:solidFill>
          <a:ln w="3175">
            <a:solidFill>
              <a:srgbClr val="8A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4641181" y="4322523"/>
            <a:ext cx="1028930" cy="1028930"/>
          </a:xfrm>
          <a:prstGeom prst="ellipse">
            <a:avLst/>
          </a:prstGeom>
          <a:solidFill>
            <a:srgbClr val="CFE0CF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5140101" y="4821444"/>
            <a:ext cx="31089" cy="31089"/>
          </a:xfrm>
          <a:prstGeom prst="ellipse">
            <a:avLst/>
          </a:prstGeom>
          <a:solidFill>
            <a:srgbClr val="5C8A5C"/>
          </a:solidFill>
          <a:ln w="3175">
            <a:solidFill>
              <a:srgbClr val="5C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6136273" y="3870335"/>
            <a:ext cx="215066" cy="215066"/>
          </a:xfrm>
          <a:prstGeom prst="ellipse">
            <a:avLst/>
          </a:prstGeom>
          <a:solidFill>
            <a:srgbClr val="E9C8DA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6228262" y="3962323"/>
            <a:ext cx="31089" cy="31089"/>
          </a:xfrm>
          <a:prstGeom prst="ellipse">
            <a:avLst/>
          </a:prstGeom>
          <a:solidFill>
            <a:srgbClr val="B2678E"/>
          </a:solidFill>
          <a:ln w="3175">
            <a:solidFill>
              <a:srgbClr val="B267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5280963" y="4091265"/>
            <a:ext cx="202766" cy="202766"/>
          </a:xfrm>
          <a:prstGeom prst="ellipse">
            <a:avLst/>
          </a:prstGeom>
          <a:solidFill>
            <a:srgbClr val="CFE4EA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5366801" y="4177103"/>
            <a:ext cx="31089" cy="31089"/>
          </a:xfrm>
          <a:prstGeom prst="ellipse">
            <a:avLst/>
          </a:prstGeom>
          <a:solidFill>
            <a:srgbClr val="3F8CA0"/>
          </a:solidFill>
          <a:ln w="3175">
            <a:solidFill>
              <a:srgbClr val="3F8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4070364" y="4686406"/>
            <a:ext cx="175601" cy="175601"/>
          </a:xfrm>
          <a:prstGeom prst="ellipse">
            <a:avLst/>
          </a:prstGeom>
          <a:solidFill>
            <a:srgbClr val="D8CCE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4142620" y="4758662"/>
            <a:ext cx="31089" cy="31089"/>
          </a:xfrm>
          <a:prstGeom prst="ellipse">
            <a:avLst/>
          </a:prstGeom>
          <a:solidFill>
            <a:srgbClr val="8A6FA8"/>
          </a:solidFill>
          <a:ln w="3175">
            <a:solidFill>
              <a:srgbClr val="8A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4462535" y="4553945"/>
            <a:ext cx="116701" cy="116701"/>
          </a:xfrm>
          <a:prstGeom prst="ellipse">
            <a:avLst/>
          </a:prstGeom>
          <a:solidFill>
            <a:srgbClr val="E6D3BF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4505341" y="4596751"/>
            <a:ext cx="31089" cy="31089"/>
          </a:xfrm>
          <a:prstGeom prst="ellipse">
            <a:avLst/>
          </a:prstGeom>
          <a:solidFill>
            <a:srgbClr val="A8813F"/>
          </a:solidFill>
          <a:ln w="3175">
            <a:solidFill>
              <a:srgbClr val="A88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5460016" y="4418468"/>
            <a:ext cx="116701" cy="116701"/>
          </a:xfrm>
          <a:prstGeom prst="ellipse">
            <a:avLst/>
          </a:prstGeom>
          <a:solidFill>
            <a:srgbClr val="F5D6A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5502821" y="4461274"/>
            <a:ext cx="31089" cy="31089"/>
          </a:xfrm>
          <a:prstGeom prst="ellipse">
            <a:avLst/>
          </a:prstGeom>
          <a:solidFill>
            <a:srgbClr val="C8873B"/>
          </a:solidFill>
          <a:ln w="3175">
            <a:solidFill>
              <a:srgbClr val="C887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5958756" y="4454816"/>
            <a:ext cx="116701" cy="116701"/>
          </a:xfrm>
          <a:prstGeom prst="ellipse">
            <a:avLst/>
          </a:prstGeom>
          <a:solidFill>
            <a:srgbClr val="D6CE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6001562" y="4497621"/>
            <a:ext cx="31089" cy="31089"/>
          </a:xfrm>
          <a:prstGeom prst="ellipse">
            <a:avLst/>
          </a:prstGeom>
          <a:solidFill>
            <a:srgbClr val="7160AE"/>
          </a:solidFill>
          <a:ln w="3175">
            <a:solidFill>
              <a:srgbClr val="7160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6253466" y="4236731"/>
            <a:ext cx="116701" cy="116701"/>
          </a:xfrm>
          <a:prstGeom prst="ellipse">
            <a:avLst/>
          </a:prstGeom>
          <a:solidFill>
            <a:srgbClr val="C8D6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296272" y="4279537"/>
            <a:ext cx="31089" cy="31089"/>
          </a:xfrm>
          <a:prstGeom prst="ellipse">
            <a:avLst/>
          </a:prstGeom>
          <a:solidFill>
            <a:srgbClr val="4E70B5"/>
          </a:solidFill>
          <a:ln w="3175">
            <a:solidFill>
              <a:srgbClr val="4E70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3578404" y="4785246"/>
            <a:ext cx="116701" cy="116701"/>
          </a:xfrm>
          <a:prstGeom prst="ellipse">
            <a:avLst/>
          </a:prstGeom>
          <a:solidFill>
            <a:srgbClr val="D8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3621210" y="4828052"/>
            <a:ext cx="31089" cy="31089"/>
          </a:xfrm>
          <a:prstGeom prst="ellipse">
            <a:avLst/>
          </a:prstGeom>
          <a:solidFill>
            <a:srgbClr val="5B7F5B"/>
          </a:solidFill>
          <a:ln w="3175">
            <a:solidFill>
              <a:srgbClr val="5B7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5255985" y="4425077"/>
            <a:ext cx="116701" cy="116701"/>
          </a:xfrm>
          <a:prstGeom prst="ellipse">
            <a:avLst/>
          </a:prstGeom>
          <a:solidFill>
            <a:srgbClr val="E3D6C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5298791" y="4467883"/>
            <a:ext cx="31089" cy="31089"/>
          </a:xfrm>
          <a:prstGeom prst="ellipse">
            <a:avLst/>
          </a:prstGeom>
          <a:solidFill>
            <a:srgbClr val="9C7A4A"/>
          </a:solidFill>
          <a:ln w="3175">
            <a:solidFill>
              <a:srgbClr val="9C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5890746" y="4111167"/>
            <a:ext cx="116701" cy="116701"/>
          </a:xfrm>
          <a:prstGeom prst="ellipse">
            <a:avLst/>
          </a:prstGeom>
          <a:solidFill>
            <a:srgbClr val="E0D3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5933552" y="4153973"/>
            <a:ext cx="31089" cy="31089"/>
          </a:xfrm>
          <a:prstGeom prst="ellipse">
            <a:avLst/>
          </a:prstGeom>
          <a:solidFill>
            <a:srgbClr val="7E5FA6"/>
          </a:solidFill>
          <a:ln w="3175">
            <a:solidFill>
              <a:srgbClr val="7E5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3396880" y="4923403"/>
            <a:ext cx="71688" cy="71688"/>
          </a:xfrm>
          <a:prstGeom prst="ellipse">
            <a:avLst/>
          </a:prstGeom>
          <a:solidFill>
            <a:srgbClr val="E8D8C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3417180" y="4943703"/>
            <a:ext cx="31089" cy="31089"/>
          </a:xfrm>
          <a:prstGeom prst="ellipse">
            <a:avLst/>
          </a:prstGeom>
          <a:solidFill>
            <a:srgbClr val="A08060"/>
          </a:solidFill>
          <a:ln w="3175">
            <a:solidFill>
              <a:srgbClr val="A08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1514959" y="4748275"/>
            <a:ext cx="71688" cy="71688"/>
          </a:xfrm>
          <a:prstGeom prst="ellipse">
            <a:avLst/>
          </a:prstGeom>
          <a:solidFill>
            <a:srgbClr val="E8D8C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535259" y="4768575"/>
            <a:ext cx="31089" cy="31089"/>
          </a:xfrm>
          <a:prstGeom prst="ellipse">
            <a:avLst/>
          </a:prstGeom>
          <a:solidFill>
            <a:srgbClr val="A08060"/>
          </a:solidFill>
          <a:ln w="3175">
            <a:solidFill>
              <a:srgbClr val="A08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Diamond 1036"/>
          <p:cNvSpPr/>
          <p:nvPr/>
        </p:nvSpPr>
        <p:spPr>
          <a:xfrm>
            <a:off x="1131387" y="397078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Diamond 1037"/>
          <p:cNvSpPr/>
          <p:nvPr/>
        </p:nvSpPr>
        <p:spPr>
          <a:xfrm>
            <a:off x="2136824" y="3832001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Diamond 1038"/>
          <p:cNvSpPr/>
          <p:nvPr/>
        </p:nvSpPr>
        <p:spPr>
          <a:xfrm>
            <a:off x="2822540" y="3022445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Diamond 1039"/>
          <p:cNvSpPr/>
          <p:nvPr/>
        </p:nvSpPr>
        <p:spPr>
          <a:xfrm>
            <a:off x="4613472" y="3055488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Diamond 1040"/>
          <p:cNvSpPr/>
          <p:nvPr/>
        </p:nvSpPr>
        <p:spPr>
          <a:xfrm>
            <a:off x="5406922" y="2920011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5-Point Star 1041"/>
          <p:cNvSpPr/>
          <p:nvPr/>
        </p:nvSpPr>
        <p:spPr>
          <a:xfrm>
            <a:off x="6299817" y="2625699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3" name="Connector 1042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47" name="Rectangle 1046"/>
          <p:cNvSpPr/>
          <p:nvPr/>
        </p:nvSpPr>
        <p:spPr>
          <a:xfrm>
            <a:off x="2377988" y="2514600"/>
            <a:ext cx="82296" cy="2999232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8" name="Connector 1047"/>
          <p:cNvCxnSpPr/>
          <p:nvPr/>
        </p:nvCxnSpPr>
        <p:spPr>
          <a:xfrm flipV="1">
            <a:off x="2355128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437424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355128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2437424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52" name="TextBox 1051"/>
          <p:cNvSpPr txBox="1"/>
          <p:nvPr/>
        </p:nvSpPr>
        <p:spPr>
          <a:xfrm>
            <a:off x="621792" y="4857126"/>
            <a:ext cx="310896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10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53" name="TextBox 1052"/>
          <p:cNvSpPr txBox="1"/>
          <p:nvPr/>
        </p:nvSpPr>
        <p:spPr>
          <a:xfrm>
            <a:off x="621792" y="4526695"/>
            <a:ext cx="310896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20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54" name="TextBox 1053"/>
          <p:cNvSpPr txBox="1"/>
          <p:nvPr/>
        </p:nvSpPr>
        <p:spPr>
          <a:xfrm>
            <a:off x="621792" y="4196264"/>
            <a:ext cx="310896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30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55" name="TextBox 1054"/>
          <p:cNvSpPr txBox="1"/>
          <p:nvPr/>
        </p:nvSpPr>
        <p:spPr>
          <a:xfrm>
            <a:off x="621792" y="3865833"/>
            <a:ext cx="310896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40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56" name="TextBox 1055"/>
          <p:cNvSpPr txBox="1"/>
          <p:nvPr/>
        </p:nvSpPr>
        <p:spPr>
          <a:xfrm>
            <a:off x="621792" y="3535402"/>
            <a:ext cx="310896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50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57" name="TextBox 1056"/>
          <p:cNvSpPr txBox="1"/>
          <p:nvPr/>
        </p:nvSpPr>
        <p:spPr>
          <a:xfrm>
            <a:off x="621792" y="3204972"/>
            <a:ext cx="310896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60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58" name="TextBox 1057"/>
          <p:cNvSpPr txBox="1"/>
          <p:nvPr/>
        </p:nvSpPr>
        <p:spPr>
          <a:xfrm>
            <a:off x="621792" y="2874541"/>
            <a:ext cx="310896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70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59" name="TextBox 1058"/>
          <p:cNvSpPr txBox="1"/>
          <p:nvPr/>
        </p:nvSpPr>
        <p:spPr>
          <a:xfrm>
            <a:off x="621792" y="2544110"/>
            <a:ext cx="310896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80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0" name="TextBox 1059"/>
          <p:cNvSpPr txBox="1"/>
          <p:nvPr/>
        </p:nvSpPr>
        <p:spPr>
          <a:xfrm>
            <a:off x="10420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50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1" name="TextBox 1060"/>
          <p:cNvSpPr txBox="1"/>
          <p:nvPr/>
        </p:nvSpPr>
        <p:spPr>
          <a:xfrm>
            <a:off x="146450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60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2" name="TextBox 1061"/>
          <p:cNvSpPr txBox="1"/>
          <p:nvPr/>
        </p:nvSpPr>
        <p:spPr>
          <a:xfrm>
            <a:off x="188695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70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3" name="TextBox 1062"/>
          <p:cNvSpPr txBox="1"/>
          <p:nvPr/>
        </p:nvSpPr>
        <p:spPr>
          <a:xfrm>
            <a:off x="23601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82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4" name="TextBox 1063"/>
          <p:cNvSpPr txBox="1"/>
          <p:nvPr/>
        </p:nvSpPr>
        <p:spPr>
          <a:xfrm>
            <a:off x="28135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84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5" name="TextBox 1064"/>
          <p:cNvSpPr txBox="1"/>
          <p:nvPr/>
        </p:nvSpPr>
        <p:spPr>
          <a:xfrm>
            <a:off x="32669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86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6" name="TextBox 1065"/>
          <p:cNvSpPr txBox="1"/>
          <p:nvPr/>
        </p:nvSpPr>
        <p:spPr>
          <a:xfrm>
            <a:off x="37203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88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7" name="TextBox 1066"/>
          <p:cNvSpPr txBox="1"/>
          <p:nvPr/>
        </p:nvSpPr>
        <p:spPr>
          <a:xfrm>
            <a:off x="41737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90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8" name="TextBox 1067"/>
          <p:cNvSpPr txBox="1"/>
          <p:nvPr/>
        </p:nvSpPr>
        <p:spPr>
          <a:xfrm>
            <a:off x="46271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92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69" name="TextBox 1068"/>
          <p:cNvSpPr txBox="1"/>
          <p:nvPr/>
        </p:nvSpPr>
        <p:spPr>
          <a:xfrm>
            <a:off x="50805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94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70" name="TextBox 1069"/>
          <p:cNvSpPr txBox="1"/>
          <p:nvPr/>
        </p:nvSpPr>
        <p:spPr>
          <a:xfrm>
            <a:off x="55339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96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71" name="TextBox 1070"/>
          <p:cNvSpPr txBox="1"/>
          <p:nvPr/>
        </p:nvSpPr>
        <p:spPr>
          <a:xfrm>
            <a:off x="59873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98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72" name="TextBox 1071"/>
          <p:cNvSpPr txBox="1"/>
          <p:nvPr/>
        </p:nvSpPr>
        <p:spPr>
          <a:xfrm>
            <a:off x="64407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100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73" name="TextBox 1072"/>
          <p:cNvSpPr txBox="1"/>
          <p:nvPr/>
        </p:nvSpPr>
        <p:spPr>
          <a:xfrm>
            <a:off x="566928" y="2359152"/>
            <a:ext cx="4572000" cy="2103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VP-Air R@1   (cross-environment benchmark, %)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74" name="TextBox 1073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Tokyo 24/7 R@1   (standard benchmark, %)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75" name="TextBox 1074"/>
          <p:cNvSpPr txBox="1"/>
          <p:nvPr/>
        </p:nvSpPr>
        <p:spPr>
          <a:xfrm>
            <a:off x="4946096" y="4933000"/>
            <a:ext cx="437387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5C8A5C"/>
                </a:solidFill>
                <a:latin typeface="Comic Sans MS" panose="030F0702030302020204"/>
              </a:rPr>
              <a:t>EigenPl</a:t>
            </a:r>
            <a:endParaRPr sz="1000" b="1" i="0">
              <a:solidFill>
                <a:srgbClr val="5C8A5C"/>
              </a:solidFill>
              <a:latin typeface="Comic Sans MS" panose="030F0702030302020204"/>
            </a:endParaRPr>
          </a:p>
        </p:txBody>
      </p:sp>
      <p:sp>
        <p:nvSpPr>
          <p:cNvPr id="1076" name="TextBox 1075"/>
          <p:cNvSpPr txBox="1"/>
          <p:nvPr/>
        </p:nvSpPr>
        <p:spPr>
          <a:xfrm>
            <a:off x="3878773" y="4541429"/>
            <a:ext cx="564388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A8813F"/>
                </a:solidFill>
                <a:latin typeface="Comic Sans MS" panose="030F0702030302020204"/>
              </a:rPr>
              <a:t>CricaVPR</a:t>
            </a:r>
            <a:endParaRPr sz="1000" b="1" i="0">
              <a:solidFill>
                <a:srgbClr val="A8813F"/>
              </a:solidFill>
              <a:latin typeface="Comic Sans MS" panose="030F0702030302020204"/>
            </a:endParaRPr>
          </a:p>
        </p:txBody>
      </p:sp>
      <p:sp>
        <p:nvSpPr>
          <p:cNvPr id="1077" name="TextBox 1076"/>
          <p:cNvSpPr txBox="1"/>
          <p:nvPr/>
        </p:nvSpPr>
        <p:spPr>
          <a:xfrm>
            <a:off x="5688747" y="3028825"/>
            <a:ext cx="538988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C0736C"/>
                </a:solidFill>
                <a:latin typeface="Comic Sans MS" panose="030F0702030302020204"/>
              </a:rPr>
              <a:t>MegaLoc</a:t>
            </a:r>
            <a:endParaRPr sz="1000" b="1" i="0">
              <a:solidFill>
                <a:srgbClr val="C0736C"/>
              </a:solidFill>
              <a:latin typeface="Comic Sans MS" panose="030F0702030302020204"/>
            </a:endParaRPr>
          </a:p>
        </p:txBody>
      </p:sp>
      <p:sp>
        <p:nvSpPr>
          <p:cNvPr id="1078" name="TextBox 1077"/>
          <p:cNvSpPr txBox="1"/>
          <p:nvPr/>
        </p:nvSpPr>
        <p:spPr>
          <a:xfrm>
            <a:off x="3606280" y="4215144"/>
            <a:ext cx="532638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8A7A3C"/>
                </a:solidFill>
                <a:latin typeface="Comic Sans MS" panose="030F0702030302020204"/>
              </a:rPr>
              <a:t>CosPlace</a:t>
            </a:r>
            <a:endParaRPr sz="1000" b="1" i="0">
              <a:solidFill>
                <a:srgbClr val="8A7A3C"/>
              </a:solidFill>
              <a:latin typeface="Comic Sans MS" panose="030F0702030302020204"/>
            </a:endParaRPr>
          </a:p>
        </p:txBody>
      </p:sp>
      <p:sp>
        <p:nvSpPr>
          <p:cNvPr id="1079" name="TextBox 1078"/>
          <p:cNvSpPr txBox="1"/>
          <p:nvPr/>
        </p:nvSpPr>
        <p:spPr>
          <a:xfrm>
            <a:off x="6406204" y="3907002"/>
            <a:ext cx="364363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B2678E"/>
                </a:solidFill>
                <a:latin typeface="Comic Sans MS" panose="030F0702030302020204"/>
              </a:rPr>
              <a:t>SAGE</a:t>
            </a:r>
            <a:endParaRPr sz="1000" b="1" i="0">
              <a:solidFill>
                <a:srgbClr val="B2678E"/>
              </a:solidFill>
              <a:latin typeface="Comic Sans MS" panose="030F0702030302020204"/>
            </a:endParaRPr>
          </a:p>
        </p:txBody>
      </p:sp>
      <p:sp>
        <p:nvSpPr>
          <p:cNvPr id="1080" name="TextBox 1079"/>
          <p:cNvSpPr txBox="1"/>
          <p:nvPr/>
        </p:nvSpPr>
        <p:spPr>
          <a:xfrm>
            <a:off x="4727624" y="4121782"/>
            <a:ext cx="516763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3F8CA0"/>
                </a:solidFill>
                <a:latin typeface="Comic Sans MS" panose="030F0702030302020204"/>
              </a:rPr>
              <a:t>SelaVPR</a:t>
            </a:r>
            <a:endParaRPr sz="1000" b="1" i="0">
              <a:solidFill>
                <a:srgbClr val="3F8CA0"/>
              </a:solidFill>
              <a:latin typeface="Comic Sans MS" panose="030F0702030302020204"/>
            </a:endParaRPr>
          </a:p>
        </p:txBody>
      </p:sp>
      <p:sp>
        <p:nvSpPr>
          <p:cNvPr id="1081" name="TextBox 1080"/>
          <p:cNvSpPr txBox="1"/>
          <p:nvPr/>
        </p:nvSpPr>
        <p:spPr>
          <a:xfrm>
            <a:off x="3862890" y="5008311"/>
            <a:ext cx="608837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8A6FA8"/>
                </a:solidFill>
                <a:latin typeface="Comic Sans MS" panose="030F0702030302020204"/>
              </a:rPr>
              <a:t>R2Former</a:t>
            </a:r>
            <a:endParaRPr sz="1000" b="1" i="0">
              <a:solidFill>
                <a:srgbClr val="8A6FA8"/>
              </a:solidFill>
              <a:latin typeface="Comic Sans MS" panose="030F0702030302020204"/>
            </a:endParaRPr>
          </a:p>
        </p:txBody>
      </p:sp>
      <p:sp>
        <p:nvSpPr>
          <p:cNvPr id="1082" name="TextBox 1081"/>
          <p:cNvSpPr txBox="1"/>
          <p:nvPr/>
        </p:nvSpPr>
        <p:spPr>
          <a:xfrm>
            <a:off x="5300879" y="4590033"/>
            <a:ext cx="453263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C8873B"/>
                </a:solidFill>
                <a:latin typeface="Comic Sans MS" panose="030F0702030302020204"/>
              </a:rPr>
              <a:t>SALAD</a:t>
            </a:r>
            <a:endParaRPr sz="1000" b="1" i="0">
              <a:solidFill>
                <a:srgbClr val="C8873B"/>
              </a:solidFill>
              <a:latin typeface="Comic Sans MS" panose="030F0702030302020204"/>
            </a:endParaRPr>
          </a:p>
        </p:txBody>
      </p:sp>
      <p:sp>
        <p:nvSpPr>
          <p:cNvPr id="1083" name="TextBox 1082"/>
          <p:cNvSpPr txBox="1"/>
          <p:nvPr/>
        </p:nvSpPr>
        <p:spPr>
          <a:xfrm>
            <a:off x="5785332" y="4626381"/>
            <a:ext cx="481838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7160AE"/>
                </a:solidFill>
                <a:latin typeface="Comic Sans MS" panose="030F0702030302020204"/>
              </a:rPr>
              <a:t>CliqueM</a:t>
            </a:r>
            <a:endParaRPr sz="1000" b="1" i="0">
              <a:solidFill>
                <a:srgbClr val="7160AE"/>
              </a:solidFill>
              <a:latin typeface="Comic Sans MS" panose="030F0702030302020204"/>
            </a:endParaRPr>
          </a:p>
        </p:txBody>
      </p:sp>
      <p:sp>
        <p:nvSpPr>
          <p:cNvPr id="1084" name="TextBox 1083"/>
          <p:cNvSpPr txBox="1"/>
          <p:nvPr/>
        </p:nvSpPr>
        <p:spPr>
          <a:xfrm>
            <a:off x="6425031" y="4224216"/>
            <a:ext cx="275463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4E70B5"/>
                </a:solidFill>
                <a:latin typeface="Comic Sans MS" panose="030F0702030302020204"/>
              </a:rPr>
              <a:t>BoQ</a:t>
            </a:r>
            <a:endParaRPr sz="1000" b="1" i="0">
              <a:solidFill>
                <a:srgbClr val="4E70B5"/>
              </a:solidFill>
              <a:latin typeface="Comic Sans MS" panose="030F0702030302020204"/>
            </a:endParaRPr>
          </a:p>
        </p:txBody>
      </p:sp>
      <p:sp>
        <p:nvSpPr>
          <p:cNvPr id="1085" name="TextBox 1084"/>
          <p:cNvSpPr txBox="1"/>
          <p:nvPr/>
        </p:nvSpPr>
        <p:spPr>
          <a:xfrm>
            <a:off x="3408155" y="4588650"/>
            <a:ext cx="475488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5B7F5B"/>
                </a:solidFill>
                <a:latin typeface="Comic Sans MS" panose="030F0702030302020204"/>
              </a:rPr>
              <a:t>MixVPR</a:t>
            </a:r>
            <a:endParaRPr sz="1000" b="1" i="0">
              <a:solidFill>
                <a:srgbClr val="5B7F5B"/>
              </a:solidFill>
              <a:latin typeface="Comic Sans MS" panose="030F0702030302020204"/>
            </a:endParaRPr>
          </a:p>
        </p:txBody>
      </p:sp>
      <p:sp>
        <p:nvSpPr>
          <p:cNvPr id="1086" name="TextBox 1085"/>
          <p:cNvSpPr txBox="1"/>
          <p:nvPr/>
        </p:nvSpPr>
        <p:spPr>
          <a:xfrm>
            <a:off x="4508971" y="4412561"/>
            <a:ext cx="710438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9C7A4A"/>
                </a:solidFill>
                <a:latin typeface="Comic Sans MS" panose="030F0702030302020204"/>
              </a:rPr>
              <a:t>SuperVLAD</a:t>
            </a:r>
            <a:endParaRPr sz="1000" b="1" i="0">
              <a:solidFill>
                <a:srgbClr val="9C7A4A"/>
              </a:solidFill>
              <a:latin typeface="Comic Sans MS" panose="030F0702030302020204"/>
            </a:endParaRPr>
          </a:p>
        </p:txBody>
      </p:sp>
      <p:sp>
        <p:nvSpPr>
          <p:cNvPr id="1087" name="TextBox 1086"/>
          <p:cNvSpPr txBox="1"/>
          <p:nvPr/>
        </p:nvSpPr>
        <p:spPr>
          <a:xfrm>
            <a:off x="5445605" y="3914571"/>
            <a:ext cx="732663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7E5FA6"/>
                </a:solidFill>
                <a:latin typeface="Comic Sans MS" panose="030F0702030302020204"/>
              </a:rPr>
              <a:t>VLAD-BuFF</a:t>
            </a:r>
            <a:endParaRPr sz="1000" b="1" i="0">
              <a:solidFill>
                <a:srgbClr val="7E5FA6"/>
              </a:solidFill>
              <a:latin typeface="Comic Sans MS" panose="030F0702030302020204"/>
            </a:endParaRPr>
          </a:p>
        </p:txBody>
      </p:sp>
      <p:sp>
        <p:nvSpPr>
          <p:cNvPr id="1088" name="TextBox 1087"/>
          <p:cNvSpPr txBox="1"/>
          <p:nvPr/>
        </p:nvSpPr>
        <p:spPr>
          <a:xfrm>
            <a:off x="1273119" y="3943350"/>
            <a:ext cx="643762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 panose="030F0702030302020204"/>
              </a:rPr>
              <a:t>CLS token</a:t>
            </a:r>
            <a:endParaRPr sz="1000" b="1" i="0">
              <a:solidFill>
                <a:srgbClr val="6B7280"/>
              </a:solidFill>
              <a:latin typeface="Comic Sans MS" panose="030F0702030302020204"/>
            </a:endParaRPr>
          </a:p>
        </p:txBody>
      </p:sp>
      <p:sp>
        <p:nvSpPr>
          <p:cNvPr id="1089" name="TextBox 1088"/>
          <p:cNvSpPr txBox="1"/>
          <p:nvPr/>
        </p:nvSpPr>
        <p:spPr>
          <a:xfrm>
            <a:off x="2046908" y="3635405"/>
            <a:ext cx="284987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 panose="030F0702030302020204"/>
              </a:rPr>
              <a:t>GeM</a:t>
            </a:r>
            <a:endParaRPr sz="1000" b="1" i="0">
              <a:solidFill>
                <a:srgbClr val="6B7280"/>
              </a:solidFill>
              <a:latin typeface="Comic Sans MS" panose="030F0702030302020204"/>
            </a:endParaRPr>
          </a:p>
        </p:txBody>
      </p:sp>
      <p:sp>
        <p:nvSpPr>
          <p:cNvPr id="1090" name="TextBox 1089"/>
          <p:cNvSpPr txBox="1"/>
          <p:nvPr/>
        </p:nvSpPr>
        <p:spPr>
          <a:xfrm>
            <a:off x="2964272" y="2995013"/>
            <a:ext cx="450088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 panose="030F0702030302020204"/>
              </a:rPr>
              <a:t>AnyLoc</a:t>
            </a:r>
            <a:endParaRPr sz="1000" b="1" i="0">
              <a:solidFill>
                <a:srgbClr val="2F7E96"/>
              </a:solidFill>
              <a:latin typeface="Comic Sans MS" panose="030F0702030302020204"/>
            </a:endParaRPr>
          </a:p>
        </p:txBody>
      </p:sp>
      <p:sp>
        <p:nvSpPr>
          <p:cNvPr id="1091" name="TextBox 1090"/>
          <p:cNvSpPr txBox="1"/>
          <p:nvPr/>
        </p:nvSpPr>
        <p:spPr>
          <a:xfrm>
            <a:off x="4275906" y="3197220"/>
            <a:ext cx="780287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 panose="030F0702030302020204"/>
              </a:rPr>
              <a:t>EffoVPR-ZS</a:t>
            </a:r>
            <a:endParaRPr sz="1000" b="1" i="0">
              <a:solidFill>
                <a:srgbClr val="2F7E96"/>
              </a:solidFill>
              <a:latin typeface="Comic Sans MS" panose="030F0702030302020204"/>
            </a:endParaRPr>
          </a:p>
        </p:txBody>
      </p:sp>
      <p:sp>
        <p:nvSpPr>
          <p:cNvPr id="1092" name="TextBox 1091"/>
          <p:cNvSpPr txBox="1"/>
          <p:nvPr/>
        </p:nvSpPr>
        <p:spPr>
          <a:xfrm>
            <a:off x="4424958" y="2892579"/>
            <a:ext cx="945388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 panose="030F0702030302020204"/>
              </a:rPr>
              <a:t>SegVLAD-PreT</a:t>
            </a:r>
            <a:endParaRPr sz="1000" b="1" i="0">
              <a:solidFill>
                <a:srgbClr val="2F7E96"/>
              </a:solidFill>
              <a:latin typeface="Comic Sans MS" panose="030F0702030302020204"/>
            </a:endParaRPr>
          </a:p>
        </p:txBody>
      </p:sp>
      <p:sp>
        <p:nvSpPr>
          <p:cNvPr id="1093" name="TextBox 1092"/>
          <p:cNvSpPr txBox="1"/>
          <p:nvPr/>
        </p:nvSpPr>
        <p:spPr>
          <a:xfrm>
            <a:off x="3005466" y="4888382"/>
            <a:ext cx="354837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A08060"/>
                </a:solidFill>
                <a:latin typeface="Comic Sans MS" panose="030F0702030302020204"/>
              </a:rPr>
              <a:t>SFRS</a:t>
            </a:r>
            <a:endParaRPr sz="1000" b="1" i="0">
              <a:solidFill>
                <a:srgbClr val="A08060"/>
              </a:solidFill>
              <a:latin typeface="Comic Sans MS" panose="030F0702030302020204"/>
            </a:endParaRPr>
          </a:p>
        </p:txBody>
      </p:sp>
      <p:sp>
        <p:nvSpPr>
          <p:cNvPr id="1094" name="TextBox 1093"/>
          <p:cNvSpPr txBox="1"/>
          <p:nvPr/>
        </p:nvSpPr>
        <p:spPr>
          <a:xfrm>
            <a:off x="1641512" y="4713254"/>
            <a:ext cx="592962" cy="14173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A08060"/>
                </a:solidFill>
                <a:latin typeface="Comic Sans MS" panose="030F0702030302020204"/>
              </a:rPr>
              <a:t>NetVLAD</a:t>
            </a:r>
            <a:endParaRPr sz="1000" b="1" i="0">
              <a:solidFill>
                <a:srgbClr val="A08060"/>
              </a:solidFill>
              <a:latin typeface="Comic Sans MS" panose="030F0702030302020204"/>
            </a:endParaRPr>
          </a:p>
        </p:txBody>
      </p:sp>
      <p:sp>
        <p:nvSpPr>
          <p:cNvPr id="1095" name="TextBox 1094"/>
          <p:cNvSpPr txBox="1"/>
          <p:nvPr/>
        </p:nvSpPr>
        <p:spPr>
          <a:xfrm>
            <a:off x="5394561" y="2586837"/>
            <a:ext cx="850392" cy="23774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 panose="030F0702030302020204"/>
              </a:rPr>
              <a:t>Ours</a:t>
            </a:r>
            <a:endParaRPr sz="11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96" name="5-Point Star 1095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ours (training-free)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098" name="Diamond 1097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training-free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100" name="Oval 1099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trained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102" name="Oval 1101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1 million images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104" name="Oval 1103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5 million images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cxnSp>
        <p:nvCxnSpPr>
          <p:cNvPr id="1106" name="Connector 1105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726959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 flipV="1">
            <a:off x="726959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8" name="Connector 1117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19" name="Connector 1118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20" name="Connector 1119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121" name="Picture 1120" descr="train_3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22" name="Picture 1121" descr="train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23" name="Picture 1122" descr="train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24" name="Oval 1123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TextBox 1129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 panose="030F0702030302020204"/>
              </a:rPr>
              <a:t>Pitts250k</a:t>
            </a:r>
            <a:endParaRPr sz="1000" b="1" i="0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31" name="TextBox 1130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 panose="030F0702030302020204"/>
              </a:rPr>
              <a:t>Pitts30k</a:t>
            </a:r>
            <a:endParaRPr sz="1000" b="1" i="0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32" name="TextBox 1131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 panose="030F0702030302020204"/>
              </a:rPr>
              <a:t>Tokyo 24/7</a:t>
            </a:r>
            <a:endParaRPr sz="1000" b="1" i="0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33" name="TextBox 1132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 panose="030F0702030302020204"/>
              </a:rPr>
              <a:t>MSLS-val</a:t>
            </a:r>
            <a:endParaRPr sz="1000" b="1" i="0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34" name="TextBox 1133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 panose="030F0702030302020204"/>
              </a:rPr>
              <a:t>Nordland</a:t>
            </a:r>
            <a:endParaRPr sz="1000" b="1" i="0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35" name="TextBox 1134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 panose="030F0702030302020204"/>
              </a:rPr>
              <a:t>St Lucia</a:t>
            </a:r>
            <a:endParaRPr sz="1000" b="1" i="0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36" name="TextBox 1135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 panose="030F0702030302020204"/>
              </a:rPr>
              <a:t>Oxford</a:t>
            </a:r>
            <a:endParaRPr sz="1000" b="1" i="0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37" name="TextBox 1136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 panose="030F0702030302020204"/>
              </a:rPr>
              <a:t>AmsterTime</a:t>
            </a:r>
            <a:endParaRPr sz="1000" b="1" i="0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38" name="TextBox 1137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17 Places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39" name="TextBox 1138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Baidu Mall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40" name="TextBox 1139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Gardens Point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41" name="TextBox 1140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VP-Air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42" name="TextBox 1141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Nardo-Air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43" name="TextBox 1142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Nardo-Air R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44" name="TextBox 1143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Hawkins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45" name="TextBox 1144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Laurel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46" name="TextBox 1145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 panose="030F0702030302020204"/>
              </a:rPr>
              <a:t>Mid-Atlantic</a:t>
            </a:r>
            <a:endParaRPr sz="1000" b="1" i="0">
              <a:solidFill>
                <a:srgbClr val="946A3E"/>
              </a:solidFill>
              <a:latin typeface="Comic Sans MS" panose="030F0702030302020204"/>
            </a:endParaRPr>
          </a:p>
        </p:txBody>
      </p:sp>
      <p:sp>
        <p:nvSpPr>
          <p:cNvPr id="1147" name="TextBox 1146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20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148" name="TextBox 1147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60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149" name="TextBox 1148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 panose="030F0702030302020204"/>
              </a:rPr>
              <a:t>100</a:t>
            </a:r>
            <a:endParaRPr sz="9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150" name="TextBox 1149"/>
          <p:cNvSpPr txBox="1"/>
          <p:nvPr/>
        </p:nvSpPr>
        <p:spPr>
          <a:xfrm>
            <a:off x="10635868" y="2487168"/>
            <a:ext cx="822960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 panose="030F0702030302020204"/>
              </a:rPr>
              <a:t>standard</a:t>
            </a:r>
            <a:endParaRPr sz="1000" b="1" i="1">
              <a:solidFill>
                <a:srgbClr val="3E5C8A"/>
              </a:solidFill>
              <a:latin typeface="Comic Sans MS" panose="030F0702030302020204"/>
            </a:endParaRPr>
          </a:p>
        </p:txBody>
      </p:sp>
      <p:sp>
        <p:nvSpPr>
          <p:cNvPr id="1151" name="TextBox 1150"/>
          <p:cNvSpPr txBox="1"/>
          <p:nvPr/>
        </p:nvSpPr>
        <p:spPr>
          <a:xfrm>
            <a:off x="7581772" y="5833872"/>
            <a:ext cx="1188720" cy="1645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 panose="030F0702030302020204"/>
              </a:rPr>
              <a:t>cross-environment</a:t>
            </a:r>
            <a:endParaRPr sz="1000" b="1" i="1">
              <a:solidFill>
                <a:srgbClr val="946A3E"/>
              </a:solidFill>
              <a:latin typeface="Comic Sans MS" panose="030F0702030302020204"/>
            </a:endParaRPr>
          </a:p>
        </p:txBody>
      </p:sp>
      <p:cxnSp>
        <p:nvCxnSpPr>
          <p:cNvPr id="1152" name="Connector 1151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53" name="TextBox 1152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Ours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cxnSp>
        <p:nvCxnSpPr>
          <p:cNvPr id="1154" name="Connector 1153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55" name="TextBox 1154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MegaLoc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cxnSp>
        <p:nvCxnSpPr>
          <p:cNvPr id="1156" name="Connector 1155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57" name="TextBox 1156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 panose="030F0702030302020204"/>
              </a:rPr>
              <a:t>AnyLoc</a:t>
            </a:r>
            <a:endParaRPr sz="1000" b="1" i="0">
              <a:solidFill>
                <a:srgbClr val="2B2B2B"/>
              </a:solidFill>
              <a:latin typeface="Comic Sans MS" panose="030F0702030302020204"/>
            </a:endParaRPr>
          </a:p>
        </p:txBody>
      </p:sp>
      <p:sp>
        <p:nvSpPr>
          <p:cNvPr id="1158" name="TextBox 1157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 panose="030F0702030302020204"/>
              </a:rPr>
              <a:t>Trained</a:t>
            </a:r>
            <a:endParaRPr sz="1800" b="1" i="0">
              <a:solidFill>
                <a:srgbClr val="B31E2E"/>
              </a:solidFill>
              <a:latin typeface="Comic Sans MS" panose="030F0702030302020204"/>
            </a:endParaRPr>
          </a:p>
        </p:txBody>
      </p:sp>
      <p:sp>
        <p:nvSpPr>
          <p:cNvPr id="1159" name="TextBox 1158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 panose="030F0702030302020204"/>
              </a:rPr>
              <a:t>Training-free, prior work</a:t>
            </a:r>
            <a:endParaRPr sz="1800" b="1" i="0">
              <a:solidFill>
                <a:srgbClr val="B31E2E"/>
              </a:solidFill>
              <a:latin typeface="Comic Sans MS" panose="030F0702030302020204"/>
            </a:endParaRPr>
          </a:p>
        </p:txBody>
      </p:sp>
      <p:sp>
        <p:nvSpPr>
          <p:cNvPr id="1160" name="TextBox 1159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 panose="030F0702030302020204"/>
              </a:rPr>
              <a:t>Ours</a:t>
            </a:r>
            <a:endParaRPr sz="1800" b="1" i="0">
              <a:solidFill>
                <a:srgbClr val="1E7A46"/>
              </a:solidFill>
              <a:latin typeface="Comic Sans MS" panose="030F07020303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omic Sans MS" panose="030F0702030302020204"/>
              </a:rPr>
              <a:t>A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4251959" y="1655064"/>
            <a:ext cx="219456" cy="20116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omic Sans MS" panose="030F0702030302020204"/>
              </a:rPr>
              <a:t>B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067751" y="1655064"/>
            <a:ext cx="219456" cy="20116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omic Sans MS" panose="030F0702030302020204"/>
              </a:rPr>
              <a:t>C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omic Sans MS" panose="030F0702030302020204"/>
              </a:rPr>
              <a:t>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7543800" y="6135624"/>
            <a:ext cx="219456" cy="20116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omic Sans MS" panose="030F0702030302020204"/>
              </a:rPr>
              <a:t>E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51428"/>
            <a:ext cx="2822753" cy="322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1577</Words>
  <Application>WPS 演示</Application>
  <PresentationFormat>Widescreen</PresentationFormat>
  <Paragraphs>399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7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Times New Roman</vt:lpstr>
      <vt:lpstr>微软雅黑</vt:lpstr>
      <vt:lpstr>汉仪旗黑</vt:lpstr>
      <vt:lpstr>Arial Unicode MS</vt:lpstr>
      <vt:lpstr>Comic Sans MS</vt:lpstr>
      <vt:lpstr>Times New Roman</vt:lpstr>
      <vt:lpstr>DejaVuMathTeXGyre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7</cp:revision>
  <dcterms:created xsi:type="dcterms:W3CDTF">2026-09-24T21:38:00Z</dcterms:created>
  <dcterms:modified xsi:type="dcterms:W3CDTF">2026-09-24T21:38:00Z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