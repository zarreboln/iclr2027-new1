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Supervision-shaped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8637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3203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37769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2334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46900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01466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62031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23479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84927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4637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407822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69270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30717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92165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53613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6262689" y="3140335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6784811" y="3662457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4362578" y="4503847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4861499" y="5002768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399447" y="4422066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898367" y="4920986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741980" y="3979377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833969" y="4071366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6139798" y="3658400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225637" y="3744239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4635623" y="4726058"/>
            <a:ext cx="175601" cy="175601"/>
          </a:xfrm>
          <a:prstGeom prst="ellipse">
            <a:avLst/>
          </a:prstGeom>
          <a:solidFill>
            <a:srgbClr val="D6C6E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4707879" y="4798314"/>
            <a:ext cx="31089" cy="31089"/>
          </a:xfrm>
          <a:prstGeom prst="ellipse">
            <a:avLst/>
          </a:prstGeom>
          <a:solidFill>
            <a:srgbClr val="7A4FB0"/>
          </a:solidFill>
          <a:ln w="3175">
            <a:solidFill>
              <a:srgbClr val="7A4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5654381" y="4678269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5697187" y="4721075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5814145" y="3783215"/>
            <a:ext cx="116701" cy="116701"/>
          </a:xfrm>
          <a:prstGeom prst="ellipse">
            <a:avLst/>
          </a:prstGeom>
          <a:solidFill>
            <a:srgbClr val="EFD9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5856951" y="3826021"/>
            <a:ext cx="31089" cy="31089"/>
          </a:xfrm>
          <a:prstGeom prst="ellipse">
            <a:avLst/>
          </a:prstGeom>
          <a:solidFill>
            <a:srgbClr val="B08A1E"/>
          </a:solidFill>
          <a:ln w="3175">
            <a:solidFill>
              <a:srgbClr val="B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5894027" y="4555597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936833" y="4598403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6164397" y="4596488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6207203" y="4639294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6262713" y="4028560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305519" y="4071366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514649" y="3378850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557455" y="3421656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6840321" y="4392034"/>
            <a:ext cx="116701" cy="116701"/>
          </a:xfrm>
          <a:prstGeom prst="ellipse">
            <a:avLst/>
          </a:prstGeom>
          <a:solidFill>
            <a:srgbClr val="C9C4E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6883127" y="4434840"/>
            <a:ext cx="31089" cy="31089"/>
          </a:xfrm>
          <a:prstGeom prst="ellipse">
            <a:avLst/>
          </a:prstGeom>
          <a:solidFill>
            <a:srgbClr val="5040B8"/>
          </a:solidFill>
          <a:ln w="3175">
            <a:solidFill>
              <a:srgbClr val="504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1363260" y="4210086"/>
            <a:ext cx="71688" cy="71688"/>
          </a:xfrm>
          <a:prstGeom prst="ellipse">
            <a:avLst/>
          </a:prstGeom>
          <a:solidFill>
            <a:srgbClr val="F3C9A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1383560" y="4230385"/>
            <a:ext cx="31089" cy="31089"/>
          </a:xfrm>
          <a:prstGeom prst="ellipse">
            <a:avLst/>
          </a:prstGeom>
          <a:solidFill>
            <a:srgbClr val="C47A1E"/>
          </a:solidFill>
          <a:ln w="3175">
            <a:solidFill>
              <a:srgbClr val="C4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1510735" y="5186922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531034" y="5207222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1939424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Diamond 1034"/>
          <p:cNvSpPr/>
          <p:nvPr/>
        </p:nvSpPr>
        <p:spPr>
          <a:xfrm>
            <a:off x="1884121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Diamond 1035"/>
          <p:cNvSpPr/>
          <p:nvPr/>
        </p:nvSpPr>
        <p:spPr>
          <a:xfrm>
            <a:off x="2431005" y="3352876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2578479" y="4933988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4520226" y="3107531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5-Point Star 1038"/>
          <p:cNvSpPr/>
          <p:nvPr/>
        </p:nvSpPr>
        <p:spPr>
          <a:xfrm>
            <a:off x="6861675" y="2666590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0" name="Connector 1039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4" name="TextBox 1043"/>
          <p:cNvSpPr txBox="1"/>
          <p:nvPr/>
        </p:nvSpPr>
        <p:spPr>
          <a:xfrm>
            <a:off x="621792" y="520407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474973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429539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3841051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621792" y="338670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621792" y="293236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621792" y="247802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70408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0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131856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193304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254751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31619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377647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439094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00542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561990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623437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684885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Laurel Caverns R@1   (cross-environment benchmark, %)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Nordland R@1   (standard benchmark, %)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4704362" y="5032543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5310266" y="4543082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6540006" y="2943739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619868" y="4307251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6719303" y="3833164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991944" y="3461804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3990209" y="4742992"/>
            <a:ext cx="608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A4FB0"/>
                </a:solidFill>
                <a:latin typeface="Comic Sans MS"/>
              </a:rPr>
              <a:t>R2Former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484132" y="4849835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233813" y="3586619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8A1E"/>
                </a:solidFill>
                <a:latin typeface="Comic Sans MS"/>
              </a:rPr>
              <a:t>SuperVLAD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6335962" y="4583972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5772874" y="4016044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6444412" y="3182254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6666897" y="4746479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040B8"/>
                </a:solidFill>
                <a:latin typeface="Comic Sans MS"/>
              </a:rPr>
              <a:t>CliqueM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2081156" y="3811590"/>
            <a:ext cx="643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CLS token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1794205" y="3980754"/>
            <a:ext cx="284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GeM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2572737" y="3325444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720211" y="4906556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SegVLAD-PreT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4182660" y="2910935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EffoVPR-ZS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1489813" y="4175064"/>
            <a:ext cx="5929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7A1E"/>
                </a:solidFill>
                <a:latin typeface="Comic Sans MS"/>
              </a:rPr>
              <a:t>NetVLAD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637288" y="5151901"/>
            <a:ext cx="354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5956419" y="2627728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85" name="5-Point Star 1084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7" name="Diamond 1086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9" name="Oval 1088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91" name="Oval 1090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93" name="Oval 1092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95" name="Connector 1094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3" name="Connector 1102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9" name="Picture 1108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0" name="Picture 1109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1" name="Picture 1110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12" name="Oval 1111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10635868" y="2487168"/>
            <a:ext cx="82296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7581772" y="5833872"/>
            <a:ext cx="118872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</a:t>
            </a:r>
          </a:p>
        </p:txBody>
      </p:sp>
      <p:cxnSp>
        <p:nvCxnSpPr>
          <p:cNvPr id="1140" name="Connector 1139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1" name="TextBox 1140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3" name="TextBox 1142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5" name="TextBox 1144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53" name="TextBox 1152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