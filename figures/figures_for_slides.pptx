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4443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7164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49884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4126054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7532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38046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300767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3487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19988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8467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49352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14033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78715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43397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08079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727609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37442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0212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5351646" y="3379622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5873768" y="3901744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2399487" y="4715058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2898407" y="5213979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242917" y="4614404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741837" y="5113324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202211" y="4052072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294200" y="4144060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4979407" y="4300538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5065246" y="4386376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3246582" y="4970238"/>
            <a:ext cx="175601" cy="175601"/>
          </a:xfrm>
          <a:prstGeom prst="ellipse">
            <a:avLst/>
          </a:prstGeom>
          <a:solidFill>
            <a:srgbClr val="C9DEF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3318838" y="5042493"/>
            <a:ext cx="31089" cy="31089"/>
          </a:xfrm>
          <a:prstGeom prst="ellipse">
            <a:avLst/>
          </a:prstGeom>
          <a:solidFill>
            <a:srgbClr val="1B6CA8"/>
          </a:solidFill>
          <a:ln w="3175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2532192" y="5077974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2574998" y="5120780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925418" y="4671629"/>
            <a:ext cx="116701" cy="116701"/>
          </a:xfrm>
          <a:prstGeom prst="ellipse">
            <a:avLst/>
          </a:prstGeom>
          <a:solidFill>
            <a:srgbClr val="E0D5D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4968223" y="4714435"/>
            <a:ext cx="31089" cy="31089"/>
          </a:xfrm>
          <a:prstGeom prst="ellipse">
            <a:avLst/>
          </a:prstGeom>
          <a:solidFill>
            <a:srgbClr val="6D4C41"/>
          </a:solidFill>
          <a:ln w="3175">
            <a:solidFill>
              <a:srgbClr val="6D4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3793487" y="4817019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3836293" y="4859824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830962" y="4317475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873768" y="4360281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216486" y="4664173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259291" y="4706979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348417" y="4459137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391222" y="4501942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5927985" y="4705181"/>
            <a:ext cx="116701" cy="116701"/>
          </a:xfrm>
          <a:prstGeom prst="ellipse">
            <a:avLst/>
          </a:prstGeom>
          <a:solidFill>
            <a:srgbClr val="C2E0D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5970791" y="4747986"/>
            <a:ext cx="31089" cy="31089"/>
          </a:xfrm>
          <a:prstGeom prst="ellipse">
            <a:avLst/>
          </a:prstGeom>
          <a:solidFill>
            <a:srgbClr val="0F6E6E"/>
          </a:solidFill>
          <a:ln w="31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2263630" y="5230958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283930" y="5251258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Diamond 1031"/>
          <p:cNvSpPr/>
          <p:nvPr/>
        </p:nvSpPr>
        <p:spPr>
          <a:xfrm>
            <a:off x="1447519" y="3087260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Diamond 1032"/>
          <p:cNvSpPr/>
          <p:nvPr/>
        </p:nvSpPr>
        <p:spPr>
          <a:xfrm>
            <a:off x="5134380" y="2971694"/>
            <a:ext cx="86868" cy="86868"/>
          </a:xfrm>
          <a:prstGeom prst="diamond">
            <a:avLst/>
          </a:prstGeom>
          <a:solidFill>
            <a:srgbClr val="F6D6C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4002449" y="3124539"/>
            <a:ext cx="86868" cy="86868"/>
          </a:xfrm>
          <a:prstGeom prst="diamond">
            <a:avLst/>
          </a:prstGeom>
          <a:solidFill>
            <a:srgbClr val="DCCFEE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5-Point Star 1034"/>
          <p:cNvSpPr/>
          <p:nvPr/>
        </p:nvSpPr>
        <p:spPr>
          <a:xfrm>
            <a:off x="6423780" y="264433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36" name="Connector 1035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621792" y="516213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621792" y="4789345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621792" y="441655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621792" y="4043758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21792" y="367096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3298170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292537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255258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9813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15449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219176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283858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48540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413222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77903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5425857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07267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7194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VP-Air R@1   (cross-environment benchmark, %)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4547832" y="5224881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209725" y="4804503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28963" y="3183026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656777" y="4518462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6472142" y="4088739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4426068" y="4331055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039108" y="5200703"/>
            <a:ext cx="608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B6CA8"/>
                </a:solidFill>
                <a:latin typeface="Comic Sans MS"/>
              </a:rPr>
              <a:t>R2Former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361943" y="4881378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4178404" y="4659114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4C41"/>
                </a:solidFill>
                <a:latin typeface="Comic Sans MS"/>
              </a:rPr>
              <a:t>SuperVLAD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532126" y="4120879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057349" y="4835738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6519982" y="4446621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754561" y="4876746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Comic Sans MS"/>
              </a:rPr>
              <a:t>CliqueM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1589251" y="3059828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152416" y="2944262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omic Sans MS"/>
              </a:rPr>
              <a:t>SegVLAD-PreT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3664883" y="3266271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A3FA0"/>
                </a:solidFill>
                <a:latin typeface="Comic Sans MS"/>
              </a:rPr>
              <a:t>EffoVPR-ZS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1872216" y="5195937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518524" y="2605477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78" name="5-Point Star 1077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0" name="Diamond 1079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2" name="Oval 1081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84" name="Oval 1083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86" name="Oval 1085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2" name="Picture 1101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3" name="Picture 1102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4" name="Picture 1103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05" name="Oval 1104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0471277" y="2487168"/>
            <a:ext cx="1152144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 benchmarks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517764" y="5833872"/>
            <a:ext cx="1664208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 benchmarks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4" name="TextBox 1133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6" name="TextBox 1135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8" name="TextBox 1137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408176"/>
            <a:ext cx="28227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 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&amp;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&amp;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top-K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3429254" cy="32918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2205061" y="4033418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2205061" y="4033418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2375134" y="4028846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480089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621816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763544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952514" y="4028846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47304" y="717803"/>
            <a:ext cx="713232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diag(w</a:t>
            </a:r>
            <a:r>
              <a:rPr sz="64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)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3123314" y="4033418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3123314" y="4033418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3293387" y="4028846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887968" y="717804"/>
            <a:ext cx="1060704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64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diag(w)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94164" y="997244"/>
            <a:ext cx="82296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93865" y="1200972"/>
            <a:ext cx="82296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94164" y="1609892"/>
            <a:ext cx="82296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93865" y="1813620"/>
            <a:ext cx="82296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76" name="Connector 875"/>
          <p:cNvCxnSpPr/>
          <p:nvPr/>
        </p:nvCxnSpPr>
        <p:spPr>
          <a:xfrm>
            <a:off x="9077705" y="937533"/>
            <a:ext cx="0" cy="23052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7" name="Connector 876"/>
          <p:cNvCxnSpPr/>
          <p:nvPr/>
        </p:nvCxnSpPr>
        <p:spPr>
          <a:xfrm>
            <a:off x="9061246" y="937533"/>
            <a:ext cx="16459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8" name="Connector 877"/>
          <p:cNvCxnSpPr/>
          <p:nvPr/>
        </p:nvCxnSpPr>
        <p:spPr>
          <a:xfrm>
            <a:off x="9061246" y="1168053"/>
            <a:ext cx="16459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9" name="Connector 878"/>
          <p:cNvCxnSpPr/>
          <p:nvPr/>
        </p:nvCxnSpPr>
        <p:spPr>
          <a:xfrm>
            <a:off x="8819753" y="1195485"/>
            <a:ext cx="230520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>
            <a:off x="8819753" y="1179026"/>
            <a:ext cx="0" cy="16459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>
            <a:off x="9050273" y="1179026"/>
            <a:ext cx="0" cy="16459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>
            <a:off x="9077705" y="1550181"/>
            <a:ext cx="0" cy="23052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>
            <a:off x="9061246" y="1550181"/>
            <a:ext cx="16459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>
            <a:off x="9061246" y="1780701"/>
            <a:ext cx="16459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5" name="Connector 884"/>
          <p:cNvCxnSpPr/>
          <p:nvPr/>
        </p:nvCxnSpPr>
        <p:spPr>
          <a:xfrm>
            <a:off x="8819753" y="1808133"/>
            <a:ext cx="230520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6" name="Connector 885"/>
          <p:cNvCxnSpPr/>
          <p:nvPr/>
        </p:nvCxnSpPr>
        <p:spPr>
          <a:xfrm>
            <a:off x="8819753" y="1791674"/>
            <a:ext cx="0" cy="16459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" name="Connector 886"/>
          <p:cNvCxnSpPr/>
          <p:nvPr/>
        </p:nvCxnSpPr>
        <p:spPr>
          <a:xfrm>
            <a:off x="9050273" y="1791674"/>
            <a:ext cx="0" cy="16459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3" name="wtok823"/>
          <p:cNvSpPr/>
          <p:nvPr/>
        </p:nvSpPr>
        <p:spPr>
          <a:xfrm>
            <a:off x="8819753" y="898398"/>
            <a:ext cx="35021" cy="35021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780617" y="937534"/>
            <a:ext cx="35021" cy="35021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858890" y="898398"/>
            <a:ext cx="35021" cy="35021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780617" y="976670"/>
            <a:ext cx="35021" cy="35021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898026" y="898398"/>
            <a:ext cx="35021" cy="35021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780617" y="1015806"/>
            <a:ext cx="35021" cy="35021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937162" y="898398"/>
            <a:ext cx="35021" cy="35021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780617" y="1054943"/>
            <a:ext cx="35021" cy="35021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976299" y="898398"/>
            <a:ext cx="35021" cy="35021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780617" y="1094079"/>
            <a:ext cx="35021" cy="35021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9015435" y="898398"/>
            <a:ext cx="35021" cy="35021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780617" y="1133215"/>
            <a:ext cx="35021" cy="35021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819753" y="1511046"/>
            <a:ext cx="35021" cy="35021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780617" y="1550182"/>
            <a:ext cx="35021" cy="35021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858890" y="1511046"/>
            <a:ext cx="35021" cy="35021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780617" y="1589318"/>
            <a:ext cx="35021" cy="35021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898026" y="1511046"/>
            <a:ext cx="35021" cy="35021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780617" y="1628454"/>
            <a:ext cx="35021" cy="35021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937162" y="1511046"/>
            <a:ext cx="35021" cy="35021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780617" y="1667591"/>
            <a:ext cx="35021" cy="35021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976299" y="1511046"/>
            <a:ext cx="35021" cy="35021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780617" y="1706727"/>
            <a:ext cx="35021" cy="35021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9015435" y="1511046"/>
            <a:ext cx="35021" cy="35021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780617" y="1745863"/>
            <a:ext cx="35021" cy="35021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